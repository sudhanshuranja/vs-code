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99" r:id="rId4"/>
  </p:sldMasterIdLst>
  <p:sldIdLst>
    <p:sldId id="257" r:id="rId5"/>
    <p:sldId id="291" r:id="rId6"/>
    <p:sldId id="293" r:id="rId7"/>
    <p:sldId id="294" r:id="rId8"/>
    <p:sldId id="266" r:id="rId9"/>
    <p:sldId id="274" r:id="rId10"/>
    <p:sldId id="267" r:id="rId11"/>
    <p:sldId id="268" r:id="rId12"/>
    <p:sldId id="269" r:id="rId13"/>
    <p:sldId id="259" r:id="rId14"/>
    <p:sldId id="260" r:id="rId15"/>
    <p:sldId id="261" r:id="rId16"/>
    <p:sldId id="262" r:id="rId17"/>
    <p:sldId id="265" r:id="rId18"/>
    <p:sldId id="263" r:id="rId19"/>
    <p:sldId id="264" r:id="rId20"/>
    <p:sldId id="258" r:id="rId21"/>
    <p:sldId id="273" r:id="rId22"/>
    <p:sldId id="270" r:id="rId23"/>
    <p:sldId id="271" r:id="rId24"/>
    <p:sldId id="272" r:id="rId25"/>
    <p:sldId id="275" r:id="rId26"/>
    <p:sldId id="297" r:id="rId27"/>
    <p:sldId id="289" r:id="rId28"/>
    <p:sldId id="276" r:id="rId29"/>
    <p:sldId id="278" r:id="rId30"/>
    <p:sldId id="288" r:id="rId31"/>
    <p:sldId id="280" r:id="rId32"/>
    <p:sldId id="287" r:id="rId33"/>
    <p:sldId id="286" r:id="rId34"/>
    <p:sldId id="285" r:id="rId35"/>
    <p:sldId id="284" r:id="rId36"/>
    <p:sldId id="296" r:id="rId37"/>
    <p:sldId id="301" r:id="rId38"/>
    <p:sldId id="302" r:id="rId39"/>
    <p:sldId id="300" r:id="rId40"/>
    <p:sldId id="303" r:id="rId41"/>
    <p:sldId id="304" r:id="rId42"/>
    <p:sldId id="305"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844" autoAdjust="0"/>
    <p:restoredTop sz="94619" autoAdjust="0"/>
  </p:normalViewPr>
  <p:slideViewPr>
    <p:cSldViewPr snapToGrid="0">
      <p:cViewPr varScale="1">
        <p:scale>
          <a:sx n="78" d="100"/>
          <a:sy n="78" d="100"/>
        </p:scale>
        <p:origin x="1253"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microsoft.com/office/2016/11/relationships/changesInfo" Target="changesInfos/changesInfo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dhanshu Ranjan" userId="378ddff97d6a0a2c" providerId="LiveId" clId="{7D8C22A0-1028-4E79-9F1A-F18E3048A074}"/>
    <pc:docChg chg="custSel addSld modSld">
      <pc:chgData name="Sudhanshu Ranjan" userId="378ddff97d6a0a2c" providerId="LiveId" clId="{7D8C22A0-1028-4E79-9F1A-F18E3048A074}" dt="2024-09-03T15:43:40.639" v="148" actId="20577"/>
      <pc:docMkLst>
        <pc:docMk/>
      </pc:docMkLst>
      <pc:sldChg chg="modSp new mod">
        <pc:chgData name="Sudhanshu Ranjan" userId="378ddff97d6a0a2c" providerId="LiveId" clId="{7D8C22A0-1028-4E79-9F1A-F18E3048A074}" dt="2024-09-03T15:43:40.639" v="148" actId="20577"/>
        <pc:sldMkLst>
          <pc:docMk/>
          <pc:sldMk cId="2204626582" sldId="266"/>
        </pc:sldMkLst>
        <pc:spChg chg="mod">
          <ac:chgData name="Sudhanshu Ranjan" userId="378ddff97d6a0a2c" providerId="LiveId" clId="{7D8C22A0-1028-4E79-9F1A-F18E3048A074}" dt="2024-09-03T15:34:39.484" v="18" actId="20577"/>
          <ac:spMkLst>
            <pc:docMk/>
            <pc:sldMk cId="2204626582" sldId="266"/>
            <ac:spMk id="2" creationId="{3F48C590-7209-A373-1420-C4CA965A6DD6}"/>
          </ac:spMkLst>
        </pc:spChg>
        <pc:spChg chg="mod">
          <ac:chgData name="Sudhanshu Ranjan" userId="378ddff97d6a0a2c" providerId="LiveId" clId="{7D8C22A0-1028-4E79-9F1A-F18E3048A074}" dt="2024-09-03T15:43:40.639" v="148" actId="20577"/>
          <ac:spMkLst>
            <pc:docMk/>
            <pc:sldMk cId="2204626582" sldId="266"/>
            <ac:spMk id="3" creationId="{68086768-3405-2378-B652-032036EB84D8}"/>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HD-PanelTitle-GrommetsCombine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ED291B17-9318-49DB-B28B-6E5994AE9581}" type="datetime1">
              <a:rPr lang="en-US" smtClean="0"/>
              <a:t>1/4/2026</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3A98EE3D-8CD1-4C3F-BD1C-C98C9596463C}" type="slidenum">
              <a:rPr lang="en-US" smtClean="0"/>
              <a:t>‹#›</a:t>
            </a:fld>
            <a:endParaRPr lang="en-US" dirty="0"/>
          </a:p>
        </p:txBody>
      </p:sp>
      <p:cxnSp>
        <p:nvCxnSpPr>
          <p:cNvPr id="15" name="Straight Connector 14"/>
          <p:cNvCxnSpPr/>
          <p:nvPr/>
        </p:nvCxnSpPr>
        <p:spPr>
          <a:xfrm>
            <a:off x="2692399" y="3522131"/>
            <a:ext cx="681566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275127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8DD82B9-B8EE-4375-B6FF-88FA6ABB15D9}" type="datetime1">
              <a:rPr lang="en-US" smtClean="0"/>
              <a:t>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98143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2497495-0637-405E-AE64-5CC7506D51F5}" type="datetime1">
              <a:rPr lang="en-US" smtClean="0"/>
              <a:t>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cxnSp>
        <p:nvCxnSpPr>
          <p:cNvPr id="16" name="Straight Connector 15"/>
          <p:cNvCxnSpPr/>
          <p:nvPr/>
        </p:nvCxnSpPr>
        <p:spPr>
          <a:xfrm>
            <a:off x="2012723" y="3710585"/>
            <a:ext cx="8163380"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271956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831944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1/4/2026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cxnSp>
        <p:nvCxnSpPr>
          <p:cNvPr id="18" name="Straight Connector 1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921670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956887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391185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82884F1-FFEA-405F-9602-3DCA865EDA4E}" type="datetime1">
              <a:rPr lang="en-US" smtClean="0"/>
              <a:t>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cxnSp>
        <p:nvCxnSpPr>
          <p:cNvPr id="16" name="Straight Connector 15"/>
          <p:cNvCxnSpPr/>
          <p:nvPr/>
        </p:nvCxnSpPr>
        <p:spPr>
          <a:xfrm>
            <a:off x="1396169" y="2912533"/>
            <a:ext cx="35144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715417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1/4/2026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936440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D291B17-9318-49DB-B28B-6E5994AE9581}" type="datetime1">
              <a:rPr lang="en-US" smtClean="0"/>
              <a:t>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444542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D291B17-9318-49DB-B28B-6E5994AE9581}" type="datetime1">
              <a:rPr lang="en-US" smtClean="0"/>
              <a:t>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cxnSp>
        <p:nvCxnSpPr>
          <p:cNvPr id="15" name="Straight Connector 14"/>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9482650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D291B17-9318-49DB-B28B-6E5994AE9581}" type="datetime1">
              <a:rPr lang="en-US" smtClean="0"/>
              <a:t>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7692580"/>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D291B17-9318-49DB-B28B-6E5994AE9581}" type="datetime1">
              <a:rPr lang="en-US" smtClean="0"/>
              <a:t>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21610917"/>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4"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D291B17-9318-49DB-B28B-6E5994AE9581}" type="datetime1">
              <a:rPr lang="en-US" smtClean="0"/>
              <a:t>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52608143"/>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1"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D291B17-9318-49DB-B28B-6E5994AE9581}" type="datetime1">
              <a:rPr lang="en-US" smtClean="0"/>
              <a:t>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cxnSp>
        <p:nvCxnSpPr>
          <p:cNvPr id="15" name="Straight Connector 14"/>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43731399"/>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06764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291B17-9318-49DB-B28B-6E5994AE9581}" type="datetime1">
              <a:rPr lang="en-US" smtClean="0"/>
              <a:t>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cxnSp>
        <p:nvCxnSpPr>
          <p:cNvPr id="14" name="Straight Connector 13"/>
          <p:cNvCxnSpPr/>
          <p:nvPr/>
        </p:nvCxnSpPr>
        <p:spPr>
          <a:xfrm>
            <a:off x="8863890" y="990600"/>
            <a:ext cx="0" cy="487680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918732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HD-PanelContent-GrommetsCombined.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D291B17-9318-49DB-B28B-6E5994AE9581}" type="datetime1">
              <a:rPr lang="en-US" smtClean="0"/>
              <a:t>1/4/2026</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1407090647"/>
      </p:ext>
    </p:extLst>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 id="2147483806" r:id="rId7"/>
    <p:sldLayoutId id="2147483807" r:id="rId8"/>
    <p:sldLayoutId id="2147483808" r:id="rId9"/>
    <p:sldLayoutId id="2147483809" r:id="rId10"/>
    <p:sldLayoutId id="2147483810" r:id="rId11"/>
    <p:sldLayoutId id="2147483811" r:id="rId12"/>
    <p:sldLayoutId id="2147483812" r:id="rId13"/>
    <p:sldLayoutId id="2147483813" r:id="rId14"/>
    <p:sldLayoutId id="2147483814" r:id="rId15"/>
    <p:sldLayoutId id="2147483815" r:id="rId16"/>
    <p:sldLayoutId id="2147483816" r:id="rId17"/>
  </p:sldLayoutIdLst>
  <p:hf sldNum="0" hdr="0" ftr="0" dt="0"/>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2.xml"/><Relationship Id="rId6" Type="http://schemas.openxmlformats.org/officeDocument/2006/relationships/image" Target="../media/image13.jpg"/><Relationship Id="rId5" Type="http://schemas.openxmlformats.org/officeDocument/2006/relationships/image" Target="../media/image12.jpg"/><Relationship Id="rId4" Type="http://schemas.openxmlformats.org/officeDocument/2006/relationships/image" Target="../media/image11.jpg"/></Relationships>
</file>

<file path=ppt/slides/_rels/slide2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1E816-31F5-48BB-BD02-D15F2F18B48A}"/>
              </a:ext>
            </a:extLst>
          </p:cNvPr>
          <p:cNvSpPr>
            <a:spLocks noGrp="1"/>
          </p:cNvSpPr>
          <p:nvPr>
            <p:ph type="ctrTitle"/>
          </p:nvPr>
        </p:nvSpPr>
        <p:spPr/>
        <p:txBody>
          <a:bodyPr>
            <a:normAutofit fontScale="90000"/>
          </a:bodyPr>
          <a:lstStyle/>
          <a:p>
            <a:r>
              <a:rPr lang="en-US" dirty="0">
                <a:solidFill>
                  <a:srgbClr val="C00000"/>
                </a:solidFill>
              </a:rPr>
              <a:t>SUDHANSHU RANJAN</a:t>
            </a:r>
            <a:br>
              <a:rPr lang="en-US" dirty="0">
                <a:solidFill>
                  <a:srgbClr val="C00000"/>
                </a:solidFill>
              </a:rPr>
            </a:br>
            <a:r>
              <a:rPr lang="en-US" dirty="0">
                <a:solidFill>
                  <a:srgbClr val="C00000"/>
                </a:solidFill>
              </a:rPr>
              <a:t>“SchoolSolver.com”</a:t>
            </a:r>
          </a:p>
        </p:txBody>
      </p:sp>
      <p:sp>
        <p:nvSpPr>
          <p:cNvPr id="3" name="Subtitle 2">
            <a:extLst>
              <a:ext uri="{FF2B5EF4-FFF2-40B4-BE49-F238E27FC236}">
                <a16:creationId xmlns:a16="http://schemas.microsoft.com/office/drawing/2014/main" id="{835D6E6B-3353-491C-A3C6-F278D6CED8B3}"/>
              </a:ext>
            </a:extLst>
          </p:cNvPr>
          <p:cNvSpPr>
            <a:spLocks noGrp="1"/>
          </p:cNvSpPr>
          <p:nvPr>
            <p:ph type="subTitle" idx="1"/>
          </p:nvPr>
        </p:nvSpPr>
        <p:spPr>
          <a:xfrm>
            <a:off x="220467" y="86531"/>
            <a:ext cx="10993546" cy="468233"/>
          </a:xfrm>
          <a:effectLst>
            <a:innerShdw blurRad="114300">
              <a:prstClr val="black"/>
            </a:innerShdw>
          </a:effectLst>
        </p:spPr>
        <p:txBody>
          <a:bodyPr>
            <a:normAutofit/>
          </a:bodyPr>
          <a:lstStyle/>
          <a:p>
            <a:r>
              <a:rPr lang="en-US" dirty="0"/>
              <a:t>SUDHANSHU RANJAN</a:t>
            </a:r>
          </a:p>
        </p:txBody>
      </p:sp>
    </p:spTree>
    <p:extLst>
      <p:ext uri="{BB962C8B-B14F-4D97-AF65-F5344CB8AC3E}">
        <p14:creationId xmlns:p14="http://schemas.microsoft.com/office/powerpoint/2010/main" val="2475805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589979-7203-52D6-623B-C2F4E7120E0D}"/>
              </a:ext>
            </a:extLst>
          </p:cNvPr>
          <p:cNvSpPr txBox="1"/>
          <p:nvPr/>
        </p:nvSpPr>
        <p:spPr>
          <a:xfrm>
            <a:off x="637562" y="780176"/>
            <a:ext cx="11048302" cy="5339923"/>
          </a:xfrm>
          <a:prstGeom prst="rect">
            <a:avLst/>
          </a:prstGeom>
          <a:noFill/>
        </p:spPr>
        <p:txBody>
          <a:bodyPr wrap="square">
            <a:spAutoFit/>
          </a:bodyPr>
          <a:lstStyle/>
          <a:p>
            <a:r>
              <a:rPr lang="en-US" sz="1100" b="1" dirty="0">
                <a:solidFill>
                  <a:srgbClr val="FF0000"/>
                </a:solidFill>
              </a:rPr>
              <a:t>Earning a monthly salary of 15 lakhs is a significant goal and requires a strategic approach, especially with a Bachelor of Computer Applications (BCA) degree. Here's a roadmap to help you achieve this ambitious target</a:t>
            </a:r>
            <a:r>
              <a:rPr lang="en-US" sz="1100" dirty="0"/>
              <a:t>:</a:t>
            </a:r>
          </a:p>
          <a:p>
            <a:r>
              <a:rPr lang="en-US" sz="1100" b="1" dirty="0"/>
              <a:t>1. Education and Specialization:</a:t>
            </a:r>
          </a:p>
          <a:p>
            <a:pPr>
              <a:buFont typeface="Arial" panose="020B0604020202020204" pitchFamily="34" charset="0"/>
              <a:buChar char="•"/>
            </a:pPr>
            <a:r>
              <a:rPr lang="en-US" sz="1100" b="1" dirty="0"/>
              <a:t>Excel in BCA:</a:t>
            </a:r>
            <a:r>
              <a:rPr lang="en-US" sz="1100" dirty="0"/>
              <a:t> Ensure that you perform exceptionally well in your BCA program. Good academic performance is often a prerequisite for high-paying jobs.</a:t>
            </a:r>
          </a:p>
          <a:p>
            <a:pPr>
              <a:buFont typeface="Arial" panose="020B0604020202020204" pitchFamily="34" charset="0"/>
              <a:buChar char="•"/>
            </a:pPr>
            <a:r>
              <a:rPr lang="en-US" sz="1100" b="1" dirty="0"/>
              <a:t>Specialize:</a:t>
            </a:r>
            <a:r>
              <a:rPr lang="en-US" sz="1100" dirty="0"/>
              <a:t> Choose a specialization within BCA that aligns with high-demand areas in the industry. Examples include data science, artificial intelligence, cybersecurity, or software development.</a:t>
            </a:r>
          </a:p>
          <a:p>
            <a:r>
              <a:rPr lang="en-US" sz="1100" b="1" dirty="0"/>
              <a:t>2. Certifications:</a:t>
            </a:r>
          </a:p>
          <a:p>
            <a:pPr>
              <a:buFont typeface="Arial" panose="020B0604020202020204" pitchFamily="34" charset="0"/>
              <a:buChar char="•"/>
            </a:pPr>
            <a:r>
              <a:rPr lang="en-US" sz="1100" b="1" dirty="0"/>
              <a:t>Industry-Recognized Certifications:</a:t>
            </a:r>
            <a:r>
              <a:rPr lang="en-US" sz="1100" dirty="0"/>
              <a:t> Acquire relevant certifications that are recognized in the industry. For example, certifications in cloud computing (AWS, Azure), programming languages (Java, Python), or project management (PMP) can enhance your profile.</a:t>
            </a:r>
          </a:p>
          <a:p>
            <a:r>
              <a:rPr lang="en-US" sz="1100" b="1" dirty="0"/>
              <a:t>3. Build a Strong Portfolio:</a:t>
            </a:r>
          </a:p>
          <a:p>
            <a:pPr>
              <a:buFont typeface="Arial" panose="020B0604020202020204" pitchFamily="34" charset="0"/>
              <a:buChar char="•"/>
            </a:pPr>
            <a:r>
              <a:rPr lang="en-US" sz="1100" b="1" dirty="0"/>
              <a:t>Projects and Internships:</a:t>
            </a:r>
            <a:r>
              <a:rPr lang="en-US" sz="1100" dirty="0"/>
              <a:t> Work on real-world projects and try to secure internships. Practical experience is highly valued by employers.</a:t>
            </a:r>
          </a:p>
          <a:p>
            <a:pPr>
              <a:buFont typeface="Arial" panose="020B0604020202020204" pitchFamily="34" charset="0"/>
              <a:buChar char="•"/>
            </a:pPr>
            <a:r>
              <a:rPr lang="en-US" sz="1100" b="1" dirty="0"/>
              <a:t>GitHub Profile:</a:t>
            </a:r>
            <a:r>
              <a:rPr lang="en-US" sz="1100" dirty="0"/>
              <a:t> Contribute to open-source projects and maintain a strong GitHub profile to showcase your coding skills.</a:t>
            </a:r>
          </a:p>
          <a:p>
            <a:r>
              <a:rPr lang="en-US" sz="1100" b="1" dirty="0"/>
              <a:t>4. Networking:</a:t>
            </a:r>
          </a:p>
          <a:p>
            <a:pPr>
              <a:buFont typeface="Arial" panose="020B0604020202020204" pitchFamily="34" charset="0"/>
              <a:buChar char="•"/>
            </a:pPr>
            <a:r>
              <a:rPr lang="en-US" sz="1100" b="1" dirty="0"/>
              <a:t>Attend Conferences and Meetups:</a:t>
            </a:r>
            <a:r>
              <a:rPr lang="en-US" sz="1100" dirty="0"/>
              <a:t> Attend industry conferences, seminars, and meetups to network with professionals. Networking can open up opportunities and provide insights into the industry.</a:t>
            </a:r>
          </a:p>
          <a:p>
            <a:pPr>
              <a:buFont typeface="Arial" panose="020B0604020202020204" pitchFamily="34" charset="0"/>
              <a:buChar char="•"/>
            </a:pPr>
            <a:r>
              <a:rPr lang="en-US" sz="1100" b="1" dirty="0"/>
              <a:t>LinkedIn Profile:</a:t>
            </a:r>
            <a:r>
              <a:rPr lang="en-US" sz="1100" dirty="0"/>
              <a:t> Maintain a professional LinkedIn profile highlighting your skills, projects, and achievements. Connect with professionals in your field.</a:t>
            </a:r>
          </a:p>
          <a:p>
            <a:r>
              <a:rPr lang="en-US" sz="1100" b="1" dirty="0"/>
              <a:t>5. Soft Skills:</a:t>
            </a:r>
          </a:p>
          <a:p>
            <a:pPr>
              <a:buFont typeface="Arial" panose="020B0604020202020204" pitchFamily="34" charset="0"/>
              <a:buChar char="•"/>
            </a:pPr>
            <a:r>
              <a:rPr lang="en-US" sz="1100" b="1" dirty="0"/>
              <a:t>Communication Skills:</a:t>
            </a:r>
            <a:r>
              <a:rPr lang="en-US" sz="1100" dirty="0"/>
              <a:t> Develop strong communication skills, both written and verbal. The ability to articulate your ideas is crucial in a professional setting.</a:t>
            </a:r>
          </a:p>
          <a:p>
            <a:pPr>
              <a:buFont typeface="Arial" panose="020B0604020202020204" pitchFamily="34" charset="0"/>
              <a:buChar char="•"/>
            </a:pPr>
            <a:r>
              <a:rPr lang="en-US" sz="1100" b="1" dirty="0"/>
              <a:t>Problem-Solving:</a:t>
            </a:r>
            <a:r>
              <a:rPr lang="en-US" sz="1100" dirty="0"/>
              <a:t> Employers value individuals who can effectively solve problems. Develop a mindset for critical thinking and creative problem-solving.</a:t>
            </a:r>
          </a:p>
          <a:p>
            <a:r>
              <a:rPr lang="en-US" sz="1100" b="1" dirty="0"/>
              <a:t>6. Advanced Education (Optional):</a:t>
            </a:r>
          </a:p>
          <a:p>
            <a:pPr>
              <a:buFont typeface="Arial" panose="020B0604020202020204" pitchFamily="34" charset="0"/>
              <a:buChar char="•"/>
            </a:pPr>
            <a:r>
              <a:rPr lang="en-US" sz="1100" b="1" dirty="0"/>
              <a:t>Consider Postgraduate Studies:</a:t>
            </a:r>
            <a:r>
              <a:rPr lang="en-US" sz="1100" dirty="0"/>
              <a:t> Pursue a master's degree in a relevant field if feasible and aligned with your career goals. Advanced degrees can sometimes open doors to higher-paying positions.</a:t>
            </a:r>
          </a:p>
          <a:p>
            <a:r>
              <a:rPr lang="en-US" sz="1100" b="1" dirty="0"/>
              <a:t>7. Job Search and Negotiation:</a:t>
            </a:r>
          </a:p>
          <a:p>
            <a:pPr>
              <a:buFont typeface="Arial" panose="020B0604020202020204" pitchFamily="34" charset="0"/>
              <a:buChar char="•"/>
            </a:pPr>
            <a:r>
              <a:rPr lang="en-US" sz="1100" b="1" dirty="0"/>
              <a:t>Research Salaries:</a:t>
            </a:r>
            <a:r>
              <a:rPr lang="en-US" sz="1100" dirty="0"/>
              <a:t> Understand the salary ranges for your desired role and location. Websites like Glassdoor, LinkedIn, or </a:t>
            </a:r>
            <a:r>
              <a:rPr lang="en-US" sz="1100" dirty="0" err="1"/>
              <a:t>Payscale</a:t>
            </a:r>
            <a:r>
              <a:rPr lang="en-US" sz="1100" dirty="0"/>
              <a:t> can provide salary insights.</a:t>
            </a:r>
          </a:p>
          <a:p>
            <a:pPr>
              <a:buFont typeface="Arial" panose="020B0604020202020204" pitchFamily="34" charset="0"/>
              <a:buChar char="•"/>
            </a:pPr>
            <a:r>
              <a:rPr lang="en-US" sz="1100" b="1" dirty="0"/>
              <a:t>Apply Strategically:</a:t>
            </a:r>
            <a:r>
              <a:rPr lang="en-US" sz="1100" dirty="0"/>
              <a:t> Target companies known for offering competitive salaries. Apply for positions that align with your skills and career goals.</a:t>
            </a:r>
          </a:p>
          <a:p>
            <a:pPr>
              <a:buFont typeface="Arial" panose="020B0604020202020204" pitchFamily="34" charset="0"/>
              <a:buChar char="•"/>
            </a:pPr>
            <a:r>
              <a:rPr lang="en-US" sz="1100" b="1" dirty="0"/>
              <a:t>Negotiation Skills:</a:t>
            </a:r>
            <a:r>
              <a:rPr lang="en-US" sz="1100" dirty="0"/>
              <a:t> Develop strong negotiation skills. Be prepared to negotiate your salary based on your skills, experience, and the industry standard.</a:t>
            </a:r>
          </a:p>
          <a:p>
            <a:r>
              <a:rPr lang="en-US" sz="1100" b="1" dirty="0"/>
              <a:t>8. Stay Updated:</a:t>
            </a:r>
          </a:p>
          <a:p>
            <a:pPr>
              <a:buFont typeface="Arial" panose="020B0604020202020204" pitchFamily="34" charset="0"/>
              <a:buChar char="•"/>
            </a:pPr>
            <a:r>
              <a:rPr lang="en-US" sz="1100" b="1" dirty="0"/>
              <a:t>Continuous Learning:</a:t>
            </a:r>
            <a:r>
              <a:rPr lang="en-US" sz="1100" dirty="0"/>
              <a:t> Stay updated on the latest technologies and industry trends. The tech industry evolves rapidly, and staying current is essential for career growth.</a:t>
            </a:r>
          </a:p>
          <a:p>
            <a:r>
              <a:rPr lang="en-US" sz="1100" b="1" dirty="0"/>
              <a:t>9. Consider Entrepreneurship:</a:t>
            </a:r>
          </a:p>
          <a:p>
            <a:pPr>
              <a:buFont typeface="Arial" panose="020B0604020202020204" pitchFamily="34" charset="0"/>
              <a:buChar char="•"/>
            </a:pPr>
            <a:r>
              <a:rPr lang="en-US" sz="1100" b="1" dirty="0"/>
              <a:t>Start Your Own Venture:</a:t>
            </a:r>
            <a:r>
              <a:rPr lang="en-US" sz="1100" dirty="0"/>
              <a:t> Consider entrepreneurship if you have a unique business idea. Building a successful business can lead to significant financial rewards.</a:t>
            </a:r>
          </a:p>
          <a:p>
            <a:r>
              <a:rPr lang="en-US" sz="1100" b="1" dirty="0"/>
              <a:t>10. Financial Management:</a:t>
            </a:r>
          </a:p>
          <a:p>
            <a:pPr>
              <a:buFont typeface="Arial" panose="020B0604020202020204" pitchFamily="34" charset="0"/>
              <a:buChar char="•"/>
            </a:pPr>
            <a:r>
              <a:rPr lang="en-US" sz="1100" b="1" dirty="0"/>
              <a:t>Invest and Save:</a:t>
            </a:r>
            <a:r>
              <a:rPr lang="en-US" sz="1100" dirty="0"/>
              <a:t> Once you start earning a substantial salary, focus on financial management. Invest wisely and save for the future.</a:t>
            </a:r>
          </a:p>
          <a:p>
            <a:r>
              <a:rPr lang="en-US" sz="1100" dirty="0"/>
              <a:t>Remember that reaching a monthly salary of 15 lakhs requires time, dedication, and continuous improvement. Be adaptable, stay persistent, and be open to seizing opportunities as they arise. It's also important to note that salary expectations can vary based on factors such as location, industry, and economic conditions.</a:t>
            </a:r>
          </a:p>
        </p:txBody>
      </p:sp>
    </p:spTree>
    <p:extLst>
      <p:ext uri="{BB962C8B-B14F-4D97-AF65-F5344CB8AC3E}">
        <p14:creationId xmlns:p14="http://schemas.microsoft.com/office/powerpoint/2010/main" val="39616339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C3FDA57-9EF7-6253-3DAE-E5959403697C}"/>
              </a:ext>
            </a:extLst>
          </p:cNvPr>
          <p:cNvSpPr txBox="1"/>
          <p:nvPr/>
        </p:nvSpPr>
        <p:spPr>
          <a:xfrm>
            <a:off x="1501629" y="574537"/>
            <a:ext cx="9446004" cy="584775"/>
          </a:xfrm>
          <a:prstGeom prst="rect">
            <a:avLst/>
          </a:prstGeom>
          <a:noFill/>
        </p:spPr>
        <p:txBody>
          <a:bodyPr wrap="square">
            <a:spAutoFit/>
          </a:bodyPr>
          <a:lstStyle/>
          <a:p>
            <a:r>
              <a:rPr lang="en-US" sz="3200" b="1" dirty="0">
                <a:solidFill>
                  <a:srgbClr val="FF0000"/>
                </a:solidFill>
              </a:rPr>
              <a:t>Time Table (starts from 18</a:t>
            </a:r>
            <a:r>
              <a:rPr lang="en-US" sz="3200" b="1" baseline="30000" dirty="0">
                <a:solidFill>
                  <a:srgbClr val="FF0000"/>
                </a:solidFill>
              </a:rPr>
              <a:t>th  </a:t>
            </a:r>
            <a:r>
              <a:rPr lang="en-US" sz="3200" b="1" dirty="0">
                <a:solidFill>
                  <a:srgbClr val="FF0000"/>
                </a:solidFill>
              </a:rPr>
              <a:t>Dec to 14</a:t>
            </a:r>
            <a:r>
              <a:rPr lang="en-US" sz="3200" b="1" baseline="30000" dirty="0">
                <a:solidFill>
                  <a:srgbClr val="FF0000"/>
                </a:solidFill>
              </a:rPr>
              <a:t>th</a:t>
            </a:r>
            <a:r>
              <a:rPr lang="en-US" sz="3200" b="1" dirty="0">
                <a:solidFill>
                  <a:srgbClr val="FF0000"/>
                </a:solidFill>
              </a:rPr>
              <a:t> Jan)</a:t>
            </a:r>
            <a:endParaRPr lang="en-IN" sz="3200" b="1" dirty="0"/>
          </a:p>
        </p:txBody>
      </p:sp>
      <p:sp>
        <p:nvSpPr>
          <p:cNvPr id="5" name="TextBox 4">
            <a:extLst>
              <a:ext uri="{FF2B5EF4-FFF2-40B4-BE49-F238E27FC236}">
                <a16:creationId xmlns:a16="http://schemas.microsoft.com/office/drawing/2014/main" id="{2E902560-8E60-349C-2044-DAE02FBD3753}"/>
              </a:ext>
            </a:extLst>
          </p:cNvPr>
          <p:cNvSpPr txBox="1"/>
          <p:nvPr/>
        </p:nvSpPr>
        <p:spPr>
          <a:xfrm>
            <a:off x="849386" y="1379475"/>
            <a:ext cx="4695737" cy="2215991"/>
          </a:xfrm>
          <a:prstGeom prst="rect">
            <a:avLst/>
          </a:prstGeom>
          <a:noFill/>
        </p:spPr>
        <p:txBody>
          <a:bodyPr wrap="square">
            <a:spAutoFit/>
          </a:bodyPr>
          <a:lstStyle/>
          <a:p>
            <a:r>
              <a:rPr lang="en-US" sz="2400" b="1" dirty="0"/>
              <a:t>Day Shift (7:30 to 6:00)</a:t>
            </a:r>
          </a:p>
          <a:p>
            <a:pPr marL="457200" indent="-457200">
              <a:buAutoNum type="arabicPeriod"/>
            </a:pPr>
            <a:r>
              <a:rPr lang="en-US" sz="2400" dirty="0"/>
              <a:t>Meditation is compulsory .</a:t>
            </a:r>
          </a:p>
          <a:p>
            <a:pPr marL="457200" indent="-457200">
              <a:buAutoNum type="arabicPeriod"/>
            </a:pPr>
            <a:r>
              <a:rPr lang="en-US" sz="2400" dirty="0"/>
              <a:t>Gym from 8:00 to 9:30.</a:t>
            </a:r>
          </a:p>
          <a:p>
            <a:pPr marL="457200" indent="-457200">
              <a:buAutoNum type="arabicPeriod"/>
            </a:pPr>
            <a:r>
              <a:rPr lang="en-US" sz="2400" dirty="0"/>
              <a:t>Basic routine 10:00 to 12:00.</a:t>
            </a:r>
          </a:p>
          <a:p>
            <a:pPr marL="457200" indent="-457200">
              <a:buAutoNum type="arabicPeriod"/>
            </a:pPr>
            <a:r>
              <a:rPr lang="en-US" sz="2400" dirty="0"/>
              <a:t>Nap or Short Sleep.</a:t>
            </a:r>
          </a:p>
          <a:p>
            <a:pPr marL="457200" indent="-457200">
              <a:buAutoNum type="arabicPeriod"/>
            </a:pPr>
            <a:endParaRPr lang="en-IN" dirty="0"/>
          </a:p>
        </p:txBody>
      </p:sp>
      <p:sp>
        <p:nvSpPr>
          <p:cNvPr id="7" name="TextBox 6">
            <a:extLst>
              <a:ext uri="{FF2B5EF4-FFF2-40B4-BE49-F238E27FC236}">
                <a16:creationId xmlns:a16="http://schemas.microsoft.com/office/drawing/2014/main" id="{8B5F80D2-51E6-9DD0-61DA-B32C9B88B6EC}"/>
              </a:ext>
            </a:extLst>
          </p:cNvPr>
          <p:cNvSpPr txBox="1"/>
          <p:nvPr/>
        </p:nvSpPr>
        <p:spPr>
          <a:xfrm>
            <a:off x="6096000" y="1379475"/>
            <a:ext cx="6094602" cy="2308324"/>
          </a:xfrm>
          <a:prstGeom prst="rect">
            <a:avLst/>
          </a:prstGeom>
          <a:noFill/>
        </p:spPr>
        <p:txBody>
          <a:bodyPr wrap="square">
            <a:spAutoFit/>
          </a:bodyPr>
          <a:lstStyle/>
          <a:p>
            <a:r>
              <a:rPr lang="en-US" sz="2400" b="1" dirty="0"/>
              <a:t>Night Shift (7:30 to 2:30)</a:t>
            </a:r>
          </a:p>
          <a:p>
            <a:pPr marL="457200" indent="-457200">
              <a:buAutoNum type="arabicPeriod"/>
            </a:pPr>
            <a:r>
              <a:rPr lang="en-US" sz="2400" dirty="0"/>
              <a:t>Basic Routine from 7:30 to 9:30</a:t>
            </a:r>
          </a:p>
          <a:p>
            <a:pPr marL="457200" indent="-457200">
              <a:buAutoNum type="arabicPeriod"/>
            </a:pPr>
            <a:r>
              <a:rPr lang="en-US" sz="2400" dirty="0"/>
              <a:t>One full lecture and 15 minutes nap or short sleep.</a:t>
            </a:r>
          </a:p>
          <a:p>
            <a:pPr marL="457200" indent="-457200">
              <a:buAutoNum type="arabicPeriod"/>
            </a:pPr>
            <a:r>
              <a:rPr lang="en-IN" sz="2400" dirty="0"/>
              <a:t>Nap or short sleep is compulsory.</a:t>
            </a:r>
          </a:p>
          <a:p>
            <a:pPr marL="457200" indent="-457200">
              <a:buAutoNum type="arabicPeriod"/>
            </a:pPr>
            <a:endParaRPr lang="en-IN" sz="2400" dirty="0"/>
          </a:p>
        </p:txBody>
      </p:sp>
      <p:sp>
        <p:nvSpPr>
          <p:cNvPr id="9" name="TextBox 8">
            <a:extLst>
              <a:ext uri="{FF2B5EF4-FFF2-40B4-BE49-F238E27FC236}">
                <a16:creationId xmlns:a16="http://schemas.microsoft.com/office/drawing/2014/main" id="{7E80D3F0-7C3D-35D4-7FD9-A11330055A27}"/>
              </a:ext>
            </a:extLst>
          </p:cNvPr>
          <p:cNvSpPr txBox="1"/>
          <p:nvPr/>
        </p:nvSpPr>
        <p:spPr>
          <a:xfrm>
            <a:off x="461394" y="4031072"/>
            <a:ext cx="11148969" cy="2308324"/>
          </a:xfrm>
          <a:prstGeom prst="rect">
            <a:avLst/>
          </a:prstGeom>
          <a:noFill/>
        </p:spPr>
        <p:txBody>
          <a:bodyPr wrap="square">
            <a:spAutoFit/>
          </a:bodyPr>
          <a:lstStyle/>
          <a:p>
            <a:r>
              <a:rPr lang="en-US" b="1" u="sng" dirty="0"/>
              <a:t>Target to Achieve is – </a:t>
            </a:r>
          </a:p>
          <a:p>
            <a:pPr marL="342900" indent="-342900">
              <a:buAutoNum type="alphaLcPeriod"/>
            </a:pPr>
            <a:r>
              <a:rPr lang="en-US" b="1" u="sng" dirty="0">
                <a:solidFill>
                  <a:srgbClr val="FF0000"/>
                </a:solidFill>
              </a:rPr>
              <a:t>Peace full mid and High Intelligence Quotient level( per Day at least 15 minutes )</a:t>
            </a:r>
          </a:p>
          <a:p>
            <a:pPr marL="342900" indent="-342900">
              <a:buAutoNum type="alphaLcPeriod"/>
            </a:pPr>
            <a:r>
              <a:rPr lang="en-US" b="1" u="sng" dirty="0">
                <a:solidFill>
                  <a:srgbClr val="FF0000"/>
                </a:solidFill>
              </a:rPr>
              <a:t>Correct Body posture with correct face structure (100 of everything Pushups, Squats, Pullups, Abs work)</a:t>
            </a:r>
          </a:p>
          <a:p>
            <a:pPr marL="342900" indent="-342900">
              <a:buAutoNum type="alphaLcPeriod"/>
            </a:pPr>
            <a:r>
              <a:rPr lang="en-US" b="1" u="sng" dirty="0">
                <a:solidFill>
                  <a:srgbClr val="FF0000"/>
                </a:solidFill>
              </a:rPr>
              <a:t>Deep vocal cord voice (practicing Each day)</a:t>
            </a:r>
          </a:p>
          <a:p>
            <a:pPr marL="342900" indent="-342900">
              <a:buAutoNum type="alphaLcPeriod"/>
            </a:pPr>
            <a:r>
              <a:rPr lang="en-US" b="1" u="sng" dirty="0">
                <a:solidFill>
                  <a:srgbClr val="FF0000"/>
                </a:solidFill>
              </a:rPr>
              <a:t>Per day one self improvement video( make video of per day work and read 5pages a day and self practice in mirror</a:t>
            </a:r>
          </a:p>
          <a:p>
            <a:pPr marL="342900" indent="-342900">
              <a:buAutoNum type="alphaLcPeriod"/>
            </a:pPr>
            <a:r>
              <a:rPr lang="en-US" b="1" u="sng" dirty="0">
                <a:solidFill>
                  <a:srgbClr val="FF0000"/>
                </a:solidFill>
              </a:rPr>
              <a:t>Data Structure and Algorithm Completion ( Start from Starting from 0 to Hero and also try to practice code)</a:t>
            </a:r>
          </a:p>
          <a:p>
            <a:pPr marL="342900" indent="-342900">
              <a:buAutoNum type="alphaLcPeriod"/>
            </a:pPr>
            <a:endParaRPr lang="en-IN" dirty="0"/>
          </a:p>
        </p:txBody>
      </p:sp>
    </p:spTree>
    <p:extLst>
      <p:ext uri="{BB962C8B-B14F-4D97-AF65-F5344CB8AC3E}">
        <p14:creationId xmlns:p14="http://schemas.microsoft.com/office/powerpoint/2010/main" val="20395082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0A4E4-46D0-65CE-A4D8-AD95C65F7F4F}"/>
              </a:ext>
            </a:extLst>
          </p:cNvPr>
          <p:cNvSpPr>
            <a:spLocks noGrp="1"/>
          </p:cNvSpPr>
          <p:nvPr>
            <p:ph type="title"/>
          </p:nvPr>
        </p:nvSpPr>
        <p:spPr>
          <a:xfrm>
            <a:off x="1068900" y="1116356"/>
            <a:ext cx="5088620" cy="1303867"/>
          </a:xfrm>
        </p:spPr>
        <p:txBody>
          <a:bodyPr/>
          <a:lstStyle/>
          <a:p>
            <a:r>
              <a:rPr lang="en-US" dirty="0"/>
              <a:t>1</a:t>
            </a:r>
            <a:r>
              <a:rPr lang="en-US" baseline="30000" dirty="0"/>
              <a:t>ST</a:t>
            </a:r>
            <a:r>
              <a:rPr lang="en-US" dirty="0"/>
              <a:t> PRIORITY</a:t>
            </a:r>
            <a:endParaRPr lang="en-IN" dirty="0"/>
          </a:p>
        </p:txBody>
      </p:sp>
      <p:sp>
        <p:nvSpPr>
          <p:cNvPr id="3" name="Content Placeholder 2">
            <a:extLst>
              <a:ext uri="{FF2B5EF4-FFF2-40B4-BE49-F238E27FC236}">
                <a16:creationId xmlns:a16="http://schemas.microsoft.com/office/drawing/2014/main" id="{9F2C6E8E-D273-C357-58B8-A4F6610C80B3}"/>
              </a:ext>
            </a:extLst>
          </p:cNvPr>
          <p:cNvSpPr>
            <a:spLocks noGrp="1"/>
          </p:cNvSpPr>
          <p:nvPr>
            <p:ph idx="1"/>
          </p:nvPr>
        </p:nvSpPr>
        <p:spPr>
          <a:xfrm>
            <a:off x="1295401" y="2556932"/>
            <a:ext cx="4115498" cy="3318936"/>
          </a:xfrm>
        </p:spPr>
        <p:txBody>
          <a:bodyPr/>
          <a:lstStyle/>
          <a:p>
            <a:r>
              <a:rPr lang="en-US" dirty="0"/>
              <a:t>*** C &amp; C++ &amp; DSA</a:t>
            </a:r>
          </a:p>
          <a:p>
            <a:r>
              <a:rPr lang="en-US" dirty="0"/>
              <a:t>*** DBMS</a:t>
            </a:r>
          </a:p>
          <a:p>
            <a:r>
              <a:rPr lang="en-US" dirty="0"/>
              <a:t>*** NETWORKING</a:t>
            </a:r>
          </a:p>
          <a:p>
            <a:r>
              <a:rPr lang="en-US" dirty="0"/>
              <a:t>*** OPERATING SYSTEM</a:t>
            </a:r>
          </a:p>
          <a:p>
            <a:r>
              <a:rPr lang="en-US" dirty="0"/>
              <a:t>SOFT SKILL</a:t>
            </a:r>
          </a:p>
          <a:p>
            <a:r>
              <a:rPr lang="en-US" dirty="0"/>
              <a:t>ANALYTICAL</a:t>
            </a:r>
          </a:p>
          <a:p>
            <a:endParaRPr lang="en-US" dirty="0"/>
          </a:p>
          <a:p>
            <a:endParaRPr lang="en-IN" dirty="0"/>
          </a:p>
        </p:txBody>
      </p:sp>
      <p:pic>
        <p:nvPicPr>
          <p:cNvPr id="4" name="Picture 3">
            <a:extLst>
              <a:ext uri="{FF2B5EF4-FFF2-40B4-BE49-F238E27FC236}">
                <a16:creationId xmlns:a16="http://schemas.microsoft.com/office/drawing/2014/main" id="{14C10F64-B83A-CB8B-ABB0-1C8F5B9A866E}"/>
              </a:ext>
            </a:extLst>
          </p:cNvPr>
          <p:cNvPicPr>
            <a:picLocks noChangeAspect="1"/>
          </p:cNvPicPr>
          <p:nvPr/>
        </p:nvPicPr>
        <p:blipFill>
          <a:blip r:embed="rId2"/>
          <a:stretch>
            <a:fillRect/>
          </a:stretch>
        </p:blipFill>
        <p:spPr>
          <a:xfrm>
            <a:off x="5318620" y="493697"/>
            <a:ext cx="6381471" cy="5870606"/>
          </a:xfrm>
          <a:prstGeom prst="rect">
            <a:avLst/>
          </a:prstGeom>
        </p:spPr>
      </p:pic>
    </p:spTree>
    <p:extLst>
      <p:ext uri="{BB962C8B-B14F-4D97-AF65-F5344CB8AC3E}">
        <p14:creationId xmlns:p14="http://schemas.microsoft.com/office/powerpoint/2010/main" val="26368812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48C590-7209-A373-1420-C4CA965A6DD6}"/>
              </a:ext>
            </a:extLst>
          </p:cNvPr>
          <p:cNvSpPr>
            <a:spLocks noGrp="1"/>
          </p:cNvSpPr>
          <p:nvPr>
            <p:ph type="title"/>
          </p:nvPr>
        </p:nvSpPr>
        <p:spPr>
          <a:xfrm>
            <a:off x="613096" y="882650"/>
            <a:ext cx="5482903" cy="1303867"/>
          </a:xfrm>
        </p:spPr>
        <p:txBody>
          <a:bodyPr/>
          <a:lstStyle/>
          <a:p>
            <a:r>
              <a:rPr lang="en-US" dirty="0">
                <a:solidFill>
                  <a:schemeClr val="accent2">
                    <a:lumMod val="50000"/>
                  </a:schemeClr>
                </a:solidFill>
              </a:rPr>
              <a:t>Your 1</a:t>
            </a:r>
            <a:r>
              <a:rPr lang="en-US" baseline="30000" dirty="0">
                <a:solidFill>
                  <a:schemeClr val="accent2">
                    <a:lumMod val="50000"/>
                  </a:schemeClr>
                </a:solidFill>
              </a:rPr>
              <a:t>st</a:t>
            </a:r>
            <a:r>
              <a:rPr lang="en-US" dirty="0">
                <a:solidFill>
                  <a:schemeClr val="accent2">
                    <a:lumMod val="50000"/>
                  </a:schemeClr>
                </a:solidFill>
              </a:rPr>
              <a:t> priority</a:t>
            </a:r>
            <a:endParaRPr lang="en-IN" dirty="0">
              <a:solidFill>
                <a:schemeClr val="accent2">
                  <a:lumMod val="50000"/>
                </a:schemeClr>
              </a:solidFill>
            </a:endParaRPr>
          </a:p>
        </p:txBody>
      </p:sp>
      <p:sp>
        <p:nvSpPr>
          <p:cNvPr id="3" name="Content Placeholder 2">
            <a:extLst>
              <a:ext uri="{FF2B5EF4-FFF2-40B4-BE49-F238E27FC236}">
                <a16:creationId xmlns:a16="http://schemas.microsoft.com/office/drawing/2014/main" id="{68086768-3405-2378-B652-032036EB84D8}"/>
              </a:ext>
            </a:extLst>
          </p:cNvPr>
          <p:cNvSpPr>
            <a:spLocks noGrp="1"/>
          </p:cNvSpPr>
          <p:nvPr>
            <p:ph idx="1"/>
          </p:nvPr>
        </p:nvSpPr>
        <p:spPr>
          <a:xfrm>
            <a:off x="273084" y="2575465"/>
            <a:ext cx="7000101" cy="3634486"/>
          </a:xfrm>
        </p:spPr>
        <p:txBody>
          <a:bodyPr>
            <a:normAutofit/>
          </a:bodyPr>
          <a:lstStyle/>
          <a:p>
            <a:r>
              <a:rPr lang="en-US" dirty="0"/>
              <a:t>SOFT SKILL</a:t>
            </a:r>
          </a:p>
          <a:p>
            <a:r>
              <a:rPr lang="en-US" dirty="0"/>
              <a:t>ANALYTICAL</a:t>
            </a:r>
          </a:p>
          <a:p>
            <a:r>
              <a:rPr lang="en-US" dirty="0"/>
              <a:t>PYTHON </a:t>
            </a:r>
          </a:p>
          <a:p>
            <a:r>
              <a:rPr lang="en-US" dirty="0"/>
              <a:t>HTML,CSS AND JAVASCRIPT</a:t>
            </a:r>
          </a:p>
          <a:p>
            <a:endParaRPr lang="en-US" dirty="0"/>
          </a:p>
          <a:p>
            <a:endParaRPr lang="en-IN" dirty="0"/>
          </a:p>
        </p:txBody>
      </p:sp>
      <p:pic>
        <p:nvPicPr>
          <p:cNvPr id="5" name="Picture 4">
            <a:extLst>
              <a:ext uri="{FF2B5EF4-FFF2-40B4-BE49-F238E27FC236}">
                <a16:creationId xmlns:a16="http://schemas.microsoft.com/office/drawing/2014/main" id="{015EEF16-476E-BA33-19C3-5E4C653394D3}"/>
              </a:ext>
            </a:extLst>
          </p:cNvPr>
          <p:cNvPicPr>
            <a:picLocks noChangeAspect="1"/>
          </p:cNvPicPr>
          <p:nvPr/>
        </p:nvPicPr>
        <p:blipFill>
          <a:blip r:embed="rId2"/>
          <a:stretch>
            <a:fillRect/>
          </a:stretch>
        </p:blipFill>
        <p:spPr>
          <a:xfrm>
            <a:off x="7691971" y="551576"/>
            <a:ext cx="3918836" cy="5754849"/>
          </a:xfrm>
          <a:prstGeom prst="rect">
            <a:avLst/>
          </a:prstGeom>
        </p:spPr>
      </p:pic>
      <p:pic>
        <p:nvPicPr>
          <p:cNvPr id="6" name="Picture 5">
            <a:extLst>
              <a:ext uri="{FF2B5EF4-FFF2-40B4-BE49-F238E27FC236}">
                <a16:creationId xmlns:a16="http://schemas.microsoft.com/office/drawing/2014/main" id="{B1DA0FB9-5675-F21F-EC66-DF2A5E785C94}"/>
              </a:ext>
            </a:extLst>
          </p:cNvPr>
          <p:cNvPicPr>
            <a:picLocks noChangeAspect="1"/>
          </p:cNvPicPr>
          <p:nvPr/>
        </p:nvPicPr>
        <p:blipFill>
          <a:blip r:embed="rId3"/>
          <a:stretch>
            <a:fillRect/>
          </a:stretch>
        </p:blipFill>
        <p:spPr>
          <a:xfrm>
            <a:off x="4728335" y="1904301"/>
            <a:ext cx="2963636" cy="4209176"/>
          </a:xfrm>
          <a:prstGeom prst="rect">
            <a:avLst/>
          </a:prstGeom>
        </p:spPr>
      </p:pic>
    </p:spTree>
    <p:extLst>
      <p:ext uri="{BB962C8B-B14F-4D97-AF65-F5344CB8AC3E}">
        <p14:creationId xmlns:p14="http://schemas.microsoft.com/office/powerpoint/2010/main" val="22046265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BDDEC-0697-EA20-32B8-ECA527F9CADE}"/>
              </a:ext>
            </a:extLst>
          </p:cNvPr>
          <p:cNvSpPr>
            <a:spLocks noGrp="1"/>
          </p:cNvSpPr>
          <p:nvPr>
            <p:ph type="title"/>
          </p:nvPr>
        </p:nvSpPr>
        <p:spPr>
          <a:xfrm>
            <a:off x="1379292" y="269068"/>
            <a:ext cx="9601196" cy="1303867"/>
          </a:xfrm>
        </p:spPr>
        <p:txBody>
          <a:bodyPr/>
          <a:lstStyle/>
          <a:p>
            <a:r>
              <a:rPr lang="en-US" dirty="0"/>
              <a:t>STEP BY STEP</a:t>
            </a:r>
            <a:endParaRPr lang="en-IN" dirty="0"/>
          </a:p>
        </p:txBody>
      </p:sp>
      <p:sp>
        <p:nvSpPr>
          <p:cNvPr id="3" name="Content Placeholder 2">
            <a:extLst>
              <a:ext uri="{FF2B5EF4-FFF2-40B4-BE49-F238E27FC236}">
                <a16:creationId xmlns:a16="http://schemas.microsoft.com/office/drawing/2014/main" id="{6333C2E2-83AF-E024-96CA-E7D0DF619625}"/>
              </a:ext>
            </a:extLst>
          </p:cNvPr>
          <p:cNvSpPr>
            <a:spLocks noGrp="1"/>
          </p:cNvSpPr>
          <p:nvPr>
            <p:ph idx="1"/>
          </p:nvPr>
        </p:nvSpPr>
        <p:spPr>
          <a:xfrm>
            <a:off x="674615" y="1728132"/>
            <a:ext cx="10726024" cy="4597167"/>
          </a:xfrm>
          <a:ln w="28575">
            <a:solidFill>
              <a:schemeClr val="tx1"/>
            </a:solidFill>
          </a:ln>
          <a:effectLst>
            <a:outerShdw blurRad="50800" dist="38100" dir="13500000" algn="br" rotWithShape="0">
              <a:prstClr val="black">
                <a:alpha val="40000"/>
              </a:prstClr>
            </a:outerShdw>
          </a:effectLst>
        </p:spPr>
        <p:txBody>
          <a:bodyPr>
            <a:normAutofit fontScale="92500" lnSpcReduction="20000"/>
          </a:bodyPr>
          <a:lstStyle/>
          <a:p>
            <a:pPr marL="514350" indent="-514350">
              <a:buFont typeface="+mj-lt"/>
              <a:buAutoNum type="romanUcPeriod"/>
            </a:pPr>
            <a:r>
              <a:rPr lang="en-US" dirty="0">
                <a:solidFill>
                  <a:srgbClr val="002060"/>
                </a:solidFill>
              </a:rPr>
              <a:t>C LANGUAGE</a:t>
            </a:r>
          </a:p>
          <a:p>
            <a:pPr marL="514350" indent="-514350">
              <a:buFont typeface="+mj-lt"/>
              <a:buAutoNum type="romanUcPeriod"/>
            </a:pPr>
            <a:r>
              <a:rPr lang="en-US" dirty="0">
                <a:solidFill>
                  <a:srgbClr val="002060"/>
                </a:solidFill>
              </a:rPr>
              <a:t>C++ AND DSA LANGUAGE</a:t>
            </a:r>
          </a:p>
          <a:p>
            <a:pPr marL="514350" indent="-514350">
              <a:buFont typeface="+mj-lt"/>
              <a:buAutoNum type="romanUcPeriod"/>
            </a:pPr>
            <a:r>
              <a:rPr lang="en-US" dirty="0">
                <a:solidFill>
                  <a:srgbClr val="002060"/>
                </a:solidFill>
              </a:rPr>
              <a:t>HTML, CSS AND JAVA SCRIPT</a:t>
            </a:r>
          </a:p>
          <a:p>
            <a:pPr marL="514350" indent="-514350">
              <a:buFont typeface="+mj-lt"/>
              <a:buAutoNum type="romanUcPeriod"/>
            </a:pPr>
            <a:r>
              <a:rPr lang="en-US" dirty="0">
                <a:solidFill>
                  <a:srgbClr val="002060"/>
                </a:solidFill>
              </a:rPr>
              <a:t>SOFT SKILLS</a:t>
            </a:r>
          </a:p>
          <a:p>
            <a:pPr marL="514350" indent="-514350">
              <a:buFont typeface="+mj-lt"/>
              <a:buAutoNum type="romanUcPeriod"/>
            </a:pPr>
            <a:r>
              <a:rPr lang="en-US" dirty="0">
                <a:solidFill>
                  <a:srgbClr val="002060"/>
                </a:solidFill>
              </a:rPr>
              <a:t>ANALYTICAL</a:t>
            </a:r>
          </a:p>
          <a:p>
            <a:pPr marL="514350" indent="-514350">
              <a:buFont typeface="+mj-lt"/>
              <a:buAutoNum type="romanUcPeriod"/>
            </a:pPr>
            <a:r>
              <a:rPr lang="en-US" dirty="0">
                <a:solidFill>
                  <a:srgbClr val="002060"/>
                </a:solidFill>
              </a:rPr>
              <a:t>MICROSOFT TOOLS</a:t>
            </a:r>
          </a:p>
          <a:p>
            <a:pPr marL="514350" indent="-514350">
              <a:buFont typeface="+mj-lt"/>
              <a:buAutoNum type="romanUcPeriod"/>
            </a:pPr>
            <a:r>
              <a:rPr lang="en-US" dirty="0">
                <a:solidFill>
                  <a:srgbClr val="002060"/>
                </a:solidFill>
              </a:rPr>
              <a:t>DATA BASE MANAGEMENT SYSTEM</a:t>
            </a:r>
          </a:p>
          <a:p>
            <a:pPr marL="514350" indent="-514350">
              <a:buFont typeface="+mj-lt"/>
              <a:buAutoNum type="romanUcPeriod"/>
            </a:pPr>
            <a:r>
              <a:rPr lang="en-US" dirty="0">
                <a:solidFill>
                  <a:srgbClr val="002060"/>
                </a:solidFill>
              </a:rPr>
              <a:t>NETWORKING</a:t>
            </a:r>
          </a:p>
          <a:p>
            <a:pPr marL="514350" indent="-514350">
              <a:buFont typeface="+mj-lt"/>
              <a:buAutoNum type="romanUcPeriod"/>
            </a:pPr>
            <a:r>
              <a:rPr lang="en-US" dirty="0">
                <a:solidFill>
                  <a:srgbClr val="002060"/>
                </a:solidFill>
              </a:rPr>
              <a:t>OPERATING SYTEM</a:t>
            </a:r>
          </a:p>
          <a:p>
            <a:pPr marL="514350" indent="-514350">
              <a:buFont typeface="+mj-lt"/>
              <a:buAutoNum type="romanUcPeriod"/>
            </a:pPr>
            <a:r>
              <a:rPr lang="en-US" dirty="0">
                <a:solidFill>
                  <a:srgbClr val="002060"/>
                </a:solidFill>
              </a:rPr>
              <a:t>DAA</a:t>
            </a:r>
          </a:p>
          <a:p>
            <a:pPr marL="514350" indent="-514350">
              <a:buFont typeface="+mj-lt"/>
              <a:buAutoNum type="romanUcPeriod"/>
            </a:pPr>
            <a:r>
              <a:rPr lang="en-US" dirty="0">
                <a:solidFill>
                  <a:srgbClr val="002060"/>
                </a:solidFill>
              </a:rPr>
              <a:t>Excel</a:t>
            </a:r>
          </a:p>
          <a:p>
            <a:pPr marL="514350" indent="-514350">
              <a:buFont typeface="+mj-lt"/>
              <a:buAutoNum type="romanUcPeriod"/>
            </a:pPr>
            <a:endParaRPr lang="en-US" dirty="0">
              <a:solidFill>
                <a:srgbClr val="002060"/>
              </a:solidFill>
            </a:endParaRPr>
          </a:p>
          <a:p>
            <a:pPr marL="514350" indent="-514350">
              <a:buFont typeface="+mj-lt"/>
              <a:buAutoNum type="romanUcPeriod"/>
            </a:pPr>
            <a:endParaRPr lang="en-IN" dirty="0">
              <a:solidFill>
                <a:srgbClr val="002060"/>
              </a:solidFill>
            </a:endParaRPr>
          </a:p>
        </p:txBody>
      </p:sp>
    </p:spTree>
    <p:extLst>
      <p:ext uri="{BB962C8B-B14F-4D97-AF65-F5344CB8AC3E}">
        <p14:creationId xmlns:p14="http://schemas.microsoft.com/office/powerpoint/2010/main" val="41750617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E26FA-2B60-5122-CF62-3CD3EE4A17DD}"/>
              </a:ext>
            </a:extLst>
          </p:cNvPr>
          <p:cNvSpPr>
            <a:spLocks noGrp="1"/>
          </p:cNvSpPr>
          <p:nvPr>
            <p:ph type="title"/>
          </p:nvPr>
        </p:nvSpPr>
        <p:spPr/>
        <p:txBody>
          <a:bodyPr/>
          <a:lstStyle/>
          <a:p>
            <a:r>
              <a:rPr lang="en-US" dirty="0">
                <a:highlight>
                  <a:srgbClr val="FFFF00"/>
                </a:highlight>
              </a:rPr>
              <a:t>EARNING WEBSITES</a:t>
            </a:r>
            <a:endParaRPr lang="en-IN" dirty="0">
              <a:highlight>
                <a:srgbClr val="FFFF00"/>
              </a:highlight>
            </a:endParaRPr>
          </a:p>
        </p:txBody>
      </p:sp>
      <p:sp>
        <p:nvSpPr>
          <p:cNvPr id="3" name="Content Placeholder 2">
            <a:extLst>
              <a:ext uri="{FF2B5EF4-FFF2-40B4-BE49-F238E27FC236}">
                <a16:creationId xmlns:a16="http://schemas.microsoft.com/office/drawing/2014/main" id="{4DD419E5-F43F-0828-0205-95C76D025E33}"/>
              </a:ext>
            </a:extLst>
          </p:cNvPr>
          <p:cNvSpPr>
            <a:spLocks noGrp="1"/>
          </p:cNvSpPr>
          <p:nvPr>
            <p:ph idx="1"/>
          </p:nvPr>
        </p:nvSpPr>
        <p:spPr/>
        <p:txBody>
          <a:bodyPr/>
          <a:lstStyle/>
          <a:p>
            <a:r>
              <a:rPr lang="en-US" dirty="0"/>
              <a:t>NEXTLEVEL (START UP ME JOIN )</a:t>
            </a:r>
          </a:p>
          <a:p>
            <a:r>
              <a:rPr lang="en-US" dirty="0"/>
              <a:t>TRYMATA.COM</a:t>
            </a:r>
          </a:p>
          <a:p>
            <a:r>
              <a:rPr lang="en-US" dirty="0"/>
              <a:t>NEXT LEVEL : UNLOCK KUDOS AND JOBS { JOB FINDING APP}</a:t>
            </a:r>
          </a:p>
          <a:p>
            <a:r>
              <a:rPr lang="en-US" dirty="0"/>
              <a:t>GITHUB.COM ( INTERVIEW PREPARATION)</a:t>
            </a:r>
          </a:p>
          <a:p>
            <a:endParaRPr lang="en-IN" dirty="0"/>
          </a:p>
        </p:txBody>
      </p:sp>
    </p:spTree>
    <p:extLst>
      <p:ext uri="{BB962C8B-B14F-4D97-AF65-F5344CB8AC3E}">
        <p14:creationId xmlns:p14="http://schemas.microsoft.com/office/powerpoint/2010/main" val="41610668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EEF21-2B23-780B-938E-A6CB9C7D5594}"/>
              </a:ext>
            </a:extLst>
          </p:cNvPr>
          <p:cNvSpPr>
            <a:spLocks noGrp="1"/>
          </p:cNvSpPr>
          <p:nvPr>
            <p:ph type="title"/>
          </p:nvPr>
        </p:nvSpPr>
        <p:spPr/>
        <p:txBody>
          <a:bodyPr/>
          <a:lstStyle/>
          <a:p>
            <a:r>
              <a:rPr lang="en-US" dirty="0">
                <a:solidFill>
                  <a:srgbClr val="C00000"/>
                </a:solidFill>
              </a:rPr>
              <a:t>How to overcome laziness</a:t>
            </a:r>
            <a:endParaRPr lang="en-IN" dirty="0">
              <a:solidFill>
                <a:srgbClr val="C00000"/>
              </a:solidFill>
            </a:endParaRPr>
          </a:p>
        </p:txBody>
      </p:sp>
      <p:sp>
        <p:nvSpPr>
          <p:cNvPr id="3" name="Content Placeholder 2">
            <a:extLst>
              <a:ext uri="{FF2B5EF4-FFF2-40B4-BE49-F238E27FC236}">
                <a16:creationId xmlns:a16="http://schemas.microsoft.com/office/drawing/2014/main" id="{402EFBBF-FE1C-4F3A-3D49-763840EC3F50}"/>
              </a:ext>
            </a:extLst>
          </p:cNvPr>
          <p:cNvSpPr>
            <a:spLocks noGrp="1"/>
          </p:cNvSpPr>
          <p:nvPr>
            <p:ph idx="1"/>
          </p:nvPr>
        </p:nvSpPr>
        <p:spPr/>
        <p:txBody>
          <a:bodyPr>
            <a:normAutofit fontScale="92500" lnSpcReduction="10000"/>
          </a:bodyPr>
          <a:lstStyle/>
          <a:p>
            <a:r>
              <a:rPr lang="en-US" b="1" i="1" u="sng" dirty="0">
                <a:solidFill>
                  <a:schemeClr val="accent5">
                    <a:lumMod val="60000"/>
                    <a:lumOff val="40000"/>
                  </a:schemeClr>
                </a:solidFill>
              </a:rPr>
              <a:t>Watch </a:t>
            </a:r>
            <a:r>
              <a:rPr lang="en-US" b="1" i="1" u="sng" dirty="0" err="1">
                <a:solidFill>
                  <a:schemeClr val="accent5">
                    <a:lumMod val="60000"/>
                    <a:lumOff val="40000"/>
                  </a:schemeClr>
                </a:solidFill>
              </a:rPr>
              <a:t>youtube</a:t>
            </a:r>
            <a:r>
              <a:rPr lang="en-US" b="1" i="1" u="sng" dirty="0">
                <a:solidFill>
                  <a:schemeClr val="accent5">
                    <a:lumMod val="60000"/>
                    <a:lumOff val="40000"/>
                  </a:schemeClr>
                </a:solidFill>
              </a:rPr>
              <a:t> videos</a:t>
            </a:r>
          </a:p>
          <a:p>
            <a:r>
              <a:rPr lang="en-US" b="1" i="1" u="sng" dirty="0">
                <a:solidFill>
                  <a:schemeClr val="accent5">
                    <a:lumMod val="60000"/>
                    <a:lumOff val="40000"/>
                  </a:schemeClr>
                </a:solidFill>
              </a:rPr>
              <a:t>A. HOW TO BE MORE DISCIPLINE</a:t>
            </a:r>
          </a:p>
          <a:p>
            <a:r>
              <a:rPr lang="en-US" b="1" i="1" u="sng" dirty="0">
                <a:solidFill>
                  <a:schemeClr val="accent5">
                    <a:lumMod val="60000"/>
                    <a:lumOff val="40000"/>
                  </a:schemeClr>
                </a:solidFill>
              </a:rPr>
              <a:t>B. JORDAN PETERSON: HOW TO STOP TO BEING UNDISCLIPLINED</a:t>
            </a:r>
          </a:p>
          <a:p>
            <a:r>
              <a:rPr lang="en-US" b="1" i="1" u="sng" dirty="0">
                <a:solidFill>
                  <a:schemeClr val="accent5">
                    <a:lumMod val="60000"/>
                    <a:lumOff val="40000"/>
                  </a:schemeClr>
                </a:solidFill>
              </a:rPr>
              <a:t>C. NEUROSCIENTIST : TRY IT FOR 1 DAY ! YOU WON’T REGRET IT</a:t>
            </a:r>
          </a:p>
          <a:p>
            <a:r>
              <a:rPr lang="en-US" b="1" i="1" u="sng" dirty="0">
                <a:solidFill>
                  <a:schemeClr val="accent5">
                    <a:lumMod val="60000"/>
                    <a:lumOff val="40000"/>
                  </a:schemeClr>
                </a:solidFill>
              </a:rPr>
              <a:t>D. STEVEN BARTLETT REVEALS : HOW TO BUILD UNBREAKABLE DISCIPLINE</a:t>
            </a:r>
          </a:p>
          <a:p>
            <a:r>
              <a:rPr lang="en-US" b="1" i="1" u="sng" dirty="0">
                <a:solidFill>
                  <a:schemeClr val="accent5">
                    <a:lumMod val="60000"/>
                    <a:lumOff val="40000"/>
                  </a:schemeClr>
                </a:solidFill>
              </a:rPr>
              <a:t>E. KILL YOUR LAZINESS</a:t>
            </a:r>
            <a:endParaRPr lang="en-IN" b="1" i="1" u="sng" dirty="0">
              <a:solidFill>
                <a:schemeClr val="accent5">
                  <a:lumMod val="60000"/>
                  <a:lumOff val="40000"/>
                </a:schemeClr>
              </a:solidFill>
            </a:endParaRPr>
          </a:p>
        </p:txBody>
      </p:sp>
    </p:spTree>
    <p:extLst>
      <p:ext uri="{BB962C8B-B14F-4D97-AF65-F5344CB8AC3E}">
        <p14:creationId xmlns:p14="http://schemas.microsoft.com/office/powerpoint/2010/main" val="29812801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33FCB-949C-B80A-4DD4-F9472EE3B2F7}"/>
              </a:ext>
            </a:extLst>
          </p:cNvPr>
          <p:cNvSpPr>
            <a:spLocks noGrp="1"/>
          </p:cNvSpPr>
          <p:nvPr>
            <p:ph type="title"/>
          </p:nvPr>
        </p:nvSpPr>
        <p:spPr/>
        <p:txBody>
          <a:bodyPr>
            <a:normAutofit fontScale="90000"/>
          </a:bodyPr>
          <a:lstStyle/>
          <a:p>
            <a:r>
              <a:rPr lang="en-US" dirty="0"/>
              <a:t>IMPROVE VOCAB BY USING THESE YOUTUBE CHENNALS</a:t>
            </a:r>
            <a:endParaRPr lang="en-IN" dirty="0"/>
          </a:p>
        </p:txBody>
      </p:sp>
      <p:sp>
        <p:nvSpPr>
          <p:cNvPr id="3" name="Content Placeholder 2">
            <a:extLst>
              <a:ext uri="{FF2B5EF4-FFF2-40B4-BE49-F238E27FC236}">
                <a16:creationId xmlns:a16="http://schemas.microsoft.com/office/drawing/2014/main" id="{34E3B334-32D5-E15A-52D4-036343C960E2}"/>
              </a:ext>
            </a:extLst>
          </p:cNvPr>
          <p:cNvSpPr>
            <a:spLocks noGrp="1"/>
          </p:cNvSpPr>
          <p:nvPr>
            <p:ph idx="1"/>
          </p:nvPr>
        </p:nvSpPr>
        <p:spPr/>
        <p:txBody>
          <a:bodyPr/>
          <a:lstStyle/>
          <a:p>
            <a:r>
              <a:rPr lang="en-US" dirty="0"/>
              <a:t>3 HOURS ENGLISH MASTERCLASS: PRONUNCIATION ,VOCAB ,GRAMMAR</a:t>
            </a:r>
          </a:p>
          <a:p>
            <a:r>
              <a:rPr lang="en-US" dirty="0"/>
              <a:t>30 DAYS OFTO ENGLISH POWERFUL VOCAB</a:t>
            </a:r>
          </a:p>
          <a:p>
            <a:r>
              <a:rPr lang="en-US" dirty="0"/>
              <a:t>VOCAB A TO Z SERIES</a:t>
            </a:r>
          </a:p>
          <a:p>
            <a:r>
              <a:rPr lang="en-US" dirty="0"/>
              <a:t>WORD POWER </a:t>
            </a:r>
            <a:r>
              <a:rPr lang="en-US"/>
              <a:t>MADE EASY </a:t>
            </a:r>
            <a:r>
              <a:rPr lang="en-US" dirty="0"/>
              <a:t>BY LEWIS VOCAB</a:t>
            </a:r>
          </a:p>
          <a:p>
            <a:r>
              <a:rPr lang="en-US" dirty="0"/>
              <a:t>ENGLISH VOCAB 1000 + WORDS FULL CONCEPT</a:t>
            </a:r>
            <a:endParaRPr lang="en-IN" dirty="0"/>
          </a:p>
        </p:txBody>
      </p:sp>
    </p:spTree>
    <p:extLst>
      <p:ext uri="{BB962C8B-B14F-4D97-AF65-F5344CB8AC3E}">
        <p14:creationId xmlns:p14="http://schemas.microsoft.com/office/powerpoint/2010/main" val="35753353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09382-C346-59A5-DAEE-BE001667F386}"/>
              </a:ext>
            </a:extLst>
          </p:cNvPr>
          <p:cNvSpPr>
            <a:spLocks noGrp="1"/>
          </p:cNvSpPr>
          <p:nvPr>
            <p:ph type="title"/>
          </p:nvPr>
        </p:nvSpPr>
        <p:spPr/>
        <p:txBody>
          <a:bodyPr>
            <a:normAutofit fontScale="90000"/>
          </a:bodyPr>
          <a:lstStyle/>
          <a:p>
            <a:r>
              <a:rPr lang="en-US" dirty="0">
                <a:solidFill>
                  <a:srgbClr val="FF0000"/>
                </a:solidFill>
              </a:rPr>
              <a:t>REMOTE JOBS  (HOWTOSTARTANLIC.COM/BUSINESSIDEAS{FOR BUSINESS IDEAS})</a:t>
            </a:r>
            <a:endParaRPr lang="en-IN" dirty="0">
              <a:solidFill>
                <a:srgbClr val="FF0000"/>
              </a:solidFill>
            </a:endParaRPr>
          </a:p>
        </p:txBody>
      </p:sp>
      <p:sp>
        <p:nvSpPr>
          <p:cNvPr id="3" name="Content Placeholder 2">
            <a:extLst>
              <a:ext uri="{FF2B5EF4-FFF2-40B4-BE49-F238E27FC236}">
                <a16:creationId xmlns:a16="http://schemas.microsoft.com/office/drawing/2014/main" id="{741A3263-CC03-9D18-059C-E6554729EDD4}"/>
              </a:ext>
            </a:extLst>
          </p:cNvPr>
          <p:cNvSpPr>
            <a:spLocks noGrp="1"/>
          </p:cNvSpPr>
          <p:nvPr>
            <p:ph idx="1"/>
          </p:nvPr>
        </p:nvSpPr>
        <p:spPr/>
        <p:txBody>
          <a:bodyPr>
            <a:normAutofit fontScale="92500" lnSpcReduction="10000"/>
          </a:bodyPr>
          <a:lstStyle/>
          <a:p>
            <a:r>
              <a:rPr lang="en-US" dirty="0"/>
              <a:t>JIO CAREERS</a:t>
            </a:r>
          </a:p>
          <a:p>
            <a:r>
              <a:rPr lang="en-US" dirty="0"/>
              <a:t>WE WORK REMOTELY</a:t>
            </a:r>
          </a:p>
          <a:p>
            <a:r>
              <a:rPr lang="en-US" dirty="0"/>
              <a:t>REMOTE.CO</a:t>
            </a:r>
          </a:p>
          <a:p>
            <a:r>
              <a:rPr lang="en-US" dirty="0"/>
              <a:t>JUSTREMOTE.CO</a:t>
            </a:r>
          </a:p>
          <a:p>
            <a:r>
              <a:rPr lang="en-US" dirty="0"/>
              <a:t>FLEXJOBS (****)</a:t>
            </a:r>
          </a:p>
          <a:p>
            <a:r>
              <a:rPr lang="en-US" dirty="0"/>
              <a:t>WELLFOUND</a:t>
            </a:r>
          </a:p>
          <a:p>
            <a:r>
              <a:rPr lang="en-US" dirty="0"/>
              <a:t>HIMALAYAS.COM</a:t>
            </a:r>
          </a:p>
          <a:p>
            <a:endParaRPr lang="en-IN" dirty="0"/>
          </a:p>
        </p:txBody>
      </p:sp>
    </p:spTree>
    <p:extLst>
      <p:ext uri="{BB962C8B-B14F-4D97-AF65-F5344CB8AC3E}">
        <p14:creationId xmlns:p14="http://schemas.microsoft.com/office/powerpoint/2010/main" val="13348850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E6351-5480-F105-B832-D2D705F6523A}"/>
              </a:ext>
            </a:extLst>
          </p:cNvPr>
          <p:cNvSpPr>
            <a:spLocks noGrp="1"/>
          </p:cNvSpPr>
          <p:nvPr>
            <p:ph type="title"/>
          </p:nvPr>
        </p:nvSpPr>
        <p:spPr/>
        <p:txBody>
          <a:bodyPr>
            <a:normAutofit fontScale="90000"/>
          </a:bodyPr>
          <a:lstStyle/>
          <a:p>
            <a:r>
              <a:rPr lang="en-US" dirty="0">
                <a:solidFill>
                  <a:srgbClr val="FF0000"/>
                </a:solidFill>
              </a:rPr>
              <a:t>BOOKS YOU WANT TO DOWNLOAD  (WEBSITE)</a:t>
            </a:r>
            <a:endParaRPr lang="en-IN" dirty="0">
              <a:solidFill>
                <a:srgbClr val="FF0000"/>
              </a:solidFill>
            </a:endParaRPr>
          </a:p>
        </p:txBody>
      </p:sp>
      <p:sp>
        <p:nvSpPr>
          <p:cNvPr id="3" name="Content Placeholder 2">
            <a:extLst>
              <a:ext uri="{FF2B5EF4-FFF2-40B4-BE49-F238E27FC236}">
                <a16:creationId xmlns:a16="http://schemas.microsoft.com/office/drawing/2014/main" id="{329357F6-C311-5BDA-FB3D-62D1569AF7E1}"/>
              </a:ext>
            </a:extLst>
          </p:cNvPr>
          <p:cNvSpPr>
            <a:spLocks noGrp="1"/>
          </p:cNvSpPr>
          <p:nvPr>
            <p:ph idx="1"/>
          </p:nvPr>
        </p:nvSpPr>
        <p:spPr/>
        <p:txBody>
          <a:bodyPr/>
          <a:lstStyle/>
          <a:p>
            <a:r>
              <a:rPr lang="en-US" dirty="0"/>
              <a:t>LEBGEN.IS ( THIS IS THE WEBSITE NAME)</a:t>
            </a:r>
            <a:endParaRPr lang="en-IN" dirty="0"/>
          </a:p>
        </p:txBody>
      </p:sp>
    </p:spTree>
    <p:extLst>
      <p:ext uri="{BB962C8B-B14F-4D97-AF65-F5344CB8AC3E}">
        <p14:creationId xmlns:p14="http://schemas.microsoft.com/office/powerpoint/2010/main" val="26468511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1CF2C-1631-E5E7-B52F-2162BCCDF722}"/>
              </a:ext>
            </a:extLst>
          </p:cNvPr>
          <p:cNvSpPr>
            <a:spLocks noGrp="1"/>
          </p:cNvSpPr>
          <p:nvPr>
            <p:ph type="title"/>
          </p:nvPr>
        </p:nvSpPr>
        <p:spPr/>
        <p:txBody>
          <a:bodyPr/>
          <a:lstStyle/>
          <a:p>
            <a:r>
              <a:rPr lang="en-US" dirty="0">
                <a:solidFill>
                  <a:srgbClr val="FF0000"/>
                </a:solidFill>
              </a:rPr>
              <a:t>For experience you can visit this website</a:t>
            </a:r>
            <a:endParaRPr lang="en-IN" dirty="0">
              <a:solidFill>
                <a:srgbClr val="FF0000"/>
              </a:solidFill>
            </a:endParaRPr>
          </a:p>
        </p:txBody>
      </p:sp>
      <p:sp>
        <p:nvSpPr>
          <p:cNvPr id="3" name="Content Placeholder 2">
            <a:extLst>
              <a:ext uri="{FF2B5EF4-FFF2-40B4-BE49-F238E27FC236}">
                <a16:creationId xmlns:a16="http://schemas.microsoft.com/office/drawing/2014/main" id="{C1474BE6-C77F-90A5-C086-EEE48D33DFE9}"/>
              </a:ext>
            </a:extLst>
          </p:cNvPr>
          <p:cNvSpPr>
            <a:spLocks noGrp="1"/>
          </p:cNvSpPr>
          <p:nvPr>
            <p:ph idx="1"/>
          </p:nvPr>
        </p:nvSpPr>
        <p:spPr/>
        <p:txBody>
          <a:bodyPr/>
          <a:lstStyle/>
          <a:p>
            <a:r>
              <a:rPr lang="en-US" dirty="0"/>
              <a:t>Forage ( </a:t>
            </a:r>
            <a:r>
              <a:rPr lang="en-US" dirty="0" err="1"/>
              <a:t>isme</a:t>
            </a:r>
            <a:r>
              <a:rPr lang="en-US" dirty="0"/>
              <a:t> h ki tum company </a:t>
            </a:r>
            <a:r>
              <a:rPr lang="en-US" dirty="0" err="1"/>
              <a:t>ke</a:t>
            </a:r>
            <a:r>
              <a:rPr lang="en-US" dirty="0"/>
              <a:t> projects </a:t>
            </a:r>
            <a:r>
              <a:rPr lang="en-US" dirty="0" err="1"/>
              <a:t>karke</a:t>
            </a:r>
            <a:r>
              <a:rPr lang="en-US" dirty="0"/>
              <a:t> you can get experience certificate)</a:t>
            </a:r>
            <a:endParaRPr lang="en-IN" dirty="0"/>
          </a:p>
        </p:txBody>
      </p:sp>
    </p:spTree>
    <p:extLst>
      <p:ext uri="{BB962C8B-B14F-4D97-AF65-F5344CB8AC3E}">
        <p14:creationId xmlns:p14="http://schemas.microsoft.com/office/powerpoint/2010/main" val="38127716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F3F80-FE2A-25DF-95E4-B4B4C19CDD62}"/>
              </a:ext>
            </a:extLst>
          </p:cNvPr>
          <p:cNvSpPr>
            <a:spLocks noGrp="1"/>
          </p:cNvSpPr>
          <p:nvPr>
            <p:ph type="title"/>
          </p:nvPr>
        </p:nvSpPr>
        <p:spPr/>
        <p:txBody>
          <a:bodyPr/>
          <a:lstStyle/>
          <a:p>
            <a:r>
              <a:rPr lang="en-US" dirty="0">
                <a:solidFill>
                  <a:srgbClr val="FF0000"/>
                </a:solidFill>
              </a:rPr>
              <a:t>APPS TO EARN MONEY</a:t>
            </a:r>
            <a:endParaRPr lang="en-IN" dirty="0">
              <a:solidFill>
                <a:srgbClr val="FF0000"/>
              </a:solidFill>
            </a:endParaRPr>
          </a:p>
        </p:txBody>
      </p:sp>
      <p:sp>
        <p:nvSpPr>
          <p:cNvPr id="3" name="Content Placeholder 2">
            <a:extLst>
              <a:ext uri="{FF2B5EF4-FFF2-40B4-BE49-F238E27FC236}">
                <a16:creationId xmlns:a16="http://schemas.microsoft.com/office/drawing/2014/main" id="{810A895C-34AE-2B55-3F8A-9B02837982E2}"/>
              </a:ext>
            </a:extLst>
          </p:cNvPr>
          <p:cNvSpPr>
            <a:spLocks noGrp="1"/>
          </p:cNvSpPr>
          <p:nvPr>
            <p:ph idx="1"/>
          </p:nvPr>
        </p:nvSpPr>
        <p:spPr/>
        <p:txBody>
          <a:bodyPr/>
          <a:lstStyle/>
          <a:p>
            <a:r>
              <a:rPr lang="en-US" dirty="0"/>
              <a:t>SWAGSBUGS PLAYGAMES</a:t>
            </a:r>
            <a:r>
              <a:rPr lang="en-IN" dirty="0"/>
              <a:t> + SURVEYS</a:t>
            </a:r>
          </a:p>
          <a:p>
            <a:r>
              <a:rPr lang="en-IN" dirty="0"/>
              <a:t>POLL PLAY: Earn MONEY REWARDS</a:t>
            </a:r>
          </a:p>
          <a:p>
            <a:endParaRPr lang="en-US" dirty="0"/>
          </a:p>
        </p:txBody>
      </p:sp>
    </p:spTree>
    <p:extLst>
      <p:ext uri="{BB962C8B-B14F-4D97-AF65-F5344CB8AC3E}">
        <p14:creationId xmlns:p14="http://schemas.microsoft.com/office/powerpoint/2010/main" val="9559897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F8646-70E8-8A0A-4095-B307EF69B359}"/>
              </a:ext>
            </a:extLst>
          </p:cNvPr>
          <p:cNvSpPr>
            <a:spLocks noGrp="1"/>
          </p:cNvSpPr>
          <p:nvPr>
            <p:ph type="title"/>
          </p:nvPr>
        </p:nvSpPr>
        <p:spPr/>
        <p:txBody>
          <a:bodyPr>
            <a:normAutofit fontScale="90000"/>
          </a:bodyPr>
          <a:lstStyle/>
          <a:p>
            <a:r>
              <a:rPr lang="en-US" dirty="0">
                <a:solidFill>
                  <a:srgbClr val="FF0000"/>
                </a:solidFill>
              </a:rPr>
              <a:t>This is the site where you can make notes through real time conversation </a:t>
            </a:r>
            <a:endParaRPr lang="en-IN" dirty="0">
              <a:solidFill>
                <a:srgbClr val="FF0000"/>
              </a:solidFill>
            </a:endParaRPr>
          </a:p>
        </p:txBody>
      </p:sp>
      <p:sp>
        <p:nvSpPr>
          <p:cNvPr id="3" name="Content Placeholder 2">
            <a:extLst>
              <a:ext uri="{FF2B5EF4-FFF2-40B4-BE49-F238E27FC236}">
                <a16:creationId xmlns:a16="http://schemas.microsoft.com/office/drawing/2014/main" id="{E12C1E94-437D-1E58-7886-4E81EACCCEF9}"/>
              </a:ext>
            </a:extLst>
          </p:cNvPr>
          <p:cNvSpPr>
            <a:spLocks noGrp="1"/>
          </p:cNvSpPr>
          <p:nvPr>
            <p:ph idx="1"/>
          </p:nvPr>
        </p:nvSpPr>
        <p:spPr/>
        <p:txBody>
          <a:bodyPr/>
          <a:lstStyle/>
          <a:p>
            <a:r>
              <a:rPr lang="en-US" dirty="0"/>
              <a:t>THE WEBSITE NAME IS (</a:t>
            </a:r>
            <a:r>
              <a:rPr lang="en-US" dirty="0">
                <a:solidFill>
                  <a:srgbClr val="FF0000"/>
                </a:solidFill>
              </a:rPr>
              <a:t>TAKE NOTES FOR ME)…</a:t>
            </a:r>
            <a:endParaRPr lang="en-IN" dirty="0"/>
          </a:p>
        </p:txBody>
      </p:sp>
    </p:spTree>
    <p:extLst>
      <p:ext uri="{BB962C8B-B14F-4D97-AF65-F5344CB8AC3E}">
        <p14:creationId xmlns:p14="http://schemas.microsoft.com/office/powerpoint/2010/main" val="41719474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4E8F6-FBB1-12BC-8E56-A7AC583CA27C}"/>
              </a:ext>
            </a:extLst>
          </p:cNvPr>
          <p:cNvSpPr>
            <a:spLocks noGrp="1"/>
          </p:cNvSpPr>
          <p:nvPr>
            <p:ph type="title"/>
          </p:nvPr>
        </p:nvSpPr>
        <p:spPr/>
        <p:txBody>
          <a:bodyPr/>
          <a:lstStyle/>
          <a:p>
            <a:r>
              <a:rPr lang="en-US" dirty="0">
                <a:solidFill>
                  <a:srgbClr val="FF0000"/>
                </a:solidFill>
              </a:rPr>
              <a:t>TOP WAYS TO CHANGE MYSELF</a:t>
            </a:r>
            <a:endParaRPr lang="en-IN" dirty="0">
              <a:solidFill>
                <a:srgbClr val="FF0000"/>
              </a:solidFill>
            </a:endParaRPr>
          </a:p>
        </p:txBody>
      </p:sp>
      <p:sp>
        <p:nvSpPr>
          <p:cNvPr id="3" name="Content Placeholder 2">
            <a:extLst>
              <a:ext uri="{FF2B5EF4-FFF2-40B4-BE49-F238E27FC236}">
                <a16:creationId xmlns:a16="http://schemas.microsoft.com/office/drawing/2014/main" id="{4397E65A-BD59-0987-7B5E-854162D75414}"/>
              </a:ext>
            </a:extLst>
          </p:cNvPr>
          <p:cNvSpPr>
            <a:spLocks noGrp="1"/>
          </p:cNvSpPr>
          <p:nvPr>
            <p:ph idx="1"/>
          </p:nvPr>
        </p:nvSpPr>
        <p:spPr>
          <a:xfrm>
            <a:off x="1166071" y="2651257"/>
            <a:ext cx="11199746" cy="3634486"/>
          </a:xfrm>
        </p:spPr>
        <p:txBody>
          <a:bodyPr>
            <a:normAutofit fontScale="62500" lnSpcReduction="20000"/>
          </a:bodyPr>
          <a:lstStyle/>
          <a:p>
            <a:r>
              <a:rPr lang="en-US" dirty="0"/>
              <a:t>WRITE FOR AT LEAST 10 MINUTES ON ANY TOPIC</a:t>
            </a:r>
          </a:p>
          <a:p>
            <a:pPr marL="0" indent="0">
              <a:buNone/>
            </a:pPr>
            <a:r>
              <a:rPr lang="en-US" dirty="0"/>
              <a:t>                 What matters most in life?</a:t>
            </a:r>
          </a:p>
          <a:p>
            <a:pPr marL="0" indent="0">
              <a:buNone/>
            </a:pPr>
            <a:r>
              <a:rPr lang="en-US" dirty="0"/>
              <a:t>                  What do I really want?</a:t>
            </a:r>
          </a:p>
          <a:p>
            <a:pPr marL="0" indent="0">
              <a:buNone/>
            </a:pPr>
            <a:r>
              <a:rPr lang="en-US" dirty="0"/>
              <a:t>                  How do I define success?</a:t>
            </a:r>
          </a:p>
          <a:p>
            <a:pPr marL="0" indent="0">
              <a:buNone/>
            </a:pPr>
            <a:r>
              <a:rPr lang="en-IN" dirty="0"/>
              <a:t>                  what motivates me?</a:t>
            </a:r>
          </a:p>
          <a:p>
            <a:pPr marL="0" indent="0">
              <a:buNone/>
            </a:pPr>
            <a:r>
              <a:rPr lang="en-IN" dirty="0"/>
              <a:t>                  What inspires me    ?</a:t>
            </a:r>
          </a:p>
          <a:p>
            <a:pPr marL="0" indent="0">
              <a:buNone/>
            </a:pPr>
            <a:r>
              <a:rPr lang="en-IN" dirty="0"/>
              <a:t>                  Do the right people surrounds me?</a:t>
            </a:r>
          </a:p>
          <a:p>
            <a:pPr marL="0" indent="0">
              <a:buNone/>
            </a:pPr>
            <a:r>
              <a:rPr lang="en-IN" dirty="0"/>
              <a:t>                  Setting personal growth goals.</a:t>
            </a:r>
          </a:p>
          <a:p>
            <a:pPr marL="0" indent="0">
              <a:buNone/>
            </a:pPr>
            <a:r>
              <a:rPr lang="en-IN" dirty="0"/>
              <a:t>                 personal development?</a:t>
            </a:r>
          </a:p>
          <a:p>
            <a:pPr>
              <a:buFont typeface="Wingdings" panose="05000000000000000000" pitchFamily="2" charset="2"/>
              <a:buChar char="§"/>
            </a:pPr>
            <a:r>
              <a:rPr lang="en-IN" dirty="0"/>
              <a:t>Read biographies     </a:t>
            </a:r>
          </a:p>
          <a:p>
            <a:pPr>
              <a:buFont typeface="Wingdings" panose="05000000000000000000" pitchFamily="2" charset="2"/>
              <a:buChar char="§"/>
            </a:pPr>
            <a:r>
              <a:rPr lang="en-IN" dirty="0"/>
              <a:t>Wake up at 4:30  </a:t>
            </a:r>
            <a:r>
              <a:rPr lang="en-IN" dirty="0" err="1"/>
              <a:t>atleast</a:t>
            </a:r>
            <a:r>
              <a:rPr lang="en-IN" dirty="0"/>
              <a:t>.    </a:t>
            </a:r>
          </a:p>
        </p:txBody>
      </p:sp>
    </p:spTree>
    <p:extLst>
      <p:ext uri="{BB962C8B-B14F-4D97-AF65-F5344CB8AC3E}">
        <p14:creationId xmlns:p14="http://schemas.microsoft.com/office/powerpoint/2010/main" val="20759796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44E7F-AEF6-A85B-5C28-8987FECE7B68}"/>
              </a:ext>
            </a:extLst>
          </p:cNvPr>
          <p:cNvSpPr>
            <a:spLocks noGrp="1"/>
          </p:cNvSpPr>
          <p:nvPr>
            <p:ph type="title"/>
          </p:nvPr>
        </p:nvSpPr>
        <p:spPr/>
        <p:txBody>
          <a:bodyPr/>
          <a:lstStyle/>
          <a:p>
            <a:r>
              <a:rPr lang="en-US" dirty="0">
                <a:solidFill>
                  <a:srgbClr val="FF0000"/>
                </a:solidFill>
              </a:rPr>
              <a:t>Master communication skills</a:t>
            </a:r>
            <a:endParaRPr lang="en-IN" dirty="0">
              <a:solidFill>
                <a:srgbClr val="FF0000"/>
              </a:solidFill>
            </a:endParaRPr>
          </a:p>
        </p:txBody>
      </p:sp>
      <p:sp>
        <p:nvSpPr>
          <p:cNvPr id="3" name="Content Placeholder 2">
            <a:extLst>
              <a:ext uri="{FF2B5EF4-FFF2-40B4-BE49-F238E27FC236}">
                <a16:creationId xmlns:a16="http://schemas.microsoft.com/office/drawing/2014/main" id="{67F95889-7241-67AB-F117-8E589B872520}"/>
              </a:ext>
            </a:extLst>
          </p:cNvPr>
          <p:cNvSpPr>
            <a:spLocks noGrp="1"/>
          </p:cNvSpPr>
          <p:nvPr>
            <p:ph idx="1"/>
          </p:nvPr>
        </p:nvSpPr>
        <p:spPr/>
        <p:txBody>
          <a:bodyPr>
            <a:scene3d>
              <a:camera prst="orthographicFront"/>
              <a:lightRig rig="soft" dir="t">
                <a:rot lat="0" lon="0" rev="15600000"/>
              </a:lightRig>
            </a:scene3d>
            <a:sp3d extrusionH="57150" prstMaterial="softEdge">
              <a:bevelT w="25400" h="38100"/>
            </a:sp3d>
          </a:bodyPr>
          <a:lstStyle/>
          <a:p>
            <a:r>
              <a:rPr lang="en-US" b="1" dirty="0">
                <a:ln>
                  <a:solidFill>
                    <a:schemeClr val="accent5">
                      <a:lumMod val="50000"/>
                    </a:schemeClr>
                  </a:solidFill>
                </a:ln>
                <a:solidFill>
                  <a:schemeClr val="accent4"/>
                </a:solidFill>
                <a:effectLst>
                  <a:glow rad="63500">
                    <a:schemeClr val="accent1">
                      <a:satMod val="175000"/>
                      <a:alpha val="40000"/>
                    </a:schemeClr>
                  </a:glow>
                </a:effectLst>
              </a:rPr>
              <a:t>How to speak so that people want to listen {(Julian Treasure) </a:t>
            </a:r>
            <a:r>
              <a:rPr lang="en-US" b="1" dirty="0" err="1">
                <a:ln>
                  <a:solidFill>
                    <a:schemeClr val="accent5">
                      <a:lumMod val="50000"/>
                    </a:schemeClr>
                  </a:solidFill>
                </a:ln>
                <a:solidFill>
                  <a:schemeClr val="accent4"/>
                </a:solidFill>
                <a:effectLst>
                  <a:glow rad="63500">
                    <a:schemeClr val="accent1">
                      <a:satMod val="175000"/>
                      <a:alpha val="40000"/>
                    </a:schemeClr>
                  </a:glow>
                </a:effectLst>
              </a:rPr>
              <a:t>youtube</a:t>
            </a:r>
            <a:r>
              <a:rPr lang="en-US" b="1" dirty="0">
                <a:ln>
                  <a:solidFill>
                    <a:schemeClr val="accent5">
                      <a:lumMod val="50000"/>
                    </a:schemeClr>
                  </a:solidFill>
                </a:ln>
                <a:solidFill>
                  <a:schemeClr val="accent4"/>
                </a:solidFill>
                <a:effectLst>
                  <a:glow rad="63500">
                    <a:schemeClr val="accent1">
                      <a:satMod val="175000"/>
                      <a:alpha val="40000"/>
                    </a:schemeClr>
                  </a:glow>
                </a:effectLst>
              </a:rPr>
              <a:t>}</a:t>
            </a:r>
          </a:p>
          <a:p>
            <a:r>
              <a:rPr lang="en-US" b="1" dirty="0">
                <a:ln>
                  <a:solidFill>
                    <a:schemeClr val="accent5">
                      <a:lumMod val="50000"/>
                    </a:schemeClr>
                  </a:solidFill>
                </a:ln>
                <a:solidFill>
                  <a:schemeClr val="accent4"/>
                </a:solidFill>
                <a:effectLst>
                  <a:glow rad="63500">
                    <a:schemeClr val="accent1">
                      <a:satMod val="175000"/>
                      <a:alpha val="40000"/>
                    </a:schemeClr>
                  </a:glow>
                </a:effectLst>
              </a:rPr>
              <a:t>6 Tips to speak attractively ( </a:t>
            </a:r>
            <a:r>
              <a:rPr lang="en-US" b="1" dirty="0" err="1">
                <a:ln>
                  <a:solidFill>
                    <a:schemeClr val="accent5">
                      <a:lumMod val="50000"/>
                    </a:schemeClr>
                  </a:solidFill>
                </a:ln>
                <a:solidFill>
                  <a:schemeClr val="accent4"/>
                </a:solidFill>
                <a:effectLst>
                  <a:glow rad="63500">
                    <a:schemeClr val="accent1">
                      <a:satMod val="175000"/>
                      <a:alpha val="40000"/>
                    </a:schemeClr>
                  </a:glow>
                </a:effectLst>
              </a:rPr>
              <a:t>youtube</a:t>
            </a:r>
            <a:r>
              <a:rPr lang="en-US" b="1" dirty="0">
                <a:ln>
                  <a:solidFill>
                    <a:schemeClr val="accent5">
                      <a:lumMod val="50000"/>
                    </a:schemeClr>
                  </a:solidFill>
                </a:ln>
                <a:solidFill>
                  <a:schemeClr val="accent4"/>
                </a:solidFill>
                <a:effectLst>
                  <a:glow rad="63500">
                    <a:schemeClr val="accent1">
                      <a:satMod val="175000"/>
                      <a:alpha val="40000"/>
                    </a:schemeClr>
                  </a:glow>
                </a:effectLst>
              </a:rPr>
              <a:t> psychology in </a:t>
            </a:r>
            <a:r>
              <a:rPr lang="en-US" b="1" dirty="0" err="1">
                <a:ln>
                  <a:solidFill>
                    <a:schemeClr val="accent5">
                      <a:lumMod val="50000"/>
                    </a:schemeClr>
                  </a:solidFill>
                </a:ln>
                <a:solidFill>
                  <a:schemeClr val="accent4"/>
                </a:solidFill>
                <a:effectLst>
                  <a:glow rad="63500">
                    <a:schemeClr val="accent1">
                      <a:satMod val="175000"/>
                      <a:alpha val="40000"/>
                    </a:schemeClr>
                  </a:glow>
                </a:effectLst>
              </a:rPr>
              <a:t>hindi</a:t>
            </a:r>
            <a:r>
              <a:rPr lang="en-US" b="1" dirty="0">
                <a:ln>
                  <a:solidFill>
                    <a:schemeClr val="accent5">
                      <a:lumMod val="50000"/>
                    </a:schemeClr>
                  </a:solidFill>
                </a:ln>
                <a:solidFill>
                  <a:schemeClr val="accent4"/>
                </a:solidFill>
                <a:effectLst>
                  <a:glow rad="63500">
                    <a:schemeClr val="accent1">
                      <a:satMod val="175000"/>
                      <a:alpha val="40000"/>
                    </a:schemeClr>
                  </a:glow>
                </a:effectLst>
              </a:rPr>
              <a:t>  channel)</a:t>
            </a:r>
          </a:p>
          <a:p>
            <a:r>
              <a:rPr lang="en-US" b="1" dirty="0">
                <a:ln>
                  <a:solidFill>
                    <a:schemeClr val="accent5">
                      <a:lumMod val="50000"/>
                    </a:schemeClr>
                  </a:solidFill>
                </a:ln>
                <a:solidFill>
                  <a:schemeClr val="accent4"/>
                </a:solidFill>
                <a:effectLst>
                  <a:glow rad="63500">
                    <a:schemeClr val="accent1">
                      <a:satMod val="175000"/>
                      <a:alpha val="40000"/>
                    </a:schemeClr>
                  </a:glow>
                </a:effectLst>
              </a:rPr>
              <a:t>Last “100 years of communication skills ( </a:t>
            </a:r>
            <a:r>
              <a:rPr lang="en-US" b="1" dirty="0" err="1">
                <a:ln>
                  <a:solidFill>
                    <a:schemeClr val="accent5">
                      <a:lumMod val="50000"/>
                    </a:schemeClr>
                  </a:solidFill>
                </a:ln>
                <a:solidFill>
                  <a:schemeClr val="accent4"/>
                </a:solidFill>
                <a:effectLst>
                  <a:glow rad="63500">
                    <a:schemeClr val="accent1">
                      <a:satMod val="175000"/>
                      <a:alpha val="40000"/>
                    </a:schemeClr>
                  </a:glow>
                </a:effectLst>
              </a:rPr>
              <a:t>youtube</a:t>
            </a:r>
            <a:r>
              <a:rPr lang="en-US" b="1" dirty="0">
                <a:ln>
                  <a:solidFill>
                    <a:schemeClr val="accent5">
                      <a:lumMod val="50000"/>
                    </a:schemeClr>
                  </a:solidFill>
                </a:ln>
                <a:solidFill>
                  <a:schemeClr val="accent4"/>
                </a:solidFill>
                <a:effectLst>
                  <a:glow rad="63500">
                    <a:schemeClr val="accent1">
                      <a:satMod val="175000"/>
                      <a:alpha val="40000"/>
                    </a:schemeClr>
                  </a:glow>
                </a:effectLst>
              </a:rPr>
              <a:t> by Aditya raj </a:t>
            </a:r>
            <a:r>
              <a:rPr lang="en-US" b="1" dirty="0" err="1">
                <a:ln>
                  <a:solidFill>
                    <a:schemeClr val="accent5">
                      <a:lumMod val="50000"/>
                    </a:schemeClr>
                  </a:solidFill>
                </a:ln>
                <a:solidFill>
                  <a:schemeClr val="accent4"/>
                </a:solidFill>
                <a:effectLst>
                  <a:glow rad="63500">
                    <a:schemeClr val="accent1">
                      <a:satMod val="175000"/>
                      <a:alpha val="40000"/>
                    </a:schemeClr>
                  </a:glow>
                </a:effectLst>
              </a:rPr>
              <a:t>kshyap</a:t>
            </a:r>
            <a:r>
              <a:rPr lang="en-US" b="1" dirty="0">
                <a:ln>
                  <a:solidFill>
                    <a:schemeClr val="accent5">
                      <a:lumMod val="50000"/>
                    </a:schemeClr>
                  </a:solidFill>
                </a:ln>
                <a:solidFill>
                  <a:schemeClr val="accent4"/>
                </a:solidFill>
                <a:effectLst>
                  <a:glow rad="63500">
                    <a:schemeClr val="accent1">
                      <a:satMod val="175000"/>
                      <a:alpha val="40000"/>
                    </a:schemeClr>
                  </a:glow>
                </a:effectLst>
              </a:rPr>
              <a:t>)</a:t>
            </a:r>
          </a:p>
          <a:p>
            <a:endParaRPr lang="en-IN" b="1" dirty="0">
              <a:ln/>
              <a:solidFill>
                <a:schemeClr val="accent4"/>
              </a:solidFill>
            </a:endParaRPr>
          </a:p>
        </p:txBody>
      </p:sp>
    </p:spTree>
    <p:extLst>
      <p:ext uri="{BB962C8B-B14F-4D97-AF65-F5344CB8AC3E}">
        <p14:creationId xmlns:p14="http://schemas.microsoft.com/office/powerpoint/2010/main" val="8982594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C13E0-9C22-C88C-26F8-0A092B2BDF5D}"/>
              </a:ext>
            </a:extLst>
          </p:cNvPr>
          <p:cNvSpPr>
            <a:spLocks noGrp="1"/>
          </p:cNvSpPr>
          <p:nvPr>
            <p:ph type="title"/>
          </p:nvPr>
        </p:nvSpPr>
        <p:spPr>
          <a:xfrm>
            <a:off x="765750" y="612396"/>
            <a:ext cx="11029616" cy="472303"/>
          </a:xfrm>
        </p:spPr>
        <p:txBody>
          <a:bodyPr>
            <a:normAutofit fontScale="90000"/>
          </a:bodyPr>
          <a:lstStyle/>
          <a:p>
            <a:r>
              <a:rPr lang="en-US" dirty="0">
                <a:solidFill>
                  <a:srgbClr val="FF0000"/>
                </a:solidFill>
              </a:rPr>
              <a:t>BOOKS I HAVE TO READ.</a:t>
            </a:r>
            <a:endParaRPr lang="en-IN" dirty="0">
              <a:solidFill>
                <a:srgbClr val="FF0000"/>
              </a:solidFill>
            </a:endParaRPr>
          </a:p>
        </p:txBody>
      </p:sp>
      <p:sp>
        <p:nvSpPr>
          <p:cNvPr id="3" name="Content Placeholder 2">
            <a:extLst>
              <a:ext uri="{FF2B5EF4-FFF2-40B4-BE49-F238E27FC236}">
                <a16:creationId xmlns:a16="http://schemas.microsoft.com/office/drawing/2014/main" id="{25ABD9A1-242C-EA2D-D6BB-0396B892FACC}"/>
              </a:ext>
            </a:extLst>
          </p:cNvPr>
          <p:cNvSpPr>
            <a:spLocks noGrp="1"/>
          </p:cNvSpPr>
          <p:nvPr>
            <p:ph idx="1"/>
          </p:nvPr>
        </p:nvSpPr>
        <p:spPr>
          <a:xfrm>
            <a:off x="581192" y="1317072"/>
            <a:ext cx="11029615" cy="5077728"/>
          </a:xfrm>
        </p:spPr>
        <p:txBody>
          <a:bodyPr>
            <a:normAutofit fontScale="55000" lnSpcReduction="20000"/>
          </a:bodyPr>
          <a:lstStyle/>
          <a:p>
            <a:r>
              <a:rPr lang="en-US" dirty="0"/>
              <a:t>1. 12 RULES FOR LIFE BY JORDAN PETERSON </a:t>
            </a:r>
          </a:p>
          <a:p>
            <a:r>
              <a:rPr lang="en-US" dirty="0"/>
              <a:t>2. STEALING FIRE BY STEVAN KOTLER</a:t>
            </a:r>
          </a:p>
          <a:p>
            <a:r>
              <a:rPr lang="en-US" dirty="0"/>
              <a:t>3. OHSO ASHTAVAKRA MAHAGITA VOL 1 AND 2</a:t>
            </a:r>
          </a:p>
          <a:p>
            <a:r>
              <a:rPr lang="en-US" dirty="0"/>
              <a:t>PSYCHOLOGY OF MONEY</a:t>
            </a:r>
          </a:p>
          <a:p>
            <a:r>
              <a:rPr lang="en-US" dirty="0"/>
              <a:t>ATOMIC HABITS</a:t>
            </a:r>
          </a:p>
          <a:p>
            <a:r>
              <a:rPr lang="en-US" dirty="0"/>
              <a:t>REWORK</a:t>
            </a:r>
          </a:p>
          <a:p>
            <a:r>
              <a:rPr lang="en-US" dirty="0"/>
              <a:t>THE SUBTLE ART OF NOT GIVING A FUCK( BY MARK MASON)</a:t>
            </a:r>
          </a:p>
          <a:p>
            <a:r>
              <a:rPr lang="en-US" dirty="0"/>
              <a:t>TOOLS OF TITANS(TIM FERRISS)</a:t>
            </a:r>
          </a:p>
          <a:p>
            <a:r>
              <a:rPr lang="en-US" dirty="0"/>
              <a:t>AUTOBIOGRAPHY OF YOGI</a:t>
            </a:r>
          </a:p>
          <a:p>
            <a:r>
              <a:rPr lang="en-US" dirty="0"/>
              <a:t>THE ART OF SIPLE LEARNING</a:t>
            </a:r>
          </a:p>
          <a:p>
            <a:r>
              <a:rPr lang="en-US" dirty="0"/>
              <a:t>HOW TO LISTEN WITH INTENSION</a:t>
            </a:r>
          </a:p>
          <a:p>
            <a:r>
              <a:rPr lang="en-US" dirty="0"/>
              <a:t>HOW TO TALK TO ANYONE</a:t>
            </a:r>
          </a:p>
          <a:p>
            <a:r>
              <a:rPr lang="en-US" dirty="0"/>
              <a:t>HOW THE BEST LEADER LEADS  BRAIN TRACY *****</a:t>
            </a:r>
          </a:p>
          <a:p>
            <a:r>
              <a:rPr lang="en-US" dirty="0"/>
              <a:t>HOW TO WIN FRIENDS AND INFLUENCE PEOPLE</a:t>
            </a:r>
          </a:p>
          <a:p>
            <a:r>
              <a:rPr lang="en-US" dirty="0">
                <a:solidFill>
                  <a:srgbClr val="002060"/>
                </a:solidFill>
              </a:rPr>
              <a:t>Feel the fear and do it anyway </a:t>
            </a:r>
          </a:p>
          <a:p>
            <a:r>
              <a:rPr lang="en-US" dirty="0">
                <a:solidFill>
                  <a:srgbClr val="002060"/>
                </a:solidFill>
              </a:rPr>
              <a:t>Attitude is everything</a:t>
            </a:r>
          </a:p>
          <a:p>
            <a:r>
              <a:rPr lang="en-US" dirty="0">
                <a:solidFill>
                  <a:srgbClr val="002060"/>
                </a:solidFill>
              </a:rPr>
              <a:t>Thinking fast and slow</a:t>
            </a:r>
          </a:p>
          <a:p>
            <a:endParaRPr lang="en-US" dirty="0"/>
          </a:p>
          <a:p>
            <a:endParaRPr lang="en-US" dirty="0"/>
          </a:p>
          <a:p>
            <a:endParaRPr lang="en-US" dirty="0"/>
          </a:p>
          <a:p>
            <a:endParaRPr lang="en-IN" dirty="0"/>
          </a:p>
        </p:txBody>
      </p:sp>
    </p:spTree>
    <p:extLst>
      <p:ext uri="{BB962C8B-B14F-4D97-AF65-F5344CB8AC3E}">
        <p14:creationId xmlns:p14="http://schemas.microsoft.com/office/powerpoint/2010/main" val="38455174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86065-5A3A-68C5-1BD7-956EDA2E8698}"/>
              </a:ext>
            </a:extLst>
          </p:cNvPr>
          <p:cNvSpPr>
            <a:spLocks noGrp="1"/>
          </p:cNvSpPr>
          <p:nvPr>
            <p:ph type="title"/>
          </p:nvPr>
        </p:nvSpPr>
        <p:spPr/>
        <p:txBody>
          <a:bodyPr>
            <a:normAutofit fontScale="90000"/>
          </a:bodyPr>
          <a:lstStyle/>
          <a:p>
            <a:r>
              <a:rPr lang="en-US" dirty="0">
                <a:solidFill>
                  <a:srgbClr val="FF0000"/>
                </a:solidFill>
              </a:rPr>
              <a:t>HOW TO SPEAK SO THAT PEOPLES WANTS TO LISTEN</a:t>
            </a:r>
            <a:endParaRPr lang="en-IN" dirty="0">
              <a:solidFill>
                <a:srgbClr val="FF0000"/>
              </a:solidFill>
            </a:endParaRPr>
          </a:p>
        </p:txBody>
      </p:sp>
      <p:sp>
        <p:nvSpPr>
          <p:cNvPr id="3" name="Content Placeholder 2">
            <a:extLst>
              <a:ext uri="{FF2B5EF4-FFF2-40B4-BE49-F238E27FC236}">
                <a16:creationId xmlns:a16="http://schemas.microsoft.com/office/drawing/2014/main" id="{DE536379-2F80-4870-0AA1-C231F9EB590C}"/>
              </a:ext>
            </a:extLst>
          </p:cNvPr>
          <p:cNvSpPr>
            <a:spLocks noGrp="1"/>
          </p:cNvSpPr>
          <p:nvPr>
            <p:ph idx="1"/>
          </p:nvPr>
        </p:nvSpPr>
        <p:spPr/>
        <p:txBody>
          <a:bodyPr/>
          <a:lstStyle/>
          <a:p>
            <a:r>
              <a:rPr lang="en-US" dirty="0"/>
              <a:t>H  </a:t>
            </a:r>
            <a:r>
              <a:rPr lang="en-US" i="1" dirty="0">
                <a:solidFill>
                  <a:schemeClr val="accent3">
                    <a:lumMod val="50000"/>
                  </a:schemeClr>
                </a:solidFill>
              </a:rPr>
              <a:t>HONESTY</a:t>
            </a:r>
            <a:r>
              <a:rPr lang="en-US" dirty="0"/>
              <a:t> BE CLEAR AND STRAIGHT</a:t>
            </a:r>
          </a:p>
          <a:p>
            <a:r>
              <a:rPr lang="en-US" dirty="0"/>
              <a:t>A   </a:t>
            </a:r>
            <a:r>
              <a:rPr lang="en-US" i="1" dirty="0">
                <a:solidFill>
                  <a:schemeClr val="accent3">
                    <a:lumMod val="50000"/>
                  </a:schemeClr>
                </a:solidFill>
              </a:rPr>
              <a:t>AUTHENTICITY</a:t>
            </a:r>
            <a:r>
              <a:rPr lang="en-US" dirty="0"/>
              <a:t> BE YOURSELF</a:t>
            </a:r>
          </a:p>
          <a:p>
            <a:r>
              <a:rPr lang="en-US" dirty="0"/>
              <a:t>I   </a:t>
            </a:r>
            <a:r>
              <a:rPr lang="en-US" dirty="0">
                <a:solidFill>
                  <a:schemeClr val="accent3">
                    <a:lumMod val="50000"/>
                  </a:schemeClr>
                </a:solidFill>
              </a:rPr>
              <a:t> </a:t>
            </a:r>
            <a:r>
              <a:rPr lang="en-US" i="1" dirty="0">
                <a:solidFill>
                  <a:schemeClr val="accent3">
                    <a:lumMod val="50000"/>
                  </a:schemeClr>
                </a:solidFill>
              </a:rPr>
              <a:t>INTEGRITY</a:t>
            </a:r>
            <a:r>
              <a:rPr lang="en-US" dirty="0">
                <a:solidFill>
                  <a:schemeClr val="accent3">
                    <a:lumMod val="50000"/>
                  </a:schemeClr>
                </a:solidFill>
              </a:rPr>
              <a:t> </a:t>
            </a:r>
            <a:r>
              <a:rPr lang="en-US" dirty="0"/>
              <a:t>BE YOUR WORD</a:t>
            </a:r>
          </a:p>
          <a:p>
            <a:r>
              <a:rPr lang="en-US" dirty="0"/>
              <a:t>L    </a:t>
            </a:r>
            <a:r>
              <a:rPr lang="en-US" i="1" dirty="0">
                <a:solidFill>
                  <a:schemeClr val="accent3">
                    <a:lumMod val="50000"/>
                  </a:schemeClr>
                </a:solidFill>
              </a:rPr>
              <a:t>LOVE</a:t>
            </a:r>
            <a:r>
              <a:rPr lang="en-US" dirty="0"/>
              <a:t> WISH THEN ALL</a:t>
            </a:r>
            <a:endParaRPr lang="en-IN" dirty="0"/>
          </a:p>
        </p:txBody>
      </p:sp>
    </p:spTree>
    <p:extLst>
      <p:ext uri="{BB962C8B-B14F-4D97-AF65-F5344CB8AC3E}">
        <p14:creationId xmlns:p14="http://schemas.microsoft.com/office/powerpoint/2010/main" val="37715115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BA4E9-BF3B-8E48-6897-E2A5A42EF6C7}"/>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A86189DC-3897-5647-CDBB-CEEBAF82CD7E}"/>
              </a:ext>
            </a:extLst>
          </p:cNvPr>
          <p:cNvPicPr>
            <a:picLocks noGrp="1" noChangeAspect="1"/>
          </p:cNvPicPr>
          <p:nvPr>
            <p:ph idx="1"/>
          </p:nvPr>
        </p:nvPicPr>
        <p:blipFill>
          <a:blip r:embed="rId2"/>
          <a:stretch>
            <a:fillRect/>
          </a:stretch>
        </p:blipFill>
        <p:spPr>
          <a:xfrm>
            <a:off x="0" y="73982"/>
            <a:ext cx="6311317" cy="6858000"/>
          </a:xfrm>
        </p:spPr>
      </p:pic>
      <p:pic>
        <p:nvPicPr>
          <p:cNvPr id="13" name="Picture 12">
            <a:extLst>
              <a:ext uri="{FF2B5EF4-FFF2-40B4-BE49-F238E27FC236}">
                <a16:creationId xmlns:a16="http://schemas.microsoft.com/office/drawing/2014/main" id="{F6A8B746-339F-2A27-2567-5A58A0300A71}"/>
              </a:ext>
            </a:extLst>
          </p:cNvPr>
          <p:cNvPicPr>
            <a:picLocks noChangeAspect="1"/>
          </p:cNvPicPr>
          <p:nvPr/>
        </p:nvPicPr>
        <p:blipFill>
          <a:blip r:embed="rId3"/>
          <a:stretch>
            <a:fillRect/>
          </a:stretch>
        </p:blipFill>
        <p:spPr>
          <a:xfrm>
            <a:off x="6311317" y="8389"/>
            <a:ext cx="5880683" cy="6858000"/>
          </a:xfrm>
          <a:prstGeom prst="rect">
            <a:avLst/>
          </a:prstGeom>
        </p:spPr>
      </p:pic>
    </p:spTree>
    <p:extLst>
      <p:ext uri="{BB962C8B-B14F-4D97-AF65-F5344CB8AC3E}">
        <p14:creationId xmlns:p14="http://schemas.microsoft.com/office/powerpoint/2010/main" val="40062316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2905E-D18A-8D78-A334-63CE9037E4BF}"/>
              </a:ext>
            </a:extLst>
          </p:cNvPr>
          <p:cNvSpPr>
            <a:spLocks noGrp="1"/>
          </p:cNvSpPr>
          <p:nvPr>
            <p:ph type="title"/>
          </p:nvPr>
        </p:nvSpPr>
        <p:spPr/>
        <p:txBody>
          <a:bodyPr/>
          <a:lstStyle/>
          <a:p>
            <a:endParaRPr lang="en-IN"/>
          </a:p>
        </p:txBody>
      </p:sp>
      <p:pic>
        <p:nvPicPr>
          <p:cNvPr id="17" name="Content Placeholder 16">
            <a:extLst>
              <a:ext uri="{FF2B5EF4-FFF2-40B4-BE49-F238E27FC236}">
                <a16:creationId xmlns:a16="http://schemas.microsoft.com/office/drawing/2014/main" id="{6CAAC392-0DD5-E505-643F-E9AF83CAECD4}"/>
              </a:ext>
            </a:extLst>
          </p:cNvPr>
          <p:cNvPicPr>
            <a:picLocks noGrp="1" noChangeAspect="1"/>
          </p:cNvPicPr>
          <p:nvPr>
            <p:ph idx="1"/>
          </p:nvPr>
        </p:nvPicPr>
        <p:blipFill>
          <a:blip r:embed="rId2"/>
          <a:stretch>
            <a:fillRect/>
          </a:stretch>
        </p:blipFill>
        <p:spPr>
          <a:xfrm>
            <a:off x="135666" y="1"/>
            <a:ext cx="2907029" cy="3429000"/>
          </a:xfrm>
        </p:spPr>
      </p:pic>
      <p:pic>
        <p:nvPicPr>
          <p:cNvPr id="7" name="Picture 6">
            <a:extLst>
              <a:ext uri="{FF2B5EF4-FFF2-40B4-BE49-F238E27FC236}">
                <a16:creationId xmlns:a16="http://schemas.microsoft.com/office/drawing/2014/main" id="{50A3359F-ED12-E987-8294-4DD7314E9B44}"/>
              </a:ext>
            </a:extLst>
          </p:cNvPr>
          <p:cNvPicPr>
            <a:picLocks noChangeAspect="1"/>
          </p:cNvPicPr>
          <p:nvPr/>
        </p:nvPicPr>
        <p:blipFill>
          <a:blip r:embed="rId3"/>
          <a:stretch>
            <a:fillRect/>
          </a:stretch>
        </p:blipFill>
        <p:spPr>
          <a:xfrm>
            <a:off x="2969125" y="73982"/>
            <a:ext cx="3582677" cy="3633787"/>
          </a:xfrm>
          <a:prstGeom prst="rect">
            <a:avLst/>
          </a:prstGeom>
        </p:spPr>
      </p:pic>
      <p:pic>
        <p:nvPicPr>
          <p:cNvPr id="9" name="Picture 8">
            <a:extLst>
              <a:ext uri="{FF2B5EF4-FFF2-40B4-BE49-F238E27FC236}">
                <a16:creationId xmlns:a16="http://schemas.microsoft.com/office/drawing/2014/main" id="{E280BE85-84A0-5974-97ED-034796F7B950}"/>
              </a:ext>
            </a:extLst>
          </p:cNvPr>
          <p:cNvPicPr>
            <a:picLocks noChangeAspect="1"/>
          </p:cNvPicPr>
          <p:nvPr/>
        </p:nvPicPr>
        <p:blipFill>
          <a:blip r:embed="rId4"/>
          <a:stretch>
            <a:fillRect/>
          </a:stretch>
        </p:blipFill>
        <p:spPr>
          <a:xfrm>
            <a:off x="6599207" y="0"/>
            <a:ext cx="5486400" cy="6858000"/>
          </a:xfrm>
          <a:prstGeom prst="rect">
            <a:avLst/>
          </a:prstGeom>
        </p:spPr>
      </p:pic>
      <p:pic>
        <p:nvPicPr>
          <p:cNvPr id="11" name="Picture 10">
            <a:extLst>
              <a:ext uri="{FF2B5EF4-FFF2-40B4-BE49-F238E27FC236}">
                <a16:creationId xmlns:a16="http://schemas.microsoft.com/office/drawing/2014/main" id="{02E1F385-A1A2-D5A4-EFFA-6C55E3B3E251}"/>
              </a:ext>
            </a:extLst>
          </p:cNvPr>
          <p:cNvPicPr>
            <a:picLocks noChangeAspect="1"/>
          </p:cNvPicPr>
          <p:nvPr/>
        </p:nvPicPr>
        <p:blipFill>
          <a:blip r:embed="rId5"/>
          <a:stretch>
            <a:fillRect/>
          </a:stretch>
        </p:blipFill>
        <p:spPr>
          <a:xfrm>
            <a:off x="62096" y="3429000"/>
            <a:ext cx="2743200" cy="3429000"/>
          </a:xfrm>
          <a:prstGeom prst="rect">
            <a:avLst/>
          </a:prstGeom>
        </p:spPr>
      </p:pic>
      <p:pic>
        <p:nvPicPr>
          <p:cNvPr id="13" name="Picture 12">
            <a:extLst>
              <a:ext uri="{FF2B5EF4-FFF2-40B4-BE49-F238E27FC236}">
                <a16:creationId xmlns:a16="http://schemas.microsoft.com/office/drawing/2014/main" id="{6BF00F5A-5791-574C-D84B-42B8C9FC91FA}"/>
              </a:ext>
            </a:extLst>
          </p:cNvPr>
          <p:cNvPicPr>
            <a:picLocks noChangeAspect="1"/>
          </p:cNvPicPr>
          <p:nvPr/>
        </p:nvPicPr>
        <p:blipFill>
          <a:blip r:embed="rId6"/>
          <a:stretch>
            <a:fillRect/>
          </a:stretch>
        </p:blipFill>
        <p:spPr>
          <a:xfrm>
            <a:off x="3016530" y="3548543"/>
            <a:ext cx="3535272" cy="3309457"/>
          </a:xfrm>
          <a:prstGeom prst="rect">
            <a:avLst/>
          </a:prstGeom>
        </p:spPr>
      </p:pic>
    </p:spTree>
    <p:extLst>
      <p:ext uri="{BB962C8B-B14F-4D97-AF65-F5344CB8AC3E}">
        <p14:creationId xmlns:p14="http://schemas.microsoft.com/office/powerpoint/2010/main" val="2296083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D8BD7-1B55-6204-7FEB-DE0F58B69DB7}"/>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256FC898-C4B2-1E29-F6EC-5726FB2A994C}"/>
              </a:ext>
            </a:extLst>
          </p:cNvPr>
          <p:cNvPicPr>
            <a:picLocks noGrp="1" noChangeAspect="1"/>
          </p:cNvPicPr>
          <p:nvPr>
            <p:ph idx="1"/>
          </p:nvPr>
        </p:nvPicPr>
        <p:blipFill>
          <a:blip r:embed="rId2"/>
          <a:stretch>
            <a:fillRect/>
          </a:stretch>
        </p:blipFill>
        <p:spPr>
          <a:xfrm>
            <a:off x="5763237" y="8389"/>
            <a:ext cx="6165332" cy="6858000"/>
          </a:xfrm>
        </p:spPr>
      </p:pic>
      <p:pic>
        <p:nvPicPr>
          <p:cNvPr id="19" name="Picture 18">
            <a:extLst>
              <a:ext uri="{FF2B5EF4-FFF2-40B4-BE49-F238E27FC236}">
                <a16:creationId xmlns:a16="http://schemas.microsoft.com/office/drawing/2014/main" id="{72354DC5-5A0A-A2D3-F1DC-710127C4915B}"/>
              </a:ext>
            </a:extLst>
          </p:cNvPr>
          <p:cNvPicPr>
            <a:picLocks noChangeAspect="1"/>
          </p:cNvPicPr>
          <p:nvPr/>
        </p:nvPicPr>
        <p:blipFill>
          <a:blip r:embed="rId3"/>
          <a:stretch>
            <a:fillRect/>
          </a:stretch>
        </p:blipFill>
        <p:spPr>
          <a:xfrm>
            <a:off x="-1" y="0"/>
            <a:ext cx="5763237" cy="6858000"/>
          </a:xfrm>
          <a:prstGeom prst="rect">
            <a:avLst/>
          </a:prstGeom>
        </p:spPr>
      </p:pic>
    </p:spTree>
    <p:extLst>
      <p:ext uri="{BB962C8B-B14F-4D97-AF65-F5344CB8AC3E}">
        <p14:creationId xmlns:p14="http://schemas.microsoft.com/office/powerpoint/2010/main" val="23848968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0D09F-CAB1-3844-2639-BF7D236ABF87}"/>
              </a:ext>
            </a:extLst>
          </p:cNvPr>
          <p:cNvSpPr>
            <a:spLocks noGrp="1"/>
          </p:cNvSpPr>
          <p:nvPr>
            <p:ph type="title"/>
          </p:nvPr>
        </p:nvSpPr>
        <p:spPr/>
        <p:txBody>
          <a:bodyPr/>
          <a:lstStyle/>
          <a:p>
            <a:r>
              <a:rPr lang="en-US" dirty="0"/>
              <a:t>Ideas</a:t>
            </a:r>
            <a:endParaRPr lang="en-IN" dirty="0"/>
          </a:p>
        </p:txBody>
      </p:sp>
      <p:sp>
        <p:nvSpPr>
          <p:cNvPr id="3" name="Content Placeholder 2">
            <a:extLst>
              <a:ext uri="{FF2B5EF4-FFF2-40B4-BE49-F238E27FC236}">
                <a16:creationId xmlns:a16="http://schemas.microsoft.com/office/drawing/2014/main" id="{8097C54A-4742-7261-3305-BB65A2F75698}"/>
              </a:ext>
            </a:extLst>
          </p:cNvPr>
          <p:cNvSpPr>
            <a:spLocks noGrp="1"/>
          </p:cNvSpPr>
          <p:nvPr>
            <p:ph idx="1"/>
          </p:nvPr>
        </p:nvSpPr>
        <p:spPr/>
        <p:txBody>
          <a:bodyPr>
            <a:normAutofit lnSpcReduction="10000"/>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n-US" sz="2400" b="1" dirty="0"/>
              <a:t>Content Creation: Become a content creator on platforms like YouTube, TikTok, or Instagram, and monetize through ads, sponsorships, and merchandise.</a:t>
            </a:r>
          </a:p>
          <a:p>
            <a:pPr marL="0" indent="0" algn="l">
              <a:buNone/>
            </a:pPr>
            <a:r>
              <a:rPr lang="en-US" b="1" i="0" u="sng" dirty="0">
                <a:solidFill>
                  <a:srgbClr val="FF0000"/>
                </a:solidFill>
                <a:effectLst/>
                <a:latin typeface="__Inter_d65c78"/>
              </a:rPr>
              <a:t>. Telehealth Services</a:t>
            </a:r>
          </a:p>
          <a:p>
            <a:pPr algn="l">
              <a:buFont typeface="Arial" panose="020B0604020202020204" pitchFamily="34" charset="0"/>
              <a:buChar char="•"/>
            </a:pPr>
            <a:r>
              <a:rPr lang="en-US" sz="1800" b="1" i="0" dirty="0">
                <a:solidFill>
                  <a:srgbClr val="374151"/>
                </a:solidFill>
                <a:effectLst/>
                <a:latin typeface="__Inter_d65c78"/>
              </a:rPr>
              <a:t>Overview</a:t>
            </a:r>
            <a:r>
              <a:rPr lang="en-US" sz="1800" b="0" i="0" dirty="0">
                <a:solidFill>
                  <a:srgbClr val="374151"/>
                </a:solidFill>
                <a:effectLst/>
                <a:latin typeface="__Inter_d65c78"/>
              </a:rPr>
              <a:t>: With the rise of remote healthcare, telehealth platforms connect patients with healthcare professionals via video calls and messaging.</a:t>
            </a:r>
          </a:p>
          <a:p>
            <a:pPr algn="l">
              <a:buFont typeface="Arial" panose="020B0604020202020204" pitchFamily="34" charset="0"/>
              <a:buChar char="•"/>
            </a:pPr>
            <a:r>
              <a:rPr lang="en-US" sz="1800" b="1" i="0" dirty="0">
                <a:solidFill>
                  <a:srgbClr val="374151"/>
                </a:solidFill>
                <a:effectLst/>
                <a:latin typeface="__Inter_d65c78"/>
              </a:rPr>
              <a:t>Why It’s Successful</a:t>
            </a:r>
            <a:r>
              <a:rPr lang="en-US" sz="1800" b="0" i="0" dirty="0">
                <a:solidFill>
                  <a:srgbClr val="374151"/>
                </a:solidFill>
                <a:effectLst/>
                <a:latin typeface="__Inter_d65c78"/>
              </a:rPr>
              <a:t>: The demand for accessible healthcare has surged, especially post-pandemic.</a:t>
            </a:r>
          </a:p>
          <a:p>
            <a:pPr algn="l">
              <a:buFont typeface="Arial" panose="020B0604020202020204" pitchFamily="34" charset="0"/>
              <a:buChar char="•"/>
            </a:pPr>
            <a:r>
              <a:rPr lang="en-US" sz="1800" b="1" i="0" dirty="0">
                <a:solidFill>
                  <a:srgbClr val="374151"/>
                </a:solidFill>
                <a:effectLst/>
                <a:latin typeface="__Inter_d65c78"/>
              </a:rPr>
              <a:t>Accessibility</a:t>
            </a:r>
            <a:r>
              <a:rPr lang="en-US" sz="1800" b="0" i="0" dirty="0">
                <a:solidFill>
                  <a:srgbClr val="374151"/>
                </a:solidFill>
                <a:effectLst/>
                <a:latin typeface="__Inter_d65c78"/>
              </a:rPr>
              <a:t>: Requires minimal setup; can be started with a website and a partnership with healthcare providers.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1" i="0" u="none" strike="noStrike" cap="none" normalizeH="0" baseline="0" dirty="0">
              <a:ln>
                <a:noFill/>
              </a:ln>
              <a:solidFill>
                <a:schemeClr val="tx1"/>
              </a:solidFill>
              <a:effectLst/>
              <a:latin typeface="Arial" panose="020B0604020202020204" pitchFamily="34" charset="0"/>
            </a:endParaRPr>
          </a:p>
          <a:p>
            <a:endParaRPr lang="en-IN" dirty="0"/>
          </a:p>
        </p:txBody>
      </p:sp>
    </p:spTree>
    <p:extLst>
      <p:ext uri="{BB962C8B-B14F-4D97-AF65-F5344CB8AC3E}">
        <p14:creationId xmlns:p14="http://schemas.microsoft.com/office/powerpoint/2010/main" val="12988561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3D90F1-4B7D-4934-F68C-9D0AFBCAED5E}"/>
              </a:ext>
            </a:extLst>
          </p:cNvPr>
          <p:cNvPicPr>
            <a:picLocks noChangeAspect="1"/>
          </p:cNvPicPr>
          <p:nvPr/>
        </p:nvPicPr>
        <p:blipFill>
          <a:blip r:embed="rId2"/>
          <a:stretch>
            <a:fillRect/>
          </a:stretch>
        </p:blipFill>
        <p:spPr>
          <a:xfrm>
            <a:off x="13022" y="0"/>
            <a:ext cx="12165956" cy="6858000"/>
          </a:xfrm>
          <a:prstGeom prst="rect">
            <a:avLst/>
          </a:prstGeom>
        </p:spPr>
      </p:pic>
    </p:spTree>
    <p:extLst>
      <p:ext uri="{BB962C8B-B14F-4D97-AF65-F5344CB8AC3E}">
        <p14:creationId xmlns:p14="http://schemas.microsoft.com/office/powerpoint/2010/main" val="28103632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CC2DC-EEE3-7923-547C-140AED7D059B}"/>
              </a:ext>
            </a:extLst>
          </p:cNvPr>
          <p:cNvSpPr>
            <a:spLocks noGrp="1"/>
          </p:cNvSpPr>
          <p:nvPr>
            <p:ph type="title"/>
          </p:nvPr>
        </p:nvSpPr>
        <p:spPr/>
        <p:txBody>
          <a:bodyPr/>
          <a:lstStyle/>
          <a:p>
            <a:r>
              <a:rPr lang="en-US" dirty="0"/>
              <a:t>Ideas</a:t>
            </a:r>
            <a:endParaRPr lang="en-IN" dirty="0"/>
          </a:p>
        </p:txBody>
      </p:sp>
      <p:sp>
        <p:nvSpPr>
          <p:cNvPr id="3" name="Content Placeholder 2">
            <a:extLst>
              <a:ext uri="{FF2B5EF4-FFF2-40B4-BE49-F238E27FC236}">
                <a16:creationId xmlns:a16="http://schemas.microsoft.com/office/drawing/2014/main" id="{31C13CDF-240E-5FD9-D762-C83A173419FC}"/>
              </a:ext>
            </a:extLst>
          </p:cNvPr>
          <p:cNvSpPr>
            <a:spLocks noGrp="1"/>
          </p:cNvSpPr>
          <p:nvPr>
            <p:ph idx="1"/>
          </p:nvPr>
        </p:nvSpPr>
        <p:spPr/>
        <p:txBody>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err="1">
                <a:ln>
                  <a:noFill/>
                </a:ln>
                <a:solidFill>
                  <a:schemeClr val="tx1"/>
                </a:solidFill>
                <a:effectLst/>
                <a:latin typeface="Arial" panose="020B0604020202020204" pitchFamily="34" charset="0"/>
              </a:rPr>
              <a:t>Fitnss</a:t>
            </a:r>
            <a:r>
              <a:rPr kumimoji="0" lang="en-US" altLang="en-US" sz="2400" b="1" i="0" u="none" strike="noStrike" cap="none" normalizeH="0" baseline="0" dirty="0">
                <a:ln>
                  <a:noFill/>
                </a:ln>
                <a:solidFill>
                  <a:schemeClr val="tx1"/>
                </a:solidFill>
                <a:effectLst/>
                <a:latin typeface="Arial" panose="020B0604020202020204" pitchFamily="34" charset="0"/>
              </a:rPr>
              <a:t> Trainer</a:t>
            </a:r>
            <a:r>
              <a:rPr kumimoji="0" lang="en-US" altLang="en-US" sz="2400" b="0" i="0" u="none" strike="noStrike" cap="none" normalizeH="0" baseline="0" dirty="0">
                <a:ln>
                  <a:noFill/>
                </a:ln>
                <a:solidFill>
                  <a:schemeClr val="tx1"/>
                </a:solidFill>
                <a:effectLst/>
                <a:latin typeface="Arial" panose="020B0604020202020204" pitchFamily="34" charset="0"/>
              </a:rPr>
              <a:t>: Become a personal fitness trainer and offer sessions either in-person or online. You could also specialize in a particular area, like yoga or </a:t>
            </a:r>
            <a:r>
              <a:rPr kumimoji="0" lang="en-US" altLang="en-US" sz="2400" b="0" i="0" u="none" strike="noStrike" cap="none" normalizeH="0" baseline="0" dirty="0" err="1">
                <a:ln>
                  <a:noFill/>
                </a:ln>
                <a:solidFill>
                  <a:schemeClr val="tx1"/>
                </a:solidFill>
                <a:effectLst/>
                <a:latin typeface="Arial" panose="020B0604020202020204" pitchFamily="34" charset="0"/>
              </a:rPr>
              <a:t>pilates</a:t>
            </a:r>
            <a:r>
              <a:rPr kumimoji="0" lang="en-US" altLang="en-US" sz="24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Event Planning</a:t>
            </a:r>
            <a:r>
              <a:rPr kumimoji="0" lang="en-US" altLang="en-US" sz="2400" b="0" i="0" u="none" strike="noStrike" cap="none" normalizeH="0" baseline="0" dirty="0">
                <a:ln>
                  <a:noFill/>
                </a:ln>
                <a:solidFill>
                  <a:schemeClr val="tx1"/>
                </a:solidFill>
                <a:effectLst/>
                <a:latin typeface="Arial" panose="020B0604020202020204" pitchFamily="34" charset="0"/>
              </a:rPr>
              <a:t>: Offer event planning services for weddings, parties, and corporate events. Helping people plan their big events can be both fun and rewarding.</a:t>
            </a:r>
          </a:p>
          <a:p>
            <a:endParaRPr lang="en-IN" dirty="0"/>
          </a:p>
        </p:txBody>
      </p:sp>
    </p:spTree>
    <p:extLst>
      <p:ext uri="{BB962C8B-B14F-4D97-AF65-F5344CB8AC3E}">
        <p14:creationId xmlns:p14="http://schemas.microsoft.com/office/powerpoint/2010/main" val="18008953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307FE-5D21-3534-79CB-3278E6544F84}"/>
              </a:ext>
            </a:extLst>
          </p:cNvPr>
          <p:cNvSpPr>
            <a:spLocks noGrp="1"/>
          </p:cNvSpPr>
          <p:nvPr>
            <p:ph type="title"/>
          </p:nvPr>
        </p:nvSpPr>
        <p:spPr/>
        <p:txBody>
          <a:bodyPr/>
          <a:lstStyle/>
          <a:p>
            <a:r>
              <a:rPr lang="en-US" dirty="0"/>
              <a:t>Ideas</a:t>
            </a:r>
            <a:endParaRPr lang="en-IN" dirty="0"/>
          </a:p>
        </p:txBody>
      </p:sp>
      <p:sp>
        <p:nvSpPr>
          <p:cNvPr id="3" name="Content Placeholder 2">
            <a:extLst>
              <a:ext uri="{FF2B5EF4-FFF2-40B4-BE49-F238E27FC236}">
                <a16:creationId xmlns:a16="http://schemas.microsoft.com/office/drawing/2014/main" id="{1BB7519B-3992-1827-35AA-FF74ADB70980}"/>
              </a:ext>
            </a:extLst>
          </p:cNvPr>
          <p:cNvSpPr>
            <a:spLocks noGrp="1"/>
          </p:cNvSpPr>
          <p:nvPr>
            <p:ph idx="1"/>
          </p:nvPr>
        </p:nvSpPr>
        <p:spPr/>
        <p:txBody>
          <a:bodyPr>
            <a:normAutofit lnSpcReduction="10000"/>
          </a:bodyPr>
          <a:lstStyle/>
          <a:p>
            <a:pPr algn="l"/>
            <a:r>
              <a:rPr lang="en-US" b="1" i="0" dirty="0">
                <a:solidFill>
                  <a:srgbClr val="374151"/>
                </a:solidFill>
                <a:effectLst/>
                <a:latin typeface="__Inter_d65c78"/>
              </a:rPr>
              <a:t> Reclaim.ai</a:t>
            </a:r>
            <a:endParaRPr lang="en-US" b="0" i="0" dirty="0">
              <a:solidFill>
                <a:srgbClr val="374151"/>
              </a:solidFill>
              <a:effectLst/>
              <a:latin typeface="__Inter_d65c78"/>
            </a:endParaRPr>
          </a:p>
          <a:p>
            <a:pPr algn="l">
              <a:buFont typeface="Arial" panose="020B0604020202020204" pitchFamily="34" charset="0"/>
              <a:buChar char="•"/>
            </a:pPr>
            <a:r>
              <a:rPr lang="en-US" b="1" i="0" dirty="0">
                <a:solidFill>
                  <a:srgbClr val="374151"/>
                </a:solidFill>
                <a:effectLst/>
                <a:latin typeface="__Inter_d65c78"/>
              </a:rPr>
              <a:t>Overview</a:t>
            </a:r>
            <a:r>
              <a:rPr lang="en-US" b="0" i="0" dirty="0">
                <a:solidFill>
                  <a:srgbClr val="374151"/>
                </a:solidFill>
                <a:effectLst/>
                <a:latin typeface="__Inter_d65c78"/>
              </a:rPr>
              <a:t>: A smart calendar companion that automatically schedules tasks for users, optimizing their time management.</a:t>
            </a:r>
          </a:p>
          <a:p>
            <a:pPr algn="l">
              <a:buFont typeface="Arial" panose="020B0604020202020204" pitchFamily="34" charset="0"/>
              <a:buChar char="•"/>
            </a:pPr>
            <a:r>
              <a:rPr lang="en-US" b="1" i="0" dirty="0">
                <a:solidFill>
                  <a:srgbClr val="374151"/>
                </a:solidFill>
                <a:effectLst/>
                <a:latin typeface="__Inter_d65c78"/>
              </a:rPr>
              <a:t>Founded</a:t>
            </a:r>
            <a:r>
              <a:rPr lang="en-US" b="0" i="0" dirty="0">
                <a:solidFill>
                  <a:srgbClr val="374151"/>
                </a:solidFill>
                <a:effectLst/>
                <a:latin typeface="__Inter_d65c78"/>
              </a:rPr>
              <a:t>: 2019</a:t>
            </a:r>
          </a:p>
          <a:p>
            <a:pPr algn="l">
              <a:buFont typeface="Arial" panose="020B0604020202020204" pitchFamily="34" charset="0"/>
              <a:buChar char="•"/>
            </a:pPr>
            <a:r>
              <a:rPr lang="en-US" b="1" i="0" dirty="0">
                <a:solidFill>
                  <a:srgbClr val="374151"/>
                </a:solidFill>
                <a:effectLst/>
                <a:latin typeface="__Inter_d65c78"/>
              </a:rPr>
              <a:t>Location</a:t>
            </a:r>
            <a:r>
              <a:rPr lang="en-US" b="0" i="0" dirty="0">
                <a:solidFill>
                  <a:srgbClr val="374151"/>
                </a:solidFill>
                <a:effectLst/>
                <a:latin typeface="__Inter_d65c78"/>
              </a:rPr>
              <a:t>: Portland, Oregon</a:t>
            </a:r>
          </a:p>
          <a:p>
            <a:pPr algn="l">
              <a:buFont typeface="Arial" panose="020B0604020202020204" pitchFamily="34" charset="0"/>
              <a:buChar char="•"/>
            </a:pPr>
            <a:r>
              <a:rPr lang="en-US" b="1" i="0" dirty="0">
                <a:solidFill>
                  <a:srgbClr val="374151"/>
                </a:solidFill>
                <a:effectLst/>
                <a:latin typeface="__Inter_d65c78"/>
              </a:rPr>
              <a:t>Funding</a:t>
            </a:r>
            <a:r>
              <a:rPr lang="en-US" b="0" i="0" dirty="0">
                <a:solidFill>
                  <a:srgbClr val="374151"/>
                </a:solidFill>
                <a:effectLst/>
                <a:latin typeface="__Inter_d65c78"/>
              </a:rPr>
              <a:t>: $6.3 million</a:t>
            </a:r>
          </a:p>
          <a:p>
            <a:pPr algn="l">
              <a:buFont typeface="Arial" panose="020B0604020202020204" pitchFamily="34" charset="0"/>
              <a:buChar char="•"/>
            </a:pPr>
            <a:r>
              <a:rPr lang="en-US" b="1" i="0" dirty="0">
                <a:solidFill>
                  <a:srgbClr val="374151"/>
                </a:solidFill>
                <a:effectLst/>
                <a:latin typeface="__Inter_d65c78"/>
              </a:rPr>
              <a:t>Website</a:t>
            </a:r>
            <a:r>
              <a:rPr lang="en-US" b="0" i="0" dirty="0">
                <a:solidFill>
                  <a:srgbClr val="374151"/>
                </a:solidFill>
                <a:effectLst/>
                <a:latin typeface="__Inter_d65c78"/>
              </a:rPr>
              <a:t>: </a:t>
            </a:r>
            <a:r>
              <a:rPr lang="en-US" b="0" i="0" u="none" strike="noStrike" dirty="0">
                <a:solidFill>
                  <a:srgbClr val="3286FF"/>
                </a:solidFill>
                <a:effectLst/>
                <a:latin typeface="__Inter_d65c78"/>
              </a:rPr>
              <a:t>Reclaim.ai</a:t>
            </a:r>
            <a:endParaRPr lang="en-US" b="0" i="0" dirty="0">
              <a:solidFill>
                <a:srgbClr val="374151"/>
              </a:solidFill>
              <a:effectLst/>
              <a:latin typeface="__Inter_d65c78"/>
            </a:endParaRPr>
          </a:p>
          <a:p>
            <a:endParaRPr lang="en-IN" dirty="0"/>
          </a:p>
        </p:txBody>
      </p:sp>
    </p:spTree>
    <p:extLst>
      <p:ext uri="{BB962C8B-B14F-4D97-AF65-F5344CB8AC3E}">
        <p14:creationId xmlns:p14="http://schemas.microsoft.com/office/powerpoint/2010/main" val="12896649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D8EB6-AE49-6663-4A01-81853A1E47D0}"/>
              </a:ext>
            </a:extLst>
          </p:cNvPr>
          <p:cNvSpPr>
            <a:spLocks noGrp="1"/>
          </p:cNvSpPr>
          <p:nvPr>
            <p:ph type="title"/>
          </p:nvPr>
        </p:nvSpPr>
        <p:spPr/>
        <p:txBody>
          <a:bodyPr/>
          <a:lstStyle/>
          <a:p>
            <a:r>
              <a:rPr lang="en-US" dirty="0"/>
              <a:t>Ideas</a:t>
            </a:r>
            <a:endParaRPr lang="en-IN" dirty="0"/>
          </a:p>
        </p:txBody>
      </p:sp>
      <p:sp>
        <p:nvSpPr>
          <p:cNvPr id="3" name="Content Placeholder 2">
            <a:extLst>
              <a:ext uri="{FF2B5EF4-FFF2-40B4-BE49-F238E27FC236}">
                <a16:creationId xmlns:a16="http://schemas.microsoft.com/office/drawing/2014/main" id="{50BB3D98-88B9-B153-3F03-4AE1CAD1115F}"/>
              </a:ext>
            </a:extLst>
          </p:cNvPr>
          <p:cNvSpPr>
            <a:spLocks noGrp="1"/>
          </p:cNvSpPr>
          <p:nvPr>
            <p:ph idx="1"/>
          </p:nvPr>
        </p:nvSpPr>
        <p:spPr/>
        <p:txBody>
          <a:bodyPr>
            <a:normAutofit lnSpcReduction="10000"/>
          </a:bodyPr>
          <a:lstStyle/>
          <a:p>
            <a:pPr algn="l"/>
            <a:r>
              <a:rPr lang="en-US" b="1" i="0" dirty="0">
                <a:solidFill>
                  <a:srgbClr val="374151"/>
                </a:solidFill>
                <a:effectLst/>
                <a:latin typeface="__Inter_d65c78"/>
              </a:rPr>
              <a:t> Fetch Rewards</a:t>
            </a:r>
            <a:endParaRPr lang="en-US" b="0" i="0" dirty="0">
              <a:solidFill>
                <a:srgbClr val="374151"/>
              </a:solidFill>
              <a:effectLst/>
              <a:latin typeface="__Inter_d65c78"/>
            </a:endParaRPr>
          </a:p>
          <a:p>
            <a:pPr algn="l">
              <a:buFont typeface="Arial" panose="020B0604020202020204" pitchFamily="34" charset="0"/>
              <a:buChar char="•"/>
            </a:pPr>
            <a:r>
              <a:rPr lang="en-US" b="1" i="0" dirty="0">
                <a:solidFill>
                  <a:srgbClr val="374151"/>
                </a:solidFill>
                <a:effectLst/>
                <a:latin typeface="__Inter_d65c78"/>
              </a:rPr>
              <a:t>Overview</a:t>
            </a:r>
            <a:r>
              <a:rPr lang="en-US" b="0" i="0" dirty="0">
                <a:solidFill>
                  <a:srgbClr val="374151"/>
                </a:solidFill>
                <a:effectLst/>
                <a:latin typeface="__Inter_d65c78"/>
              </a:rPr>
              <a:t>: A mobile shopping app that rewards customers for purchasing their favorite items.</a:t>
            </a:r>
          </a:p>
          <a:p>
            <a:pPr algn="l">
              <a:buFont typeface="Arial" panose="020B0604020202020204" pitchFamily="34" charset="0"/>
              <a:buChar char="•"/>
            </a:pPr>
            <a:r>
              <a:rPr lang="en-US" b="1" i="0" dirty="0">
                <a:solidFill>
                  <a:srgbClr val="374151"/>
                </a:solidFill>
                <a:effectLst/>
                <a:latin typeface="__Inter_d65c78"/>
              </a:rPr>
              <a:t>Founded</a:t>
            </a:r>
            <a:r>
              <a:rPr lang="en-US" b="0" i="0" dirty="0">
                <a:solidFill>
                  <a:srgbClr val="374151"/>
                </a:solidFill>
                <a:effectLst/>
                <a:latin typeface="__Inter_d65c78"/>
              </a:rPr>
              <a:t>: 2013</a:t>
            </a:r>
          </a:p>
          <a:p>
            <a:pPr algn="l">
              <a:buFont typeface="Arial" panose="020B0604020202020204" pitchFamily="34" charset="0"/>
              <a:buChar char="•"/>
            </a:pPr>
            <a:r>
              <a:rPr lang="en-US" b="1" i="0" dirty="0">
                <a:solidFill>
                  <a:srgbClr val="374151"/>
                </a:solidFill>
                <a:effectLst/>
                <a:latin typeface="__Inter_d65c78"/>
              </a:rPr>
              <a:t>Location</a:t>
            </a:r>
            <a:r>
              <a:rPr lang="en-US" b="0" i="0" dirty="0">
                <a:solidFill>
                  <a:srgbClr val="374151"/>
                </a:solidFill>
                <a:effectLst/>
                <a:latin typeface="__Inter_d65c78"/>
              </a:rPr>
              <a:t>: Madison, Wisconsin</a:t>
            </a:r>
          </a:p>
          <a:p>
            <a:pPr algn="l">
              <a:buFont typeface="Arial" panose="020B0604020202020204" pitchFamily="34" charset="0"/>
              <a:buChar char="•"/>
            </a:pPr>
            <a:r>
              <a:rPr lang="en-US" b="1" i="0" dirty="0">
                <a:solidFill>
                  <a:srgbClr val="374151"/>
                </a:solidFill>
                <a:effectLst/>
                <a:latin typeface="__Inter_d65c78"/>
              </a:rPr>
              <a:t>Funding</a:t>
            </a:r>
            <a:r>
              <a:rPr lang="en-US" b="0" i="0" dirty="0">
                <a:solidFill>
                  <a:srgbClr val="374151"/>
                </a:solidFill>
                <a:effectLst/>
                <a:latin typeface="__Inter_d65c78"/>
              </a:rPr>
              <a:t>: $341.85 million</a:t>
            </a:r>
          </a:p>
          <a:p>
            <a:pPr algn="l">
              <a:buFont typeface="Arial" panose="020B0604020202020204" pitchFamily="34" charset="0"/>
              <a:buChar char="•"/>
            </a:pPr>
            <a:r>
              <a:rPr lang="en-US" b="1" i="0" dirty="0">
                <a:solidFill>
                  <a:srgbClr val="374151"/>
                </a:solidFill>
                <a:effectLst/>
                <a:latin typeface="__Inter_d65c78"/>
              </a:rPr>
              <a:t>Website</a:t>
            </a:r>
            <a:r>
              <a:rPr lang="en-US" b="0" i="0" dirty="0">
                <a:solidFill>
                  <a:srgbClr val="374151"/>
                </a:solidFill>
                <a:effectLst/>
                <a:latin typeface="__Inter_d65c78"/>
              </a:rPr>
              <a:t>: </a:t>
            </a:r>
            <a:r>
              <a:rPr lang="en-US" b="0" i="0" u="none" strike="noStrike" dirty="0">
                <a:solidFill>
                  <a:srgbClr val="3286FF"/>
                </a:solidFill>
                <a:effectLst/>
                <a:latin typeface="__Inter_d65c78"/>
              </a:rPr>
              <a:t>Fetch Rewards</a:t>
            </a:r>
            <a:endParaRPr lang="en-US" b="0" i="0" dirty="0">
              <a:solidFill>
                <a:srgbClr val="374151"/>
              </a:solidFill>
              <a:effectLst/>
              <a:latin typeface="__Inter_d65c78"/>
            </a:endParaRPr>
          </a:p>
          <a:p>
            <a:endParaRPr lang="en-IN" dirty="0"/>
          </a:p>
        </p:txBody>
      </p:sp>
    </p:spTree>
    <p:extLst>
      <p:ext uri="{BB962C8B-B14F-4D97-AF65-F5344CB8AC3E}">
        <p14:creationId xmlns:p14="http://schemas.microsoft.com/office/powerpoint/2010/main" val="16332573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B85E820-1842-D6CF-DD7E-0F239876B93B}"/>
              </a:ext>
            </a:extLst>
          </p:cNvPr>
          <p:cNvSpPr txBox="1"/>
          <p:nvPr/>
        </p:nvSpPr>
        <p:spPr>
          <a:xfrm>
            <a:off x="497048" y="766106"/>
            <a:ext cx="5392024" cy="5078313"/>
          </a:xfrm>
          <a:prstGeom prst="rect">
            <a:avLst/>
          </a:prstGeom>
          <a:noFill/>
        </p:spPr>
        <p:txBody>
          <a:bodyPr wrap="square">
            <a:spAutoFit/>
          </a:bodyPr>
          <a:lstStyle/>
          <a:p>
            <a:pPr algn="l"/>
            <a:r>
              <a:rPr lang="en-IN" sz="1800" b="1" i="0" u="sng" dirty="0">
                <a:solidFill>
                  <a:srgbClr val="FF0000"/>
                </a:solidFill>
                <a:effectLst/>
                <a:latin typeface="__Inter_d65c78"/>
              </a:rPr>
              <a:t>Idea ka Tarika:</a:t>
            </a:r>
          </a:p>
          <a:p>
            <a:pPr algn="l">
              <a:buFont typeface="+mj-lt"/>
              <a:buAutoNum type="arabicPeriod"/>
            </a:pPr>
            <a:r>
              <a:rPr lang="en-IN" sz="1800" b="1" i="0" dirty="0">
                <a:solidFill>
                  <a:srgbClr val="374151"/>
                </a:solidFill>
                <a:effectLst/>
                <a:latin typeface="__Inter_d65c78"/>
              </a:rPr>
              <a:t>Team ka </a:t>
            </a:r>
            <a:r>
              <a:rPr lang="en-IN" sz="1800" b="1" i="0" dirty="0" err="1">
                <a:solidFill>
                  <a:srgbClr val="374151"/>
                </a:solidFill>
                <a:effectLst/>
                <a:latin typeface="__Inter_d65c78"/>
              </a:rPr>
              <a:t>Gathan</a:t>
            </a:r>
            <a:r>
              <a:rPr lang="en-IN" sz="1800" b="0" i="0" dirty="0">
                <a:solidFill>
                  <a:srgbClr val="374151"/>
                </a:solidFill>
                <a:effectLst/>
                <a:latin typeface="__Inter_d65c78"/>
              </a:rPr>
              <a:t>: </a:t>
            </a:r>
            <a:r>
              <a:rPr lang="en-IN" sz="1800" b="0" i="0" dirty="0" err="1">
                <a:solidFill>
                  <a:srgbClr val="374151"/>
                </a:solidFill>
                <a:effectLst/>
                <a:latin typeface="__Inter_d65c78"/>
              </a:rPr>
              <a:t>Aap</a:t>
            </a:r>
            <a:r>
              <a:rPr lang="en-IN" sz="1800" b="0" i="0" dirty="0">
                <a:solidFill>
                  <a:srgbClr val="374151"/>
                </a:solidFill>
                <a:effectLst/>
                <a:latin typeface="__Inter_d65c78"/>
              </a:rPr>
              <a:t> ek </a:t>
            </a:r>
            <a:r>
              <a:rPr lang="en-IN" sz="1800" b="0" i="0" dirty="0" err="1">
                <a:solidFill>
                  <a:srgbClr val="374151"/>
                </a:solidFill>
                <a:effectLst/>
                <a:latin typeface="__Inter_d65c78"/>
              </a:rPr>
              <a:t>aisi</a:t>
            </a:r>
            <a:r>
              <a:rPr lang="en-IN" sz="1800" b="0" i="0" dirty="0">
                <a:solidFill>
                  <a:srgbClr val="374151"/>
                </a:solidFill>
                <a:effectLst/>
                <a:latin typeface="__Inter_d65c78"/>
              </a:rPr>
              <a:t> team </a:t>
            </a:r>
            <a:r>
              <a:rPr lang="en-IN" sz="1800" b="0" i="0" dirty="0" err="1">
                <a:solidFill>
                  <a:srgbClr val="374151"/>
                </a:solidFill>
                <a:effectLst/>
                <a:latin typeface="__Inter_d65c78"/>
              </a:rPr>
              <a:t>tayar</a:t>
            </a:r>
            <a:r>
              <a:rPr lang="en-IN" sz="1800" b="0" i="0" dirty="0">
                <a:solidFill>
                  <a:srgbClr val="374151"/>
                </a:solidFill>
                <a:effectLst/>
                <a:latin typeface="__Inter_d65c78"/>
              </a:rPr>
              <a:t> </a:t>
            </a:r>
            <a:r>
              <a:rPr lang="en-IN" sz="1800" b="0" i="0" dirty="0" err="1">
                <a:solidFill>
                  <a:srgbClr val="374151"/>
                </a:solidFill>
                <a:effectLst/>
                <a:latin typeface="__Inter_d65c78"/>
              </a:rPr>
              <a:t>karna</a:t>
            </a:r>
            <a:r>
              <a:rPr lang="en-IN" sz="1800" b="0" i="0" dirty="0">
                <a:solidFill>
                  <a:srgbClr val="374151"/>
                </a:solidFill>
                <a:effectLst/>
                <a:latin typeface="__Inter_d65c78"/>
              </a:rPr>
              <a:t> </a:t>
            </a:r>
            <a:r>
              <a:rPr lang="en-IN" sz="1800" b="0" i="0" dirty="0" err="1">
                <a:solidFill>
                  <a:srgbClr val="374151"/>
                </a:solidFill>
                <a:effectLst/>
                <a:latin typeface="__Inter_d65c78"/>
              </a:rPr>
              <a:t>chahte</a:t>
            </a:r>
            <a:r>
              <a:rPr lang="en-IN" sz="1800" b="0" i="0" dirty="0">
                <a:solidFill>
                  <a:srgbClr val="374151"/>
                </a:solidFill>
                <a:effectLst/>
                <a:latin typeface="__Inter_d65c78"/>
              </a:rPr>
              <a:t> hain </a:t>
            </a:r>
            <a:r>
              <a:rPr lang="en-IN" sz="1800" b="0" i="0" dirty="0" err="1">
                <a:solidFill>
                  <a:srgbClr val="374151"/>
                </a:solidFill>
                <a:effectLst/>
                <a:latin typeface="__Inter_d65c78"/>
              </a:rPr>
              <a:t>jismein</a:t>
            </a:r>
            <a:r>
              <a:rPr lang="en-IN" sz="1800" b="0" i="0" dirty="0">
                <a:solidFill>
                  <a:srgbClr val="374151"/>
                </a:solidFill>
                <a:effectLst/>
                <a:latin typeface="__Inter_d65c78"/>
              </a:rPr>
              <a:t> skilled aur qualified log hon, jo candidates ko select </a:t>
            </a:r>
            <a:r>
              <a:rPr lang="en-IN" sz="1800" b="0" i="0" dirty="0" err="1">
                <a:solidFill>
                  <a:srgbClr val="374151"/>
                </a:solidFill>
                <a:effectLst/>
                <a:latin typeface="__Inter_d65c78"/>
              </a:rPr>
              <a:t>karne</a:t>
            </a:r>
            <a:r>
              <a:rPr lang="en-IN" sz="1800" b="0" i="0" dirty="0">
                <a:solidFill>
                  <a:srgbClr val="374151"/>
                </a:solidFill>
                <a:effectLst/>
                <a:latin typeface="__Inter_d65c78"/>
              </a:rPr>
              <a:t> </a:t>
            </a:r>
            <a:r>
              <a:rPr lang="en-IN" sz="1800" b="0" i="0" dirty="0" err="1">
                <a:solidFill>
                  <a:srgbClr val="374151"/>
                </a:solidFill>
                <a:effectLst/>
                <a:latin typeface="__Inter_d65c78"/>
              </a:rPr>
              <a:t>mein</a:t>
            </a:r>
            <a:r>
              <a:rPr lang="en-IN" sz="1800" b="0" i="0" dirty="0">
                <a:solidFill>
                  <a:srgbClr val="374151"/>
                </a:solidFill>
                <a:effectLst/>
                <a:latin typeface="__Inter_d65c78"/>
              </a:rPr>
              <a:t> </a:t>
            </a:r>
            <a:r>
              <a:rPr lang="en-IN" sz="1800" b="0" i="0" dirty="0" err="1">
                <a:solidFill>
                  <a:srgbClr val="374151"/>
                </a:solidFill>
                <a:effectLst/>
                <a:latin typeface="__Inter_d65c78"/>
              </a:rPr>
              <a:t>madad</a:t>
            </a:r>
            <a:r>
              <a:rPr lang="en-IN" sz="1800" b="0" i="0" dirty="0">
                <a:solidFill>
                  <a:srgbClr val="374151"/>
                </a:solidFill>
                <a:effectLst/>
                <a:latin typeface="__Inter_d65c78"/>
              </a:rPr>
              <a:t> </a:t>
            </a:r>
            <a:r>
              <a:rPr lang="en-IN" sz="1800" b="0" i="0" dirty="0" err="1">
                <a:solidFill>
                  <a:srgbClr val="374151"/>
                </a:solidFill>
                <a:effectLst/>
                <a:latin typeface="__Inter_d65c78"/>
              </a:rPr>
              <a:t>kar</a:t>
            </a:r>
            <a:r>
              <a:rPr lang="en-IN" sz="1800" b="0" i="0" dirty="0">
                <a:solidFill>
                  <a:srgbClr val="374151"/>
                </a:solidFill>
                <a:effectLst/>
                <a:latin typeface="__Inter_d65c78"/>
              </a:rPr>
              <a:t> </a:t>
            </a:r>
            <a:r>
              <a:rPr lang="en-IN" sz="1800" b="0" i="0" dirty="0" err="1">
                <a:solidFill>
                  <a:srgbClr val="374151"/>
                </a:solidFill>
                <a:effectLst/>
                <a:latin typeface="__Inter_d65c78"/>
              </a:rPr>
              <a:t>sakein</a:t>
            </a:r>
            <a:r>
              <a:rPr lang="en-IN" sz="1800" b="0" i="0" dirty="0">
                <a:solidFill>
                  <a:srgbClr val="374151"/>
                </a:solidFill>
                <a:effectLst/>
                <a:latin typeface="__Inter_d65c78"/>
              </a:rPr>
              <a:t>.</a:t>
            </a:r>
          </a:p>
          <a:p>
            <a:pPr algn="l">
              <a:buFont typeface="+mj-lt"/>
              <a:buAutoNum type="arabicPeriod"/>
            </a:pPr>
            <a:r>
              <a:rPr lang="en-IN" sz="1800" b="1" i="0" dirty="0">
                <a:solidFill>
                  <a:srgbClr val="374151"/>
                </a:solidFill>
                <a:effectLst/>
                <a:latin typeface="__Inter_d65c78"/>
              </a:rPr>
              <a:t>Company se </a:t>
            </a:r>
            <a:r>
              <a:rPr lang="en-IN" sz="1800" b="1" i="0" dirty="0" err="1">
                <a:solidFill>
                  <a:srgbClr val="374151"/>
                </a:solidFill>
                <a:effectLst/>
                <a:latin typeface="__Inter_d65c78"/>
              </a:rPr>
              <a:t>Seedha</a:t>
            </a:r>
            <a:r>
              <a:rPr lang="en-IN" sz="1800" b="1" i="0" dirty="0">
                <a:solidFill>
                  <a:srgbClr val="374151"/>
                </a:solidFill>
                <a:effectLst/>
                <a:latin typeface="__Inter_d65c78"/>
              </a:rPr>
              <a:t> </a:t>
            </a:r>
            <a:r>
              <a:rPr lang="en-IN" sz="1800" b="1" i="0" dirty="0" err="1">
                <a:solidFill>
                  <a:srgbClr val="374151"/>
                </a:solidFill>
                <a:effectLst/>
                <a:latin typeface="__Inter_d65c78"/>
              </a:rPr>
              <a:t>Sampark</a:t>
            </a:r>
            <a:r>
              <a:rPr lang="en-IN" sz="1800" b="0" i="0" dirty="0">
                <a:solidFill>
                  <a:srgbClr val="374151"/>
                </a:solidFill>
                <a:effectLst/>
                <a:latin typeface="__Inter_d65c78"/>
              </a:rPr>
              <a:t>: Companies </a:t>
            </a:r>
            <a:r>
              <a:rPr lang="en-IN" sz="1800" b="0" i="0" dirty="0" err="1">
                <a:solidFill>
                  <a:srgbClr val="374151"/>
                </a:solidFill>
                <a:effectLst/>
                <a:latin typeface="__Inter_d65c78"/>
              </a:rPr>
              <a:t>aapse</a:t>
            </a:r>
            <a:r>
              <a:rPr lang="en-IN" sz="1800" b="0" i="0" dirty="0">
                <a:solidFill>
                  <a:srgbClr val="374151"/>
                </a:solidFill>
                <a:effectLst/>
                <a:latin typeface="__Inter_d65c78"/>
              </a:rPr>
              <a:t> </a:t>
            </a:r>
            <a:r>
              <a:rPr lang="en-IN" sz="1800" b="0" i="0" dirty="0" err="1">
                <a:solidFill>
                  <a:srgbClr val="374151"/>
                </a:solidFill>
                <a:effectLst/>
                <a:latin typeface="__Inter_d65c78"/>
              </a:rPr>
              <a:t>seedha</a:t>
            </a:r>
            <a:r>
              <a:rPr lang="en-IN" sz="1800" b="0" i="0" dirty="0">
                <a:solidFill>
                  <a:srgbClr val="374151"/>
                </a:solidFill>
                <a:effectLst/>
                <a:latin typeface="__Inter_d65c78"/>
              </a:rPr>
              <a:t> </a:t>
            </a:r>
            <a:r>
              <a:rPr lang="en-IN" sz="1800" b="0" i="0" dirty="0" err="1">
                <a:solidFill>
                  <a:srgbClr val="374151"/>
                </a:solidFill>
                <a:effectLst/>
                <a:latin typeface="__Inter_d65c78"/>
              </a:rPr>
              <a:t>sampark</a:t>
            </a:r>
            <a:r>
              <a:rPr lang="en-IN" sz="1800" b="0" i="0" dirty="0">
                <a:solidFill>
                  <a:srgbClr val="374151"/>
                </a:solidFill>
                <a:effectLst/>
                <a:latin typeface="__Inter_d65c78"/>
              </a:rPr>
              <a:t> </a:t>
            </a:r>
            <a:r>
              <a:rPr lang="en-IN" sz="1800" b="0" i="0" dirty="0" err="1">
                <a:solidFill>
                  <a:srgbClr val="374151"/>
                </a:solidFill>
                <a:effectLst/>
                <a:latin typeface="__Inter_d65c78"/>
              </a:rPr>
              <a:t>karengi</a:t>
            </a:r>
            <a:r>
              <a:rPr lang="en-IN" sz="1800" b="0" i="0" dirty="0">
                <a:solidFill>
                  <a:srgbClr val="374151"/>
                </a:solidFill>
                <a:effectLst/>
                <a:latin typeface="__Inter_d65c78"/>
              </a:rPr>
              <a:t>, </a:t>
            </a:r>
            <a:r>
              <a:rPr lang="en-IN" sz="1800" b="0" i="0" dirty="0" err="1">
                <a:solidFill>
                  <a:srgbClr val="374151"/>
                </a:solidFill>
                <a:effectLst/>
                <a:latin typeface="__Inter_d65c78"/>
              </a:rPr>
              <a:t>jisse</a:t>
            </a:r>
            <a:r>
              <a:rPr lang="en-IN" sz="1800" b="0" i="0" dirty="0">
                <a:solidFill>
                  <a:srgbClr val="374151"/>
                </a:solidFill>
                <a:effectLst/>
                <a:latin typeface="__Inter_d65c78"/>
              </a:rPr>
              <a:t> </a:t>
            </a:r>
            <a:r>
              <a:rPr lang="en-IN" sz="1800" b="0" i="0" dirty="0" err="1">
                <a:solidFill>
                  <a:srgbClr val="374151"/>
                </a:solidFill>
                <a:effectLst/>
                <a:latin typeface="__Inter_d65c78"/>
              </a:rPr>
              <a:t>unhe</a:t>
            </a:r>
            <a:r>
              <a:rPr lang="en-IN" sz="1800" b="0" i="0" dirty="0">
                <a:solidFill>
                  <a:srgbClr val="374151"/>
                </a:solidFill>
                <a:effectLst/>
                <a:latin typeface="__Inter_d65c78"/>
              </a:rPr>
              <a:t> candidates </a:t>
            </a:r>
            <a:r>
              <a:rPr lang="en-IN" sz="1800" b="0" i="0" dirty="0" err="1">
                <a:solidFill>
                  <a:srgbClr val="374151"/>
                </a:solidFill>
                <a:effectLst/>
                <a:latin typeface="__Inter_d65c78"/>
              </a:rPr>
              <a:t>dhoondhne</a:t>
            </a:r>
            <a:r>
              <a:rPr lang="en-IN" sz="1800" b="0" i="0" dirty="0">
                <a:solidFill>
                  <a:srgbClr val="374151"/>
                </a:solidFill>
                <a:effectLst/>
                <a:latin typeface="__Inter_d65c78"/>
              </a:rPr>
              <a:t> </a:t>
            </a:r>
            <a:r>
              <a:rPr lang="en-IN" sz="1800" b="0" i="0" dirty="0" err="1">
                <a:solidFill>
                  <a:srgbClr val="374151"/>
                </a:solidFill>
                <a:effectLst/>
                <a:latin typeface="__Inter_d65c78"/>
              </a:rPr>
              <a:t>mein</a:t>
            </a:r>
            <a:r>
              <a:rPr lang="en-IN" sz="1800" b="0" i="0" dirty="0">
                <a:solidFill>
                  <a:srgbClr val="374151"/>
                </a:solidFill>
                <a:effectLst/>
                <a:latin typeface="__Inter_d65c78"/>
              </a:rPr>
              <a:t> </a:t>
            </a:r>
            <a:r>
              <a:rPr lang="en-IN" sz="1800" b="0" i="0" dirty="0" err="1">
                <a:solidFill>
                  <a:srgbClr val="374151"/>
                </a:solidFill>
                <a:effectLst/>
                <a:latin typeface="__Inter_d65c78"/>
              </a:rPr>
              <a:t>jyada</a:t>
            </a:r>
            <a:r>
              <a:rPr lang="en-IN" sz="1800" b="0" i="0" dirty="0">
                <a:solidFill>
                  <a:srgbClr val="374151"/>
                </a:solidFill>
                <a:effectLst/>
                <a:latin typeface="__Inter_d65c78"/>
              </a:rPr>
              <a:t> </a:t>
            </a:r>
            <a:r>
              <a:rPr lang="en-IN" sz="1800" b="0" i="0" dirty="0" err="1">
                <a:solidFill>
                  <a:srgbClr val="374151"/>
                </a:solidFill>
                <a:effectLst/>
                <a:latin typeface="__Inter_d65c78"/>
              </a:rPr>
              <a:t>mehnat</a:t>
            </a:r>
            <a:r>
              <a:rPr lang="en-IN" sz="1800" b="0" i="0" dirty="0">
                <a:solidFill>
                  <a:srgbClr val="374151"/>
                </a:solidFill>
                <a:effectLst/>
                <a:latin typeface="__Inter_d65c78"/>
              </a:rPr>
              <a:t> </a:t>
            </a:r>
            <a:r>
              <a:rPr lang="en-IN" sz="1800" b="0" i="0" dirty="0" err="1">
                <a:solidFill>
                  <a:srgbClr val="374151"/>
                </a:solidFill>
                <a:effectLst/>
                <a:latin typeface="__Inter_d65c78"/>
              </a:rPr>
              <a:t>nahi</a:t>
            </a:r>
            <a:r>
              <a:rPr lang="en-IN" sz="1800" b="0" i="0" dirty="0">
                <a:solidFill>
                  <a:srgbClr val="374151"/>
                </a:solidFill>
                <a:effectLst/>
                <a:latin typeface="__Inter_d65c78"/>
              </a:rPr>
              <a:t> </a:t>
            </a:r>
            <a:r>
              <a:rPr lang="en-IN" sz="1800" b="0" i="0" dirty="0" err="1">
                <a:solidFill>
                  <a:srgbClr val="374151"/>
                </a:solidFill>
                <a:effectLst/>
                <a:latin typeface="__Inter_d65c78"/>
              </a:rPr>
              <a:t>karni</a:t>
            </a:r>
            <a:r>
              <a:rPr lang="en-IN" sz="1800" b="0" i="0" dirty="0">
                <a:solidFill>
                  <a:srgbClr val="374151"/>
                </a:solidFill>
                <a:effectLst/>
                <a:latin typeface="__Inter_d65c78"/>
              </a:rPr>
              <a:t> </a:t>
            </a:r>
            <a:r>
              <a:rPr lang="en-IN" sz="1800" b="0" i="0" dirty="0" err="1">
                <a:solidFill>
                  <a:srgbClr val="374151"/>
                </a:solidFill>
                <a:effectLst/>
                <a:latin typeface="__Inter_d65c78"/>
              </a:rPr>
              <a:t>padegi</a:t>
            </a:r>
            <a:r>
              <a:rPr lang="en-IN" sz="1800" b="0" i="0" dirty="0">
                <a:solidFill>
                  <a:srgbClr val="374151"/>
                </a:solidFill>
                <a:effectLst/>
                <a:latin typeface="__Inter_d65c78"/>
              </a:rPr>
              <a:t>.</a:t>
            </a:r>
          </a:p>
          <a:p>
            <a:pPr algn="l">
              <a:buFont typeface="+mj-lt"/>
              <a:buAutoNum type="arabicPeriod"/>
            </a:pPr>
            <a:r>
              <a:rPr lang="en-IN" sz="1800" b="1" i="0" dirty="0">
                <a:solidFill>
                  <a:srgbClr val="374151"/>
                </a:solidFill>
                <a:effectLst/>
                <a:latin typeface="__Inter_d65c78"/>
              </a:rPr>
              <a:t>Interview Process</a:t>
            </a:r>
            <a:r>
              <a:rPr lang="en-IN" sz="1800" b="0" i="0" dirty="0">
                <a:solidFill>
                  <a:srgbClr val="374151"/>
                </a:solidFill>
                <a:effectLst/>
                <a:latin typeface="__Inter_d65c78"/>
              </a:rPr>
              <a:t>: </a:t>
            </a:r>
            <a:r>
              <a:rPr lang="en-IN" sz="1800" b="0" i="0" dirty="0" err="1">
                <a:solidFill>
                  <a:srgbClr val="374151"/>
                </a:solidFill>
                <a:effectLst/>
                <a:latin typeface="__Inter_d65c78"/>
              </a:rPr>
              <a:t>Aapka</a:t>
            </a:r>
            <a:r>
              <a:rPr lang="en-IN" sz="1800" b="0" i="0" dirty="0">
                <a:solidFill>
                  <a:srgbClr val="374151"/>
                </a:solidFill>
                <a:effectLst/>
                <a:latin typeface="__Inter_d65c78"/>
              </a:rPr>
              <a:t> team candidates ka interview </a:t>
            </a:r>
            <a:r>
              <a:rPr lang="en-IN" sz="1800" b="0" i="0" dirty="0" err="1">
                <a:solidFill>
                  <a:srgbClr val="374151"/>
                </a:solidFill>
                <a:effectLst/>
                <a:latin typeface="__Inter_d65c78"/>
              </a:rPr>
              <a:t>lega</a:t>
            </a:r>
            <a:r>
              <a:rPr lang="en-IN" sz="1800" b="0" i="0" dirty="0">
                <a:solidFill>
                  <a:srgbClr val="374151"/>
                </a:solidFill>
                <a:effectLst/>
                <a:latin typeface="__Inter_d65c78"/>
              </a:rPr>
              <a:t> aur </a:t>
            </a:r>
            <a:r>
              <a:rPr lang="en-IN" sz="1800" b="0" i="0" dirty="0" err="1">
                <a:solidFill>
                  <a:srgbClr val="374151"/>
                </a:solidFill>
                <a:effectLst/>
                <a:latin typeface="__Inter_d65c78"/>
              </a:rPr>
              <a:t>unmein</a:t>
            </a:r>
            <a:r>
              <a:rPr lang="en-IN" sz="1800" b="0" i="0" dirty="0">
                <a:solidFill>
                  <a:srgbClr val="374151"/>
                </a:solidFill>
                <a:effectLst/>
                <a:latin typeface="__Inter_d65c78"/>
              </a:rPr>
              <a:t> se best candidates ko select </a:t>
            </a:r>
            <a:r>
              <a:rPr lang="en-IN" sz="1800" b="0" i="0" dirty="0" err="1">
                <a:solidFill>
                  <a:srgbClr val="374151"/>
                </a:solidFill>
                <a:effectLst/>
                <a:latin typeface="__Inter_d65c78"/>
              </a:rPr>
              <a:t>karega</a:t>
            </a:r>
            <a:r>
              <a:rPr lang="en-IN" sz="1800" b="0" i="0" dirty="0">
                <a:solidFill>
                  <a:srgbClr val="374151"/>
                </a:solidFill>
                <a:effectLst/>
                <a:latin typeface="__Inter_d65c78"/>
              </a:rPr>
              <a:t>. Is process </a:t>
            </a:r>
            <a:r>
              <a:rPr lang="en-IN" sz="1800" b="0" i="0" dirty="0" err="1">
                <a:solidFill>
                  <a:srgbClr val="374151"/>
                </a:solidFill>
                <a:effectLst/>
                <a:latin typeface="__Inter_d65c78"/>
              </a:rPr>
              <a:t>mein</a:t>
            </a:r>
            <a:r>
              <a:rPr lang="en-IN" sz="1800" b="0" i="0" dirty="0">
                <a:solidFill>
                  <a:srgbClr val="374151"/>
                </a:solidFill>
                <a:effectLst/>
                <a:latin typeface="__Inter_d65c78"/>
              </a:rPr>
              <a:t> </a:t>
            </a:r>
            <a:r>
              <a:rPr lang="en-IN" sz="1800" b="0" i="0" dirty="0" err="1">
                <a:solidFill>
                  <a:srgbClr val="374151"/>
                </a:solidFill>
                <a:effectLst/>
                <a:latin typeface="__Inter_d65c78"/>
              </a:rPr>
              <a:t>aap</a:t>
            </a:r>
            <a:r>
              <a:rPr lang="en-IN" sz="1800" b="0" i="0" dirty="0">
                <a:solidFill>
                  <a:srgbClr val="374151"/>
                </a:solidFill>
                <a:effectLst/>
                <a:latin typeface="__Inter_d65c78"/>
              </a:rPr>
              <a:t> education </a:t>
            </a:r>
            <a:r>
              <a:rPr lang="en-IN" sz="1800" b="0" i="0" dirty="0" err="1">
                <a:solidFill>
                  <a:srgbClr val="374151"/>
                </a:solidFill>
                <a:effectLst/>
                <a:latin typeface="__Inter_d65c78"/>
              </a:rPr>
              <a:t>ke</a:t>
            </a:r>
            <a:r>
              <a:rPr lang="en-IN" sz="1800" b="0" i="0" dirty="0">
                <a:solidFill>
                  <a:srgbClr val="374151"/>
                </a:solidFill>
                <a:effectLst/>
                <a:latin typeface="__Inter_d65c78"/>
              </a:rPr>
              <a:t> </a:t>
            </a:r>
            <a:r>
              <a:rPr lang="en-IN" sz="1800" b="0" i="0" dirty="0" err="1">
                <a:solidFill>
                  <a:srgbClr val="374151"/>
                </a:solidFill>
                <a:effectLst/>
                <a:latin typeface="__Inter_d65c78"/>
              </a:rPr>
              <a:t>bajaye</a:t>
            </a:r>
            <a:r>
              <a:rPr lang="en-IN" sz="1800" b="0" i="0" dirty="0">
                <a:solidFill>
                  <a:srgbClr val="374151"/>
                </a:solidFill>
                <a:effectLst/>
                <a:latin typeface="__Inter_d65c78"/>
              </a:rPr>
              <a:t> candidates ki quality aur skills par focus </a:t>
            </a:r>
            <a:r>
              <a:rPr lang="en-IN" sz="1800" b="0" i="0" dirty="0" err="1">
                <a:solidFill>
                  <a:srgbClr val="374151"/>
                </a:solidFill>
                <a:effectLst/>
                <a:latin typeface="__Inter_d65c78"/>
              </a:rPr>
              <a:t>karenge</a:t>
            </a:r>
            <a:r>
              <a:rPr lang="en-IN" sz="1800" b="0" i="0" dirty="0">
                <a:solidFill>
                  <a:srgbClr val="374151"/>
                </a:solidFill>
                <a:effectLst/>
                <a:latin typeface="__Inter_d65c78"/>
              </a:rPr>
              <a:t>.</a:t>
            </a:r>
          </a:p>
          <a:p>
            <a:pPr algn="l">
              <a:buFont typeface="+mj-lt"/>
              <a:buAutoNum type="arabicPeriod"/>
            </a:pPr>
            <a:r>
              <a:rPr lang="en-IN" sz="1800" b="1" i="0" dirty="0">
                <a:solidFill>
                  <a:srgbClr val="374151"/>
                </a:solidFill>
                <a:effectLst/>
                <a:latin typeface="__Inter_d65c78"/>
              </a:rPr>
              <a:t>Platform ka Launch</a:t>
            </a:r>
            <a:r>
              <a:rPr lang="en-IN" sz="1800" b="0" i="0" dirty="0">
                <a:solidFill>
                  <a:srgbClr val="374151"/>
                </a:solidFill>
                <a:effectLst/>
                <a:latin typeface="__Inter_d65c78"/>
              </a:rPr>
              <a:t>: </a:t>
            </a:r>
            <a:r>
              <a:rPr lang="en-IN" sz="1800" b="0" i="0" dirty="0" err="1">
                <a:solidFill>
                  <a:srgbClr val="374151"/>
                </a:solidFill>
                <a:effectLst/>
                <a:latin typeface="__Inter_d65c78"/>
              </a:rPr>
              <a:t>Aap</a:t>
            </a:r>
            <a:r>
              <a:rPr lang="en-IN" sz="1800" b="0" i="0" dirty="0">
                <a:solidFill>
                  <a:srgbClr val="374151"/>
                </a:solidFill>
                <a:effectLst/>
                <a:latin typeface="__Inter_d65c78"/>
              </a:rPr>
              <a:t> ek app launch </a:t>
            </a:r>
            <a:r>
              <a:rPr lang="en-IN" sz="1800" b="0" i="0" dirty="0" err="1">
                <a:solidFill>
                  <a:srgbClr val="374151"/>
                </a:solidFill>
                <a:effectLst/>
                <a:latin typeface="__Inter_d65c78"/>
              </a:rPr>
              <a:t>karne</a:t>
            </a:r>
            <a:r>
              <a:rPr lang="en-IN" sz="1800" b="0" i="0" dirty="0">
                <a:solidFill>
                  <a:srgbClr val="374151"/>
                </a:solidFill>
                <a:effectLst/>
                <a:latin typeface="__Inter_d65c78"/>
              </a:rPr>
              <a:t> ka </a:t>
            </a:r>
            <a:r>
              <a:rPr lang="en-IN" sz="1800" b="0" i="0" dirty="0" err="1">
                <a:solidFill>
                  <a:srgbClr val="374151"/>
                </a:solidFill>
                <a:effectLst/>
                <a:latin typeface="__Inter_d65c78"/>
              </a:rPr>
              <a:t>soch</a:t>
            </a:r>
            <a:r>
              <a:rPr lang="en-IN" sz="1800" b="0" i="0" dirty="0">
                <a:solidFill>
                  <a:srgbClr val="374151"/>
                </a:solidFill>
                <a:effectLst/>
                <a:latin typeface="__Inter_d65c78"/>
              </a:rPr>
              <a:t> </a:t>
            </a:r>
            <a:r>
              <a:rPr lang="en-IN" sz="1800" b="0" i="0" dirty="0" err="1">
                <a:solidFill>
                  <a:srgbClr val="374151"/>
                </a:solidFill>
                <a:effectLst/>
                <a:latin typeface="__Inter_d65c78"/>
              </a:rPr>
              <a:t>rahe</a:t>
            </a:r>
            <a:r>
              <a:rPr lang="en-IN" sz="1800" b="0" i="0" dirty="0">
                <a:solidFill>
                  <a:srgbClr val="374151"/>
                </a:solidFill>
                <a:effectLst/>
                <a:latin typeface="__Inter_d65c78"/>
              </a:rPr>
              <a:t> hain </a:t>
            </a:r>
            <a:r>
              <a:rPr lang="en-IN" sz="1800" b="0" i="0" dirty="0" err="1">
                <a:solidFill>
                  <a:srgbClr val="374151"/>
                </a:solidFill>
                <a:effectLst/>
                <a:latin typeface="__Inter_d65c78"/>
              </a:rPr>
              <a:t>jahan</a:t>
            </a:r>
            <a:r>
              <a:rPr lang="en-IN" sz="1800" b="0" i="0" dirty="0">
                <a:solidFill>
                  <a:srgbClr val="374151"/>
                </a:solidFill>
                <a:effectLst/>
                <a:latin typeface="__Inter_d65c78"/>
              </a:rPr>
              <a:t> students basic platform fee </a:t>
            </a:r>
            <a:r>
              <a:rPr lang="en-IN" sz="1800" b="0" i="0" dirty="0" err="1">
                <a:solidFill>
                  <a:srgbClr val="374151"/>
                </a:solidFill>
                <a:effectLst/>
                <a:latin typeface="__Inter_d65c78"/>
              </a:rPr>
              <a:t>dekar</a:t>
            </a:r>
            <a:r>
              <a:rPr lang="en-IN" sz="1800" b="0" i="0" dirty="0">
                <a:solidFill>
                  <a:srgbClr val="374151"/>
                </a:solidFill>
                <a:effectLst/>
                <a:latin typeface="__Inter_d65c78"/>
              </a:rPr>
              <a:t> register </a:t>
            </a:r>
            <a:r>
              <a:rPr lang="en-IN" sz="1800" b="0" i="0" dirty="0" err="1">
                <a:solidFill>
                  <a:srgbClr val="374151"/>
                </a:solidFill>
                <a:effectLst/>
                <a:latin typeface="__Inter_d65c78"/>
              </a:rPr>
              <a:t>kar</a:t>
            </a:r>
            <a:r>
              <a:rPr lang="en-IN" sz="1800" b="0" i="0" dirty="0">
                <a:solidFill>
                  <a:srgbClr val="374151"/>
                </a:solidFill>
                <a:effectLst/>
                <a:latin typeface="__Inter_d65c78"/>
              </a:rPr>
              <a:t> </a:t>
            </a:r>
            <a:r>
              <a:rPr lang="en-IN" sz="1800" b="0" i="0" dirty="0" err="1">
                <a:solidFill>
                  <a:srgbClr val="374151"/>
                </a:solidFill>
                <a:effectLst/>
                <a:latin typeface="__Inter_d65c78"/>
              </a:rPr>
              <a:t>sakte</a:t>
            </a:r>
            <a:r>
              <a:rPr lang="en-IN" sz="1800" b="0" i="0" dirty="0">
                <a:solidFill>
                  <a:srgbClr val="374151"/>
                </a:solidFill>
                <a:effectLst/>
                <a:latin typeface="__Inter_d65c78"/>
              </a:rPr>
              <a:t> hain. Is app </a:t>
            </a:r>
            <a:r>
              <a:rPr lang="en-IN" sz="1800" b="0" i="0" dirty="0" err="1">
                <a:solidFill>
                  <a:srgbClr val="374151"/>
                </a:solidFill>
                <a:effectLst/>
                <a:latin typeface="__Inter_d65c78"/>
              </a:rPr>
              <a:t>ke</a:t>
            </a:r>
            <a:r>
              <a:rPr lang="en-IN" sz="1800" b="0" i="0" dirty="0">
                <a:solidFill>
                  <a:srgbClr val="374151"/>
                </a:solidFill>
                <a:effectLst/>
                <a:latin typeface="__Inter_d65c78"/>
              </a:rPr>
              <a:t> </a:t>
            </a:r>
            <a:r>
              <a:rPr lang="en-IN" sz="1800" b="0" i="0" dirty="0" err="1">
                <a:solidFill>
                  <a:srgbClr val="374151"/>
                </a:solidFill>
                <a:effectLst/>
                <a:latin typeface="__Inter_d65c78"/>
              </a:rPr>
              <a:t>madhyam</a:t>
            </a:r>
            <a:r>
              <a:rPr lang="en-IN" sz="1800" b="0" i="0" dirty="0">
                <a:solidFill>
                  <a:srgbClr val="374151"/>
                </a:solidFill>
                <a:effectLst/>
                <a:latin typeface="__Inter_d65c78"/>
              </a:rPr>
              <a:t> se wo </a:t>
            </a:r>
            <a:r>
              <a:rPr lang="en-IN" sz="1800" b="0" i="0" dirty="0" err="1">
                <a:solidFill>
                  <a:srgbClr val="374151"/>
                </a:solidFill>
                <a:effectLst/>
                <a:latin typeface="__Inter_d65c78"/>
              </a:rPr>
              <a:t>kabhi</a:t>
            </a:r>
            <a:r>
              <a:rPr lang="en-IN" sz="1800" b="0" i="0" dirty="0">
                <a:solidFill>
                  <a:srgbClr val="374151"/>
                </a:solidFill>
                <a:effectLst/>
                <a:latin typeface="__Inter_d65c78"/>
              </a:rPr>
              <a:t> </a:t>
            </a:r>
            <a:r>
              <a:rPr lang="en-IN" sz="1800" b="0" i="0" dirty="0" err="1">
                <a:solidFill>
                  <a:srgbClr val="374151"/>
                </a:solidFill>
                <a:effectLst/>
                <a:latin typeface="__Inter_d65c78"/>
              </a:rPr>
              <a:t>bhi</a:t>
            </a:r>
            <a:r>
              <a:rPr lang="en-IN" sz="1800" b="0" i="0" dirty="0">
                <a:solidFill>
                  <a:srgbClr val="374151"/>
                </a:solidFill>
                <a:effectLst/>
                <a:latin typeface="__Inter_d65c78"/>
              </a:rPr>
              <a:t> interview </a:t>
            </a:r>
            <a:r>
              <a:rPr lang="en-IN" sz="1800" b="0" i="0" dirty="0" err="1">
                <a:solidFill>
                  <a:srgbClr val="374151"/>
                </a:solidFill>
                <a:effectLst/>
                <a:latin typeface="__Inter_d65c78"/>
              </a:rPr>
              <a:t>ke</a:t>
            </a:r>
            <a:r>
              <a:rPr lang="en-IN" sz="1800" b="0" i="0" dirty="0">
                <a:solidFill>
                  <a:srgbClr val="374151"/>
                </a:solidFill>
                <a:effectLst/>
                <a:latin typeface="__Inter_d65c78"/>
              </a:rPr>
              <a:t> </a:t>
            </a:r>
            <a:r>
              <a:rPr lang="en-IN" sz="1800" b="0" i="0" dirty="0" err="1">
                <a:solidFill>
                  <a:srgbClr val="374151"/>
                </a:solidFill>
                <a:effectLst/>
                <a:latin typeface="__Inter_d65c78"/>
              </a:rPr>
              <a:t>liye</a:t>
            </a:r>
            <a:r>
              <a:rPr lang="en-IN" sz="1800" b="0" i="0" dirty="0">
                <a:solidFill>
                  <a:srgbClr val="374151"/>
                </a:solidFill>
                <a:effectLst/>
                <a:latin typeface="__Inter_d65c78"/>
              </a:rPr>
              <a:t> register </a:t>
            </a:r>
            <a:r>
              <a:rPr lang="en-IN" sz="1800" b="0" i="0" dirty="0" err="1">
                <a:solidFill>
                  <a:srgbClr val="374151"/>
                </a:solidFill>
                <a:effectLst/>
                <a:latin typeface="__Inter_d65c78"/>
              </a:rPr>
              <a:t>kar</a:t>
            </a:r>
            <a:r>
              <a:rPr lang="en-IN" sz="1800" b="0" i="0" dirty="0">
                <a:solidFill>
                  <a:srgbClr val="374151"/>
                </a:solidFill>
                <a:effectLst/>
                <a:latin typeface="__Inter_d65c78"/>
              </a:rPr>
              <a:t> </a:t>
            </a:r>
            <a:r>
              <a:rPr lang="en-IN" sz="1800" b="0" i="0" dirty="0" err="1">
                <a:solidFill>
                  <a:srgbClr val="374151"/>
                </a:solidFill>
                <a:effectLst/>
                <a:latin typeface="__Inter_d65c78"/>
              </a:rPr>
              <a:t>sakte</a:t>
            </a:r>
            <a:r>
              <a:rPr lang="en-IN" sz="1800" b="0" i="0" dirty="0">
                <a:solidFill>
                  <a:srgbClr val="374151"/>
                </a:solidFill>
                <a:effectLst/>
                <a:latin typeface="__Inter_d65c78"/>
              </a:rPr>
              <a:t> hain.</a:t>
            </a:r>
          </a:p>
          <a:p>
            <a:pPr algn="l">
              <a:buFont typeface="+mj-lt"/>
              <a:buAutoNum type="arabicPeriod"/>
            </a:pPr>
            <a:r>
              <a:rPr lang="en-IN" sz="1800" b="1" i="0" dirty="0">
                <a:solidFill>
                  <a:srgbClr val="374151"/>
                </a:solidFill>
                <a:effectLst/>
                <a:latin typeface="__Inter_d65c78"/>
              </a:rPr>
              <a:t>Time Saving for Companies</a:t>
            </a:r>
            <a:r>
              <a:rPr lang="en-IN" sz="1800" b="0" i="0" dirty="0">
                <a:solidFill>
                  <a:srgbClr val="374151"/>
                </a:solidFill>
                <a:effectLst/>
                <a:latin typeface="__Inter_d65c78"/>
              </a:rPr>
              <a:t>: </a:t>
            </a:r>
            <a:r>
              <a:rPr lang="en-IN" sz="1800" b="0" i="0" dirty="0" err="1">
                <a:solidFill>
                  <a:srgbClr val="374151"/>
                </a:solidFill>
                <a:effectLst/>
                <a:latin typeface="__Inter_d65c78"/>
              </a:rPr>
              <a:t>Aap</a:t>
            </a:r>
            <a:r>
              <a:rPr lang="en-IN" sz="1800" b="0" i="0" dirty="0">
                <a:solidFill>
                  <a:srgbClr val="374151"/>
                </a:solidFill>
                <a:effectLst/>
                <a:latin typeface="__Inter_d65c78"/>
              </a:rPr>
              <a:t> companies se </a:t>
            </a:r>
            <a:r>
              <a:rPr lang="en-IN" sz="1800" b="0" i="0" dirty="0" err="1">
                <a:solidFill>
                  <a:srgbClr val="374151"/>
                </a:solidFill>
                <a:effectLst/>
                <a:latin typeface="__Inter_d65c78"/>
              </a:rPr>
              <a:t>unka</a:t>
            </a:r>
            <a:r>
              <a:rPr lang="en-IN" sz="1800" b="0" i="0" dirty="0">
                <a:solidFill>
                  <a:srgbClr val="374151"/>
                </a:solidFill>
                <a:effectLst/>
                <a:latin typeface="__Inter_d65c78"/>
              </a:rPr>
              <a:t> </a:t>
            </a:r>
            <a:r>
              <a:rPr lang="en-IN" sz="1800" b="0" i="0" dirty="0" err="1">
                <a:solidFill>
                  <a:srgbClr val="374151"/>
                </a:solidFill>
                <a:effectLst/>
                <a:latin typeface="__Inter_d65c78"/>
              </a:rPr>
              <a:t>samay</a:t>
            </a:r>
            <a:r>
              <a:rPr lang="en-IN" sz="1800" b="0" i="0" dirty="0">
                <a:solidFill>
                  <a:srgbClr val="374151"/>
                </a:solidFill>
                <a:effectLst/>
                <a:latin typeface="__Inter_d65c78"/>
              </a:rPr>
              <a:t> </a:t>
            </a:r>
            <a:r>
              <a:rPr lang="en-IN" sz="1800" b="0" i="0" dirty="0" err="1">
                <a:solidFill>
                  <a:srgbClr val="374151"/>
                </a:solidFill>
                <a:effectLst/>
                <a:latin typeface="__Inter_d65c78"/>
              </a:rPr>
              <a:t>bachane</a:t>
            </a:r>
            <a:r>
              <a:rPr lang="en-IN" sz="1800" b="0" i="0" dirty="0">
                <a:solidFill>
                  <a:srgbClr val="374151"/>
                </a:solidFill>
                <a:effectLst/>
                <a:latin typeface="__Inter_d65c78"/>
              </a:rPr>
              <a:t> </a:t>
            </a:r>
            <a:r>
              <a:rPr lang="en-IN" sz="1800" b="0" i="0" dirty="0" err="1">
                <a:solidFill>
                  <a:srgbClr val="374151"/>
                </a:solidFill>
                <a:effectLst/>
                <a:latin typeface="__Inter_d65c78"/>
              </a:rPr>
              <a:t>ke</a:t>
            </a:r>
            <a:r>
              <a:rPr lang="en-IN" sz="1800" b="0" i="0" dirty="0">
                <a:solidFill>
                  <a:srgbClr val="374151"/>
                </a:solidFill>
                <a:effectLst/>
                <a:latin typeface="__Inter_d65c78"/>
              </a:rPr>
              <a:t> </a:t>
            </a:r>
            <a:r>
              <a:rPr lang="en-IN" sz="1800" b="0" i="0" dirty="0" err="1">
                <a:solidFill>
                  <a:srgbClr val="374151"/>
                </a:solidFill>
                <a:effectLst/>
                <a:latin typeface="__Inter_d65c78"/>
              </a:rPr>
              <a:t>liye</a:t>
            </a:r>
            <a:r>
              <a:rPr lang="en-IN" sz="1800" b="0" i="0" dirty="0">
                <a:solidFill>
                  <a:srgbClr val="374151"/>
                </a:solidFill>
                <a:effectLst/>
                <a:latin typeface="__Inter_d65c78"/>
              </a:rPr>
              <a:t> paisa charge </a:t>
            </a:r>
            <a:r>
              <a:rPr lang="en-IN" sz="1800" b="0" i="0" dirty="0" err="1">
                <a:solidFill>
                  <a:srgbClr val="374151"/>
                </a:solidFill>
                <a:effectLst/>
                <a:latin typeface="__Inter_d65c78"/>
              </a:rPr>
              <a:t>karenge</a:t>
            </a:r>
            <a:r>
              <a:rPr lang="en-IN" sz="1800" b="0" i="0" dirty="0">
                <a:solidFill>
                  <a:srgbClr val="374151"/>
                </a:solidFill>
                <a:effectLst/>
                <a:latin typeface="__Inter_d65c78"/>
              </a:rPr>
              <a:t>, </a:t>
            </a:r>
            <a:r>
              <a:rPr lang="en-IN" sz="1800" b="0" i="0" dirty="0" err="1">
                <a:solidFill>
                  <a:srgbClr val="374151"/>
                </a:solidFill>
                <a:effectLst/>
                <a:latin typeface="__Inter_d65c78"/>
              </a:rPr>
              <a:t>kyunki</a:t>
            </a:r>
            <a:r>
              <a:rPr lang="en-IN" sz="1800" b="0" i="0" dirty="0">
                <a:solidFill>
                  <a:srgbClr val="374151"/>
                </a:solidFill>
                <a:effectLst/>
                <a:latin typeface="__Inter_d65c78"/>
              </a:rPr>
              <a:t> </a:t>
            </a:r>
            <a:r>
              <a:rPr lang="en-IN" sz="1800" b="0" i="0" dirty="0" err="1">
                <a:solidFill>
                  <a:srgbClr val="374151"/>
                </a:solidFill>
                <a:effectLst/>
                <a:latin typeface="__Inter_d65c78"/>
              </a:rPr>
              <a:t>aap</a:t>
            </a:r>
            <a:r>
              <a:rPr lang="en-IN" sz="1800" b="0" i="0" dirty="0">
                <a:solidFill>
                  <a:srgbClr val="374151"/>
                </a:solidFill>
                <a:effectLst/>
                <a:latin typeface="__Inter_d65c78"/>
              </a:rPr>
              <a:t> </a:t>
            </a:r>
            <a:r>
              <a:rPr lang="en-IN" sz="1800" b="0" i="0" dirty="0" err="1">
                <a:solidFill>
                  <a:srgbClr val="374151"/>
                </a:solidFill>
                <a:effectLst/>
                <a:latin typeface="__Inter_d65c78"/>
              </a:rPr>
              <a:t>unhe</a:t>
            </a:r>
            <a:r>
              <a:rPr lang="en-IN" sz="1800" b="0" i="0" dirty="0">
                <a:solidFill>
                  <a:srgbClr val="374151"/>
                </a:solidFill>
                <a:effectLst/>
                <a:latin typeface="__Inter_d65c78"/>
              </a:rPr>
              <a:t> already qualified candidates provide </a:t>
            </a:r>
            <a:r>
              <a:rPr lang="en-IN" sz="1800" b="0" i="0" dirty="0" err="1">
                <a:solidFill>
                  <a:srgbClr val="374151"/>
                </a:solidFill>
                <a:effectLst/>
                <a:latin typeface="__Inter_d65c78"/>
              </a:rPr>
              <a:t>karenge</a:t>
            </a:r>
            <a:r>
              <a:rPr lang="en-IN" sz="1800" b="0" i="0" dirty="0">
                <a:solidFill>
                  <a:srgbClr val="374151"/>
                </a:solidFill>
                <a:effectLst/>
                <a:latin typeface="__Inter_d65c78"/>
              </a:rPr>
              <a:t>.</a:t>
            </a:r>
          </a:p>
        </p:txBody>
      </p:sp>
      <p:sp>
        <p:nvSpPr>
          <p:cNvPr id="5" name="TextBox 4">
            <a:extLst>
              <a:ext uri="{FF2B5EF4-FFF2-40B4-BE49-F238E27FC236}">
                <a16:creationId xmlns:a16="http://schemas.microsoft.com/office/drawing/2014/main" id="{1474809B-0730-2FD1-9D62-878BE9D124E9}"/>
              </a:ext>
            </a:extLst>
          </p:cNvPr>
          <p:cNvSpPr txBox="1"/>
          <p:nvPr/>
        </p:nvSpPr>
        <p:spPr>
          <a:xfrm>
            <a:off x="6184784" y="889843"/>
            <a:ext cx="5652083" cy="5078313"/>
          </a:xfrm>
          <a:prstGeom prst="rect">
            <a:avLst/>
          </a:prstGeom>
          <a:noFill/>
        </p:spPr>
        <p:txBody>
          <a:bodyPr wrap="square">
            <a:spAutoFit/>
          </a:bodyPr>
          <a:lstStyle/>
          <a:p>
            <a:pPr algn="l"/>
            <a:r>
              <a:rPr lang="en-IN" sz="1800" b="1" i="0" u="sng" dirty="0">
                <a:solidFill>
                  <a:srgbClr val="FF0000"/>
                </a:solidFill>
                <a:effectLst/>
                <a:latin typeface="__Inter_d65c78"/>
              </a:rPr>
              <a:t>Is Idea </a:t>
            </a:r>
            <a:r>
              <a:rPr lang="en-IN" sz="1800" b="1" i="0" u="sng" dirty="0" err="1">
                <a:solidFill>
                  <a:srgbClr val="FF0000"/>
                </a:solidFill>
                <a:effectLst/>
                <a:latin typeface="__Inter_d65c78"/>
              </a:rPr>
              <a:t>ke</a:t>
            </a:r>
            <a:r>
              <a:rPr lang="en-IN" sz="1800" b="1" i="0" u="sng" dirty="0">
                <a:solidFill>
                  <a:srgbClr val="FF0000"/>
                </a:solidFill>
                <a:effectLst/>
                <a:latin typeface="__Inter_d65c78"/>
              </a:rPr>
              <a:t> </a:t>
            </a:r>
            <a:r>
              <a:rPr lang="en-IN" sz="1800" b="1" i="0" u="sng" dirty="0" err="1">
                <a:solidFill>
                  <a:srgbClr val="FF0000"/>
                </a:solidFill>
                <a:effectLst/>
                <a:latin typeface="__Inter_d65c78"/>
              </a:rPr>
              <a:t>Labh</a:t>
            </a:r>
            <a:r>
              <a:rPr lang="en-IN" sz="1800" b="1" i="0" u="sng" dirty="0">
                <a:solidFill>
                  <a:srgbClr val="FF0000"/>
                </a:solidFill>
                <a:effectLst/>
                <a:latin typeface="__Inter_d65c78"/>
              </a:rPr>
              <a:t>:</a:t>
            </a:r>
          </a:p>
          <a:p>
            <a:pPr algn="l">
              <a:buFont typeface="Arial" panose="020B0604020202020204" pitchFamily="34" charset="0"/>
              <a:buChar char="•"/>
            </a:pPr>
            <a:r>
              <a:rPr lang="en-IN" sz="1800" b="1" i="0" dirty="0">
                <a:solidFill>
                  <a:srgbClr val="374151"/>
                </a:solidFill>
                <a:effectLst/>
                <a:latin typeface="__Inter_d65c78"/>
              </a:rPr>
              <a:t>Candidates </a:t>
            </a:r>
            <a:r>
              <a:rPr lang="en-IN" sz="1800" b="1" i="0" dirty="0" err="1">
                <a:solidFill>
                  <a:srgbClr val="374151"/>
                </a:solidFill>
                <a:effectLst/>
                <a:latin typeface="__Inter_d65c78"/>
              </a:rPr>
              <a:t>ke</a:t>
            </a:r>
            <a:r>
              <a:rPr lang="en-IN" sz="1800" b="1" i="0" dirty="0">
                <a:solidFill>
                  <a:srgbClr val="374151"/>
                </a:solidFill>
                <a:effectLst/>
                <a:latin typeface="__Inter_d65c78"/>
              </a:rPr>
              <a:t> </a:t>
            </a:r>
            <a:r>
              <a:rPr lang="en-IN" sz="1800" b="1" i="0" dirty="0" err="1">
                <a:solidFill>
                  <a:srgbClr val="374151"/>
                </a:solidFill>
                <a:effectLst/>
                <a:latin typeface="__Inter_d65c78"/>
              </a:rPr>
              <a:t>liye</a:t>
            </a:r>
            <a:r>
              <a:rPr lang="en-IN" sz="1800" b="0" i="0" dirty="0">
                <a:solidFill>
                  <a:srgbClr val="374151"/>
                </a:solidFill>
                <a:effectLst/>
                <a:latin typeface="__Inter_d65c78"/>
              </a:rPr>
              <a:t>: </a:t>
            </a:r>
            <a:r>
              <a:rPr lang="en-IN" sz="1800" b="0" i="0" dirty="0" err="1">
                <a:solidFill>
                  <a:srgbClr val="374151"/>
                </a:solidFill>
                <a:effectLst/>
                <a:latin typeface="__Inter_d65c78"/>
              </a:rPr>
              <a:t>Unhe</a:t>
            </a:r>
            <a:r>
              <a:rPr lang="en-IN" sz="1800" b="0" i="0" dirty="0">
                <a:solidFill>
                  <a:srgbClr val="374151"/>
                </a:solidFill>
                <a:effectLst/>
                <a:latin typeface="__Inter_d65c78"/>
              </a:rPr>
              <a:t> ek centralized platform </a:t>
            </a:r>
            <a:r>
              <a:rPr lang="en-IN" sz="1800" b="0" i="0" dirty="0" err="1">
                <a:solidFill>
                  <a:srgbClr val="374151"/>
                </a:solidFill>
                <a:effectLst/>
                <a:latin typeface="__Inter_d65c78"/>
              </a:rPr>
              <a:t>milega</a:t>
            </a:r>
            <a:r>
              <a:rPr lang="en-IN" sz="1800" b="0" i="0" dirty="0">
                <a:solidFill>
                  <a:srgbClr val="374151"/>
                </a:solidFill>
                <a:effectLst/>
                <a:latin typeface="__Inter_d65c78"/>
              </a:rPr>
              <a:t> </a:t>
            </a:r>
            <a:r>
              <a:rPr lang="en-IN" sz="1800" b="0" i="0" dirty="0" err="1">
                <a:solidFill>
                  <a:srgbClr val="374151"/>
                </a:solidFill>
                <a:effectLst/>
                <a:latin typeface="__Inter_d65c78"/>
              </a:rPr>
              <a:t>jahan</a:t>
            </a:r>
            <a:r>
              <a:rPr lang="en-IN" sz="1800" b="0" i="0" dirty="0">
                <a:solidFill>
                  <a:srgbClr val="374151"/>
                </a:solidFill>
                <a:effectLst/>
                <a:latin typeface="__Inter_d65c78"/>
              </a:rPr>
              <a:t> wo </a:t>
            </a:r>
            <a:r>
              <a:rPr lang="en-IN" sz="1800" b="0" i="0" dirty="0" err="1">
                <a:solidFill>
                  <a:srgbClr val="374151"/>
                </a:solidFill>
                <a:effectLst/>
                <a:latin typeface="__Inter_d65c78"/>
              </a:rPr>
              <a:t>apne</a:t>
            </a:r>
            <a:r>
              <a:rPr lang="en-IN" sz="1800" b="0" i="0" dirty="0">
                <a:solidFill>
                  <a:srgbClr val="374151"/>
                </a:solidFill>
                <a:effectLst/>
                <a:latin typeface="__Inter_d65c78"/>
              </a:rPr>
              <a:t> skills </a:t>
            </a:r>
            <a:r>
              <a:rPr lang="en-IN" sz="1800" b="0" i="0" dirty="0" err="1">
                <a:solidFill>
                  <a:srgbClr val="374151"/>
                </a:solidFill>
                <a:effectLst/>
                <a:latin typeface="__Inter_d65c78"/>
              </a:rPr>
              <a:t>ke</a:t>
            </a:r>
            <a:r>
              <a:rPr lang="en-IN" sz="1800" b="0" i="0" dirty="0">
                <a:solidFill>
                  <a:srgbClr val="374151"/>
                </a:solidFill>
                <a:effectLst/>
                <a:latin typeface="__Inter_d65c78"/>
              </a:rPr>
              <a:t> </a:t>
            </a:r>
            <a:r>
              <a:rPr lang="en-IN" sz="1800" b="0" i="0" dirty="0" err="1">
                <a:solidFill>
                  <a:srgbClr val="374151"/>
                </a:solidFill>
                <a:effectLst/>
                <a:latin typeface="__Inter_d65c78"/>
              </a:rPr>
              <a:t>hisaab</a:t>
            </a:r>
            <a:r>
              <a:rPr lang="en-IN" sz="1800" b="0" i="0" dirty="0">
                <a:solidFill>
                  <a:srgbClr val="374151"/>
                </a:solidFill>
                <a:effectLst/>
                <a:latin typeface="__Inter_d65c78"/>
              </a:rPr>
              <a:t> se interview </a:t>
            </a:r>
            <a:r>
              <a:rPr lang="en-IN" sz="1800" b="0" i="0" dirty="0" err="1">
                <a:solidFill>
                  <a:srgbClr val="374151"/>
                </a:solidFill>
                <a:effectLst/>
                <a:latin typeface="__Inter_d65c78"/>
              </a:rPr>
              <a:t>ke</a:t>
            </a:r>
            <a:r>
              <a:rPr lang="en-IN" sz="1800" b="0" i="0" dirty="0">
                <a:solidFill>
                  <a:srgbClr val="374151"/>
                </a:solidFill>
                <a:effectLst/>
                <a:latin typeface="__Inter_d65c78"/>
              </a:rPr>
              <a:t> </a:t>
            </a:r>
            <a:r>
              <a:rPr lang="en-IN" sz="1800" b="0" i="0" dirty="0" err="1">
                <a:solidFill>
                  <a:srgbClr val="374151"/>
                </a:solidFill>
                <a:effectLst/>
                <a:latin typeface="__Inter_d65c78"/>
              </a:rPr>
              <a:t>liye</a:t>
            </a:r>
            <a:r>
              <a:rPr lang="en-IN" sz="1800" b="0" i="0" dirty="0">
                <a:solidFill>
                  <a:srgbClr val="374151"/>
                </a:solidFill>
                <a:effectLst/>
                <a:latin typeface="__Inter_d65c78"/>
              </a:rPr>
              <a:t> apply </a:t>
            </a:r>
            <a:r>
              <a:rPr lang="en-IN" sz="1800" b="0" i="0" dirty="0" err="1">
                <a:solidFill>
                  <a:srgbClr val="374151"/>
                </a:solidFill>
                <a:effectLst/>
                <a:latin typeface="__Inter_d65c78"/>
              </a:rPr>
              <a:t>kar</a:t>
            </a:r>
            <a:r>
              <a:rPr lang="en-IN" sz="1800" b="0" i="0" dirty="0">
                <a:solidFill>
                  <a:srgbClr val="374151"/>
                </a:solidFill>
                <a:effectLst/>
                <a:latin typeface="__Inter_d65c78"/>
              </a:rPr>
              <a:t> </a:t>
            </a:r>
            <a:r>
              <a:rPr lang="en-IN" sz="1800" b="0" i="0" dirty="0" err="1">
                <a:solidFill>
                  <a:srgbClr val="374151"/>
                </a:solidFill>
                <a:effectLst/>
                <a:latin typeface="__Inter_d65c78"/>
              </a:rPr>
              <a:t>sakte</a:t>
            </a:r>
            <a:r>
              <a:rPr lang="en-IN" sz="1800" b="0" i="0" dirty="0">
                <a:solidFill>
                  <a:srgbClr val="374151"/>
                </a:solidFill>
                <a:effectLst/>
                <a:latin typeface="__Inter_d65c78"/>
              </a:rPr>
              <a:t> hain.</a:t>
            </a:r>
          </a:p>
          <a:p>
            <a:pPr algn="l">
              <a:buFont typeface="Arial" panose="020B0604020202020204" pitchFamily="34" charset="0"/>
              <a:buChar char="•"/>
            </a:pPr>
            <a:r>
              <a:rPr lang="en-IN" sz="1800" b="1" i="0" dirty="0">
                <a:solidFill>
                  <a:srgbClr val="374151"/>
                </a:solidFill>
                <a:effectLst/>
                <a:latin typeface="__Inter_d65c78"/>
              </a:rPr>
              <a:t>Companies </a:t>
            </a:r>
            <a:r>
              <a:rPr lang="en-IN" sz="1800" b="1" i="0" dirty="0" err="1">
                <a:solidFill>
                  <a:srgbClr val="374151"/>
                </a:solidFill>
                <a:effectLst/>
                <a:latin typeface="__Inter_d65c78"/>
              </a:rPr>
              <a:t>ke</a:t>
            </a:r>
            <a:r>
              <a:rPr lang="en-IN" sz="1800" b="1" i="0" dirty="0">
                <a:solidFill>
                  <a:srgbClr val="374151"/>
                </a:solidFill>
                <a:effectLst/>
                <a:latin typeface="__Inter_d65c78"/>
              </a:rPr>
              <a:t> </a:t>
            </a:r>
            <a:r>
              <a:rPr lang="en-IN" sz="1800" b="1" i="0" dirty="0" err="1">
                <a:solidFill>
                  <a:srgbClr val="374151"/>
                </a:solidFill>
                <a:effectLst/>
                <a:latin typeface="__Inter_d65c78"/>
              </a:rPr>
              <a:t>liye</a:t>
            </a:r>
            <a:r>
              <a:rPr lang="en-IN" sz="1800" b="0" i="0" dirty="0">
                <a:solidFill>
                  <a:srgbClr val="374151"/>
                </a:solidFill>
                <a:effectLst/>
                <a:latin typeface="__Inter_d65c78"/>
              </a:rPr>
              <a:t>: </a:t>
            </a:r>
            <a:r>
              <a:rPr lang="en-IN" sz="1800" b="0" i="0" dirty="0" err="1">
                <a:solidFill>
                  <a:srgbClr val="374151"/>
                </a:solidFill>
                <a:effectLst/>
                <a:latin typeface="__Inter_d65c78"/>
              </a:rPr>
              <a:t>Unhe</a:t>
            </a:r>
            <a:r>
              <a:rPr lang="en-IN" sz="1800" b="0" i="0" dirty="0">
                <a:solidFill>
                  <a:srgbClr val="374151"/>
                </a:solidFill>
                <a:effectLst/>
                <a:latin typeface="__Inter_d65c78"/>
              </a:rPr>
              <a:t> qualified candidates </a:t>
            </a:r>
            <a:r>
              <a:rPr lang="en-IN" sz="1800" b="0" i="0" dirty="0" err="1">
                <a:solidFill>
                  <a:srgbClr val="374151"/>
                </a:solidFill>
                <a:effectLst/>
                <a:latin typeface="__Inter_d65c78"/>
              </a:rPr>
              <a:t>milenge</a:t>
            </a:r>
            <a:r>
              <a:rPr lang="en-IN" sz="1800" b="0" i="0" dirty="0">
                <a:solidFill>
                  <a:srgbClr val="374151"/>
                </a:solidFill>
                <a:effectLst/>
                <a:latin typeface="__Inter_d65c78"/>
              </a:rPr>
              <a:t> </a:t>
            </a:r>
            <a:r>
              <a:rPr lang="en-IN" sz="1800" b="0" i="0" dirty="0" err="1">
                <a:solidFill>
                  <a:srgbClr val="374151"/>
                </a:solidFill>
                <a:effectLst/>
                <a:latin typeface="__Inter_d65c78"/>
              </a:rPr>
              <a:t>bina</a:t>
            </a:r>
            <a:r>
              <a:rPr lang="en-IN" sz="1800" b="0" i="0" dirty="0">
                <a:solidFill>
                  <a:srgbClr val="374151"/>
                </a:solidFill>
                <a:effectLst/>
                <a:latin typeface="__Inter_d65c78"/>
              </a:rPr>
              <a:t> </a:t>
            </a:r>
            <a:r>
              <a:rPr lang="en-IN" sz="1800" b="0" i="0" dirty="0" err="1">
                <a:solidFill>
                  <a:srgbClr val="374151"/>
                </a:solidFill>
                <a:effectLst/>
                <a:latin typeface="__Inter_d65c78"/>
              </a:rPr>
              <a:t>kisi</a:t>
            </a:r>
            <a:r>
              <a:rPr lang="en-IN" sz="1800" b="0" i="0" dirty="0">
                <a:solidFill>
                  <a:srgbClr val="374151"/>
                </a:solidFill>
                <a:effectLst/>
                <a:latin typeface="__Inter_d65c78"/>
              </a:rPr>
              <a:t> extra effort </a:t>
            </a:r>
            <a:r>
              <a:rPr lang="en-IN" sz="1800" b="0" i="0" dirty="0" err="1">
                <a:solidFill>
                  <a:srgbClr val="374151"/>
                </a:solidFill>
                <a:effectLst/>
                <a:latin typeface="__Inter_d65c78"/>
              </a:rPr>
              <a:t>ke</a:t>
            </a:r>
            <a:r>
              <a:rPr lang="en-IN" sz="1800" b="0" i="0" dirty="0">
                <a:solidFill>
                  <a:srgbClr val="374151"/>
                </a:solidFill>
                <a:effectLst/>
                <a:latin typeface="__Inter_d65c78"/>
              </a:rPr>
              <a:t>, jo </a:t>
            </a:r>
            <a:r>
              <a:rPr lang="en-IN" sz="1800" b="0" i="0" dirty="0" err="1">
                <a:solidFill>
                  <a:srgbClr val="374151"/>
                </a:solidFill>
                <a:effectLst/>
                <a:latin typeface="__Inter_d65c78"/>
              </a:rPr>
              <a:t>unke</a:t>
            </a:r>
            <a:r>
              <a:rPr lang="en-IN" sz="1800" b="0" i="0" dirty="0">
                <a:solidFill>
                  <a:srgbClr val="374151"/>
                </a:solidFill>
                <a:effectLst/>
                <a:latin typeface="__Inter_d65c78"/>
              </a:rPr>
              <a:t> </a:t>
            </a:r>
            <a:r>
              <a:rPr lang="en-IN" sz="1800" b="0" i="0" dirty="0" err="1">
                <a:solidFill>
                  <a:srgbClr val="374151"/>
                </a:solidFill>
                <a:effectLst/>
                <a:latin typeface="__Inter_d65c78"/>
              </a:rPr>
              <a:t>liye</a:t>
            </a:r>
            <a:r>
              <a:rPr lang="en-IN" sz="1800" b="0" i="0" dirty="0">
                <a:solidFill>
                  <a:srgbClr val="374151"/>
                </a:solidFill>
                <a:effectLst/>
                <a:latin typeface="__Inter_d65c78"/>
              </a:rPr>
              <a:t> time-saving </a:t>
            </a:r>
            <a:r>
              <a:rPr lang="en-IN" sz="1800" b="0" i="0" dirty="0" err="1">
                <a:solidFill>
                  <a:srgbClr val="374151"/>
                </a:solidFill>
                <a:effectLst/>
                <a:latin typeface="__Inter_d65c78"/>
              </a:rPr>
              <a:t>hoga</a:t>
            </a:r>
            <a:r>
              <a:rPr lang="en-IN" sz="1800" b="0" i="0" dirty="0">
                <a:solidFill>
                  <a:srgbClr val="374151"/>
                </a:solidFill>
                <a:effectLst/>
                <a:latin typeface="__Inter_d65c78"/>
              </a:rPr>
              <a:t>.</a:t>
            </a:r>
          </a:p>
          <a:p>
            <a:pPr algn="l">
              <a:buFont typeface="Arial" panose="020B0604020202020204" pitchFamily="34" charset="0"/>
              <a:buChar char="•"/>
            </a:pPr>
            <a:r>
              <a:rPr lang="en-IN" sz="1800" b="1" i="0" dirty="0" err="1">
                <a:solidFill>
                  <a:srgbClr val="374151"/>
                </a:solidFill>
                <a:effectLst/>
                <a:latin typeface="__Inter_d65c78"/>
              </a:rPr>
              <a:t>Aapke</a:t>
            </a:r>
            <a:r>
              <a:rPr lang="en-IN" sz="1800" b="1" i="0" dirty="0">
                <a:solidFill>
                  <a:srgbClr val="374151"/>
                </a:solidFill>
                <a:effectLst/>
                <a:latin typeface="__Inter_d65c78"/>
              </a:rPr>
              <a:t> </a:t>
            </a:r>
            <a:r>
              <a:rPr lang="en-IN" sz="1800" b="1" i="0" dirty="0" err="1">
                <a:solidFill>
                  <a:srgbClr val="374151"/>
                </a:solidFill>
                <a:effectLst/>
                <a:latin typeface="__Inter_d65c78"/>
              </a:rPr>
              <a:t>liye</a:t>
            </a:r>
            <a:r>
              <a:rPr lang="en-IN" sz="1800" b="0" i="0" dirty="0">
                <a:solidFill>
                  <a:srgbClr val="374151"/>
                </a:solidFill>
                <a:effectLst/>
                <a:latin typeface="__Inter_d65c78"/>
              </a:rPr>
              <a:t>: </a:t>
            </a:r>
            <a:r>
              <a:rPr lang="en-IN" sz="1800" b="0" i="0" dirty="0" err="1">
                <a:solidFill>
                  <a:srgbClr val="374151"/>
                </a:solidFill>
                <a:effectLst/>
                <a:latin typeface="__Inter_d65c78"/>
              </a:rPr>
              <a:t>Aap</a:t>
            </a:r>
            <a:r>
              <a:rPr lang="en-IN" sz="1800" b="0" i="0" dirty="0">
                <a:solidFill>
                  <a:srgbClr val="374151"/>
                </a:solidFill>
                <a:effectLst/>
                <a:latin typeface="__Inter_d65c78"/>
              </a:rPr>
              <a:t> ek business model </a:t>
            </a:r>
            <a:r>
              <a:rPr lang="en-IN" sz="1800" b="0" i="0" dirty="0" err="1">
                <a:solidFill>
                  <a:srgbClr val="374151"/>
                </a:solidFill>
                <a:effectLst/>
                <a:latin typeface="__Inter_d65c78"/>
              </a:rPr>
              <a:t>tayar</a:t>
            </a:r>
            <a:r>
              <a:rPr lang="en-IN" sz="1800" b="0" i="0" dirty="0">
                <a:solidFill>
                  <a:srgbClr val="374151"/>
                </a:solidFill>
                <a:effectLst/>
                <a:latin typeface="__Inter_d65c78"/>
              </a:rPr>
              <a:t> </a:t>
            </a:r>
            <a:r>
              <a:rPr lang="en-IN" sz="1800" b="0" i="0" dirty="0" err="1">
                <a:solidFill>
                  <a:srgbClr val="374151"/>
                </a:solidFill>
                <a:effectLst/>
                <a:latin typeface="__Inter_d65c78"/>
              </a:rPr>
              <a:t>kar</a:t>
            </a:r>
            <a:r>
              <a:rPr lang="en-IN" sz="1800" b="0" i="0" dirty="0">
                <a:solidFill>
                  <a:srgbClr val="374151"/>
                </a:solidFill>
                <a:effectLst/>
                <a:latin typeface="__Inter_d65c78"/>
              </a:rPr>
              <a:t> </a:t>
            </a:r>
            <a:r>
              <a:rPr lang="en-IN" sz="1800" b="0" i="0" dirty="0" err="1">
                <a:solidFill>
                  <a:srgbClr val="374151"/>
                </a:solidFill>
                <a:effectLst/>
                <a:latin typeface="__Inter_d65c78"/>
              </a:rPr>
              <a:t>rahe</a:t>
            </a:r>
            <a:r>
              <a:rPr lang="en-IN" sz="1800" b="0" i="0" dirty="0">
                <a:solidFill>
                  <a:srgbClr val="374151"/>
                </a:solidFill>
                <a:effectLst/>
                <a:latin typeface="__Inter_d65c78"/>
              </a:rPr>
              <a:t> hain </a:t>
            </a:r>
            <a:r>
              <a:rPr lang="en-IN" sz="1800" b="0" i="0" dirty="0" err="1">
                <a:solidFill>
                  <a:srgbClr val="374151"/>
                </a:solidFill>
                <a:effectLst/>
                <a:latin typeface="__Inter_d65c78"/>
              </a:rPr>
              <a:t>jisse</a:t>
            </a:r>
            <a:r>
              <a:rPr lang="en-IN" sz="1800" b="0" i="0" dirty="0">
                <a:solidFill>
                  <a:srgbClr val="374151"/>
                </a:solidFill>
                <a:effectLst/>
                <a:latin typeface="__Inter_d65c78"/>
              </a:rPr>
              <a:t> </a:t>
            </a:r>
            <a:r>
              <a:rPr lang="en-IN" sz="1800" b="0" i="0" dirty="0" err="1">
                <a:solidFill>
                  <a:srgbClr val="374151"/>
                </a:solidFill>
                <a:effectLst/>
                <a:latin typeface="__Inter_d65c78"/>
              </a:rPr>
              <a:t>aapko</a:t>
            </a:r>
            <a:r>
              <a:rPr lang="en-IN" sz="1800" b="0" i="0" dirty="0">
                <a:solidFill>
                  <a:srgbClr val="374151"/>
                </a:solidFill>
                <a:effectLst/>
                <a:latin typeface="__Inter_d65c78"/>
              </a:rPr>
              <a:t> revenue generate </a:t>
            </a:r>
            <a:r>
              <a:rPr lang="en-IN" sz="1800" b="0" i="0" dirty="0" err="1">
                <a:solidFill>
                  <a:srgbClr val="374151"/>
                </a:solidFill>
                <a:effectLst/>
                <a:latin typeface="__Inter_d65c78"/>
              </a:rPr>
              <a:t>karne</a:t>
            </a:r>
            <a:r>
              <a:rPr lang="en-IN" sz="1800" b="0" i="0" dirty="0">
                <a:solidFill>
                  <a:srgbClr val="374151"/>
                </a:solidFill>
                <a:effectLst/>
                <a:latin typeface="__Inter_d65c78"/>
              </a:rPr>
              <a:t> ka mauka </a:t>
            </a:r>
            <a:r>
              <a:rPr lang="en-IN" sz="1800" b="0" i="0" dirty="0" err="1">
                <a:solidFill>
                  <a:srgbClr val="374151"/>
                </a:solidFill>
                <a:effectLst/>
                <a:latin typeface="__Inter_d65c78"/>
              </a:rPr>
              <a:t>milega</a:t>
            </a:r>
            <a:r>
              <a:rPr lang="en-IN" sz="1800" b="0" i="0" dirty="0">
                <a:solidFill>
                  <a:srgbClr val="374151"/>
                </a:solidFill>
                <a:effectLst/>
                <a:latin typeface="__Inter_d65c78"/>
              </a:rPr>
              <a:t>.</a:t>
            </a:r>
          </a:p>
          <a:p>
            <a:pPr algn="l"/>
            <a:r>
              <a:rPr lang="en-IN" sz="1800" b="1" i="0" u="sng" dirty="0">
                <a:solidFill>
                  <a:srgbClr val="FF0000"/>
                </a:solidFill>
                <a:effectLst/>
                <a:latin typeface="__Inter_d65c78"/>
              </a:rPr>
              <a:t>Conclusion:</a:t>
            </a:r>
          </a:p>
          <a:p>
            <a:pPr algn="l"/>
            <a:r>
              <a:rPr lang="en-IN" sz="1800" b="0" i="0" dirty="0" err="1">
                <a:solidFill>
                  <a:srgbClr val="374151"/>
                </a:solidFill>
                <a:effectLst/>
                <a:latin typeface="__Inter_d65c78"/>
              </a:rPr>
              <a:t>Aapka</a:t>
            </a:r>
            <a:r>
              <a:rPr lang="en-IN" sz="1800" b="0" i="0" dirty="0">
                <a:solidFill>
                  <a:srgbClr val="374151"/>
                </a:solidFill>
                <a:effectLst/>
                <a:latin typeface="__Inter_d65c78"/>
              </a:rPr>
              <a:t> idea ek innovative recruitment solution </a:t>
            </a:r>
            <a:r>
              <a:rPr lang="en-IN" sz="1800" b="0" i="0" dirty="0" err="1">
                <a:solidFill>
                  <a:srgbClr val="374151"/>
                </a:solidFill>
                <a:effectLst/>
                <a:latin typeface="__Inter_d65c78"/>
              </a:rPr>
              <a:t>pradan</a:t>
            </a:r>
            <a:r>
              <a:rPr lang="en-IN" sz="1800" b="0" i="0" dirty="0">
                <a:solidFill>
                  <a:srgbClr val="374151"/>
                </a:solidFill>
                <a:effectLst/>
                <a:latin typeface="__Inter_d65c78"/>
              </a:rPr>
              <a:t> </a:t>
            </a:r>
            <a:r>
              <a:rPr lang="en-IN" sz="1800" b="0" i="0" dirty="0" err="1">
                <a:solidFill>
                  <a:srgbClr val="374151"/>
                </a:solidFill>
                <a:effectLst/>
                <a:latin typeface="__Inter_d65c78"/>
              </a:rPr>
              <a:t>karne</a:t>
            </a:r>
            <a:r>
              <a:rPr lang="en-IN" sz="1800" b="0" i="0" dirty="0">
                <a:solidFill>
                  <a:srgbClr val="374151"/>
                </a:solidFill>
                <a:effectLst/>
                <a:latin typeface="__Inter_d65c78"/>
              </a:rPr>
              <a:t> ka </a:t>
            </a:r>
            <a:r>
              <a:rPr lang="en-IN" sz="1800" b="0" i="0" dirty="0" err="1">
                <a:solidFill>
                  <a:srgbClr val="374151"/>
                </a:solidFill>
                <a:effectLst/>
                <a:latin typeface="__Inter_d65c78"/>
              </a:rPr>
              <a:t>hai</a:t>
            </a:r>
            <a:r>
              <a:rPr lang="en-IN" sz="1800" b="0" i="0" dirty="0">
                <a:solidFill>
                  <a:srgbClr val="374151"/>
                </a:solidFill>
                <a:effectLst/>
                <a:latin typeface="__Inter_d65c78"/>
              </a:rPr>
              <a:t>, jo candidates aur companies </a:t>
            </a:r>
            <a:r>
              <a:rPr lang="en-IN" sz="1800" b="0" i="0" dirty="0" err="1">
                <a:solidFill>
                  <a:srgbClr val="374151"/>
                </a:solidFill>
                <a:effectLst/>
                <a:latin typeface="__Inter_d65c78"/>
              </a:rPr>
              <a:t>dono</a:t>
            </a:r>
            <a:r>
              <a:rPr lang="en-IN" sz="1800" b="0" i="0" dirty="0">
                <a:solidFill>
                  <a:srgbClr val="374151"/>
                </a:solidFill>
                <a:effectLst/>
                <a:latin typeface="__Inter_d65c78"/>
              </a:rPr>
              <a:t> </a:t>
            </a:r>
            <a:r>
              <a:rPr lang="en-IN" sz="1800" b="0" i="0" dirty="0" err="1">
                <a:solidFill>
                  <a:srgbClr val="374151"/>
                </a:solidFill>
                <a:effectLst/>
                <a:latin typeface="__Inter_d65c78"/>
              </a:rPr>
              <a:t>ke</a:t>
            </a:r>
            <a:r>
              <a:rPr lang="en-IN" sz="1800" b="0" i="0" dirty="0">
                <a:solidFill>
                  <a:srgbClr val="374151"/>
                </a:solidFill>
                <a:effectLst/>
                <a:latin typeface="__Inter_d65c78"/>
              </a:rPr>
              <a:t> </a:t>
            </a:r>
            <a:r>
              <a:rPr lang="en-IN" sz="1800" b="0" i="0" dirty="0" err="1">
                <a:solidFill>
                  <a:srgbClr val="374151"/>
                </a:solidFill>
                <a:effectLst/>
                <a:latin typeface="__Inter_d65c78"/>
              </a:rPr>
              <a:t>liye</a:t>
            </a:r>
            <a:r>
              <a:rPr lang="en-IN" sz="1800" b="0" i="0" dirty="0">
                <a:solidFill>
                  <a:srgbClr val="374151"/>
                </a:solidFill>
                <a:effectLst/>
                <a:latin typeface="__Inter_d65c78"/>
              </a:rPr>
              <a:t> </a:t>
            </a:r>
            <a:r>
              <a:rPr lang="en-IN" sz="1800" b="0" i="0" dirty="0" err="1">
                <a:solidFill>
                  <a:srgbClr val="374151"/>
                </a:solidFill>
                <a:effectLst/>
                <a:latin typeface="__Inter_d65c78"/>
              </a:rPr>
              <a:t>faydemand</a:t>
            </a:r>
            <a:r>
              <a:rPr lang="en-IN" sz="1800" b="0" i="0" dirty="0">
                <a:solidFill>
                  <a:srgbClr val="374151"/>
                </a:solidFill>
                <a:effectLst/>
                <a:latin typeface="__Inter_d65c78"/>
              </a:rPr>
              <a:t> </a:t>
            </a:r>
            <a:r>
              <a:rPr lang="en-IN" sz="1800" b="0" i="0" dirty="0" err="1">
                <a:solidFill>
                  <a:srgbClr val="374151"/>
                </a:solidFill>
                <a:effectLst/>
                <a:latin typeface="__Inter_d65c78"/>
              </a:rPr>
              <a:t>hoga</a:t>
            </a:r>
            <a:r>
              <a:rPr lang="en-IN" sz="1800" b="0" i="0" dirty="0">
                <a:solidFill>
                  <a:srgbClr val="374151"/>
                </a:solidFill>
                <a:effectLst/>
                <a:latin typeface="__Inter_d65c78"/>
              </a:rPr>
              <a:t>. </a:t>
            </a:r>
            <a:r>
              <a:rPr lang="en-IN" sz="1800" b="0" i="0" dirty="0" err="1">
                <a:solidFill>
                  <a:srgbClr val="374151"/>
                </a:solidFill>
                <a:effectLst/>
                <a:latin typeface="__Inter_d65c78"/>
              </a:rPr>
              <a:t>Isse</a:t>
            </a:r>
            <a:r>
              <a:rPr lang="en-IN" sz="1800" b="0" i="0" dirty="0">
                <a:solidFill>
                  <a:srgbClr val="374151"/>
                </a:solidFill>
                <a:effectLst/>
                <a:latin typeface="__Inter_d65c78"/>
              </a:rPr>
              <a:t> </a:t>
            </a:r>
            <a:r>
              <a:rPr lang="en-IN" sz="1800" b="0" i="0" dirty="0" err="1">
                <a:solidFill>
                  <a:srgbClr val="374151"/>
                </a:solidFill>
                <a:effectLst/>
                <a:latin typeface="__Inter_d65c78"/>
              </a:rPr>
              <a:t>aap</a:t>
            </a:r>
            <a:r>
              <a:rPr lang="en-IN" sz="1800" b="0" i="0" dirty="0">
                <a:solidFill>
                  <a:srgbClr val="374151"/>
                </a:solidFill>
                <a:effectLst/>
                <a:latin typeface="__Inter_d65c78"/>
              </a:rPr>
              <a:t> job market </a:t>
            </a:r>
            <a:r>
              <a:rPr lang="en-IN" sz="1800" b="0" i="0" dirty="0" err="1">
                <a:solidFill>
                  <a:srgbClr val="374151"/>
                </a:solidFill>
                <a:effectLst/>
                <a:latin typeface="__Inter_d65c78"/>
              </a:rPr>
              <a:t>mein</a:t>
            </a:r>
            <a:r>
              <a:rPr lang="en-IN" sz="1800" b="0" i="0" dirty="0">
                <a:solidFill>
                  <a:srgbClr val="374151"/>
                </a:solidFill>
                <a:effectLst/>
                <a:latin typeface="__Inter_d65c78"/>
              </a:rPr>
              <a:t> ek </a:t>
            </a:r>
            <a:r>
              <a:rPr lang="en-IN" sz="1800" b="0" i="0" dirty="0" err="1">
                <a:solidFill>
                  <a:srgbClr val="374151"/>
                </a:solidFill>
                <a:effectLst/>
                <a:latin typeface="__Inter_d65c78"/>
              </a:rPr>
              <a:t>naya</a:t>
            </a:r>
            <a:r>
              <a:rPr lang="en-IN" sz="1800" b="0" i="0" dirty="0">
                <a:solidFill>
                  <a:srgbClr val="374151"/>
                </a:solidFill>
                <a:effectLst/>
                <a:latin typeface="__Inter_d65c78"/>
              </a:rPr>
              <a:t> platform </a:t>
            </a:r>
            <a:r>
              <a:rPr lang="en-IN" sz="1800" b="0" i="0" dirty="0" err="1">
                <a:solidFill>
                  <a:srgbClr val="374151"/>
                </a:solidFill>
                <a:effectLst/>
                <a:latin typeface="__Inter_d65c78"/>
              </a:rPr>
              <a:t>tayar</a:t>
            </a:r>
            <a:r>
              <a:rPr lang="en-IN" sz="1800" b="0" i="0" dirty="0">
                <a:solidFill>
                  <a:srgbClr val="374151"/>
                </a:solidFill>
                <a:effectLst/>
                <a:latin typeface="__Inter_d65c78"/>
              </a:rPr>
              <a:t> </a:t>
            </a:r>
            <a:r>
              <a:rPr lang="en-IN" sz="1800" b="0" i="0" dirty="0" err="1">
                <a:solidFill>
                  <a:srgbClr val="374151"/>
                </a:solidFill>
                <a:effectLst/>
                <a:latin typeface="__Inter_d65c78"/>
              </a:rPr>
              <a:t>kar</a:t>
            </a:r>
            <a:r>
              <a:rPr lang="en-IN" sz="1800" b="0" i="0" dirty="0">
                <a:solidFill>
                  <a:srgbClr val="374151"/>
                </a:solidFill>
                <a:effectLst/>
                <a:latin typeface="__Inter_d65c78"/>
              </a:rPr>
              <a:t> </a:t>
            </a:r>
            <a:r>
              <a:rPr lang="en-IN" sz="1800" b="0" i="0" dirty="0" err="1">
                <a:solidFill>
                  <a:srgbClr val="374151"/>
                </a:solidFill>
                <a:effectLst/>
                <a:latin typeface="__Inter_d65c78"/>
              </a:rPr>
              <a:t>sakte</a:t>
            </a:r>
            <a:r>
              <a:rPr lang="en-IN" sz="1800" b="0" i="0" dirty="0">
                <a:solidFill>
                  <a:srgbClr val="374151"/>
                </a:solidFill>
                <a:effectLst/>
                <a:latin typeface="__Inter_d65c78"/>
              </a:rPr>
              <a:t> hain jo quality hiring ko promote </a:t>
            </a:r>
            <a:r>
              <a:rPr lang="en-IN" sz="1800" b="0" i="0" dirty="0" err="1">
                <a:solidFill>
                  <a:srgbClr val="374151"/>
                </a:solidFill>
                <a:effectLst/>
                <a:latin typeface="__Inter_d65c78"/>
              </a:rPr>
              <a:t>karega</a:t>
            </a:r>
            <a:r>
              <a:rPr lang="en-IN" sz="1800" b="0" i="0" dirty="0">
                <a:solidFill>
                  <a:srgbClr val="374151"/>
                </a:solidFill>
                <a:effectLst/>
                <a:latin typeface="__Inter_d65c78"/>
              </a:rPr>
              <a:t>.</a:t>
            </a:r>
          </a:p>
          <a:p>
            <a:pPr algn="l"/>
            <a:r>
              <a:rPr lang="en-IN" sz="1800" b="0" i="0" dirty="0">
                <a:solidFill>
                  <a:srgbClr val="374151"/>
                </a:solidFill>
                <a:effectLst/>
                <a:latin typeface="__Inter_d65c78"/>
              </a:rPr>
              <a:t>Agar </a:t>
            </a:r>
            <a:r>
              <a:rPr lang="en-IN" sz="1800" b="0" i="0" dirty="0" err="1">
                <a:solidFill>
                  <a:srgbClr val="374151"/>
                </a:solidFill>
                <a:effectLst/>
                <a:latin typeface="__Inter_d65c78"/>
              </a:rPr>
              <a:t>aapko</a:t>
            </a:r>
            <a:r>
              <a:rPr lang="en-IN" sz="1800" b="0" i="0" dirty="0">
                <a:solidFill>
                  <a:srgbClr val="374151"/>
                </a:solidFill>
                <a:effectLst/>
                <a:latin typeface="__Inter_d65c78"/>
              </a:rPr>
              <a:t> is idea ko aur detail </a:t>
            </a:r>
            <a:r>
              <a:rPr lang="en-IN" sz="1800" b="0" i="0" dirty="0" err="1">
                <a:solidFill>
                  <a:srgbClr val="374151"/>
                </a:solidFill>
                <a:effectLst/>
                <a:latin typeface="__Inter_d65c78"/>
              </a:rPr>
              <a:t>mein</a:t>
            </a:r>
            <a:r>
              <a:rPr lang="en-IN" sz="1800" b="0" i="0" dirty="0">
                <a:solidFill>
                  <a:srgbClr val="374151"/>
                </a:solidFill>
                <a:effectLst/>
                <a:latin typeface="__Inter_d65c78"/>
              </a:rPr>
              <a:t> discuss </a:t>
            </a:r>
            <a:r>
              <a:rPr lang="en-IN" sz="1800" b="0" i="0" dirty="0" err="1">
                <a:solidFill>
                  <a:srgbClr val="374151"/>
                </a:solidFill>
                <a:effectLst/>
                <a:latin typeface="__Inter_d65c78"/>
              </a:rPr>
              <a:t>karna</a:t>
            </a:r>
            <a:r>
              <a:rPr lang="en-IN" sz="1800" b="0" i="0" dirty="0">
                <a:solidFill>
                  <a:srgbClr val="374151"/>
                </a:solidFill>
                <a:effectLst/>
                <a:latin typeface="__Inter_d65c78"/>
              </a:rPr>
              <a:t> </a:t>
            </a:r>
            <a:r>
              <a:rPr lang="en-IN" sz="1800" b="0" i="0" dirty="0" err="1">
                <a:solidFill>
                  <a:srgbClr val="374151"/>
                </a:solidFill>
                <a:effectLst/>
                <a:latin typeface="__Inter_d65c78"/>
              </a:rPr>
              <a:t>hai</a:t>
            </a:r>
            <a:r>
              <a:rPr lang="en-IN" sz="1800" b="0" i="0" dirty="0">
                <a:solidFill>
                  <a:srgbClr val="374151"/>
                </a:solidFill>
                <a:effectLst/>
                <a:latin typeface="__Inter_d65c78"/>
              </a:rPr>
              <a:t> </a:t>
            </a:r>
            <a:r>
              <a:rPr lang="en-IN" sz="1800" b="0" i="0" dirty="0" err="1">
                <a:solidFill>
                  <a:srgbClr val="374151"/>
                </a:solidFill>
                <a:effectLst/>
                <a:latin typeface="__Inter_d65c78"/>
              </a:rPr>
              <a:t>ya</a:t>
            </a:r>
            <a:r>
              <a:rPr lang="en-IN" sz="1800" b="0" i="0" dirty="0">
                <a:solidFill>
                  <a:srgbClr val="374151"/>
                </a:solidFill>
                <a:effectLst/>
                <a:latin typeface="__Inter_d65c78"/>
              </a:rPr>
              <a:t> </a:t>
            </a:r>
            <a:r>
              <a:rPr lang="en-IN" sz="1800" b="0" i="0" dirty="0" err="1">
                <a:solidFill>
                  <a:srgbClr val="374151"/>
                </a:solidFill>
                <a:effectLst/>
                <a:latin typeface="__Inter_d65c78"/>
              </a:rPr>
              <a:t>kisi</a:t>
            </a:r>
            <a:r>
              <a:rPr lang="en-IN" sz="1800" b="0" i="0" dirty="0">
                <a:solidFill>
                  <a:srgbClr val="374151"/>
                </a:solidFill>
                <a:effectLst/>
                <a:latin typeface="__Inter_d65c78"/>
              </a:rPr>
              <a:t> specific aspect par focus </a:t>
            </a:r>
            <a:r>
              <a:rPr lang="en-IN" sz="1800" b="0" i="0" dirty="0" err="1">
                <a:solidFill>
                  <a:srgbClr val="374151"/>
                </a:solidFill>
                <a:effectLst/>
                <a:latin typeface="__Inter_d65c78"/>
              </a:rPr>
              <a:t>karna</a:t>
            </a:r>
            <a:r>
              <a:rPr lang="en-IN" sz="1800" b="0" i="0" dirty="0">
                <a:solidFill>
                  <a:srgbClr val="374151"/>
                </a:solidFill>
                <a:effectLst/>
                <a:latin typeface="__Inter_d65c78"/>
              </a:rPr>
              <a:t> </a:t>
            </a:r>
            <a:r>
              <a:rPr lang="en-IN" sz="1800" b="0" i="0" dirty="0" err="1">
                <a:solidFill>
                  <a:srgbClr val="374151"/>
                </a:solidFill>
                <a:effectLst/>
                <a:latin typeface="__Inter_d65c78"/>
              </a:rPr>
              <a:t>hai</a:t>
            </a:r>
            <a:r>
              <a:rPr lang="en-IN" sz="1800" b="0" i="0" dirty="0">
                <a:solidFill>
                  <a:srgbClr val="374151"/>
                </a:solidFill>
                <a:effectLst/>
                <a:latin typeface="__Inter_d65c78"/>
              </a:rPr>
              <a:t>, </a:t>
            </a:r>
            <a:r>
              <a:rPr lang="en-IN" sz="1800" b="0" i="0" dirty="0" err="1">
                <a:solidFill>
                  <a:srgbClr val="374151"/>
                </a:solidFill>
                <a:effectLst/>
                <a:latin typeface="__Inter_d65c78"/>
              </a:rPr>
              <a:t>toh</a:t>
            </a:r>
            <a:r>
              <a:rPr lang="en-IN" sz="1800" b="0" i="0" dirty="0">
                <a:solidFill>
                  <a:srgbClr val="374151"/>
                </a:solidFill>
                <a:effectLst/>
                <a:latin typeface="__Inter_d65c78"/>
              </a:rPr>
              <a:t> </a:t>
            </a:r>
            <a:r>
              <a:rPr lang="en-IN" sz="1800" b="0" i="0" dirty="0" err="1">
                <a:solidFill>
                  <a:srgbClr val="374151"/>
                </a:solidFill>
                <a:effectLst/>
                <a:latin typeface="__Inter_d65c78"/>
              </a:rPr>
              <a:t>aap</a:t>
            </a:r>
            <a:r>
              <a:rPr lang="en-IN" sz="1800" b="0" i="0" dirty="0">
                <a:solidFill>
                  <a:srgbClr val="374151"/>
                </a:solidFill>
                <a:effectLst/>
                <a:latin typeface="__Inter_d65c78"/>
              </a:rPr>
              <a:t> </a:t>
            </a:r>
            <a:r>
              <a:rPr lang="en-IN" sz="1800" b="0" i="0" dirty="0" err="1">
                <a:solidFill>
                  <a:srgbClr val="374151"/>
                </a:solidFill>
                <a:effectLst/>
                <a:latin typeface="__Inter_d65c78"/>
              </a:rPr>
              <a:t>mujhe</a:t>
            </a:r>
            <a:r>
              <a:rPr lang="en-IN" sz="1800" b="0" i="0" dirty="0">
                <a:solidFill>
                  <a:srgbClr val="374151"/>
                </a:solidFill>
                <a:effectLst/>
                <a:latin typeface="__Inter_d65c78"/>
              </a:rPr>
              <a:t> bata </a:t>
            </a:r>
            <a:r>
              <a:rPr lang="en-IN" sz="1800" b="0" i="0" dirty="0" err="1">
                <a:solidFill>
                  <a:srgbClr val="374151"/>
                </a:solidFill>
                <a:effectLst/>
                <a:latin typeface="__Inter_d65c78"/>
              </a:rPr>
              <a:t>sakte</a:t>
            </a:r>
            <a:r>
              <a:rPr lang="en-IN" sz="1800" b="0" i="0" dirty="0">
                <a:solidFill>
                  <a:srgbClr val="374151"/>
                </a:solidFill>
                <a:effectLst/>
                <a:latin typeface="__Inter_d65c78"/>
              </a:rPr>
              <a:t> hain!</a:t>
            </a:r>
          </a:p>
          <a:p>
            <a:pPr marL="0" indent="0">
              <a:buNone/>
            </a:pPr>
            <a:endParaRPr lang="en-US" sz="1800" dirty="0"/>
          </a:p>
        </p:txBody>
      </p:sp>
    </p:spTree>
    <p:extLst>
      <p:ext uri="{BB962C8B-B14F-4D97-AF65-F5344CB8AC3E}">
        <p14:creationId xmlns:p14="http://schemas.microsoft.com/office/powerpoint/2010/main" val="22776317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EB22C31-3713-AFBC-07A8-550235970EBA}"/>
              </a:ext>
            </a:extLst>
          </p:cNvPr>
          <p:cNvSpPr txBox="1"/>
          <p:nvPr/>
        </p:nvSpPr>
        <p:spPr>
          <a:xfrm>
            <a:off x="3048699" y="1391653"/>
            <a:ext cx="6094602" cy="3139321"/>
          </a:xfrm>
          <a:prstGeom prst="rect">
            <a:avLst/>
          </a:prstGeom>
          <a:noFill/>
        </p:spPr>
        <p:txBody>
          <a:bodyPr wrap="square">
            <a:spAutoFit/>
          </a:bodyPr>
          <a:lstStyle/>
          <a:p>
            <a:pPr algn="l">
              <a:buFont typeface="+mj-lt"/>
              <a:buAutoNum type="arabicPeriod"/>
            </a:pPr>
            <a:r>
              <a:rPr lang="en-US" b="1" i="0" dirty="0">
                <a:solidFill>
                  <a:srgbClr val="374151"/>
                </a:solidFill>
                <a:effectLst/>
                <a:latin typeface="__Inter_d65c78"/>
              </a:rPr>
              <a:t>Conducting Market Research</a:t>
            </a:r>
            <a:r>
              <a:rPr lang="en-US" b="0" i="0" dirty="0">
                <a:solidFill>
                  <a:srgbClr val="374151"/>
                </a:solidFill>
                <a:effectLst/>
                <a:latin typeface="__Inter_d65c78"/>
              </a:rPr>
              <a:t>:</a:t>
            </a:r>
          </a:p>
          <a:p>
            <a:pPr algn="l">
              <a:buFont typeface="Arial" panose="020B0604020202020204" pitchFamily="34" charset="0"/>
              <a:buChar char="•"/>
            </a:pPr>
            <a:r>
              <a:rPr lang="en-US" b="1" i="0" dirty="0">
                <a:solidFill>
                  <a:srgbClr val="374151"/>
                </a:solidFill>
                <a:effectLst/>
                <a:latin typeface="__Inter_d65c78"/>
              </a:rPr>
              <a:t>Primary Research</a:t>
            </a:r>
            <a:r>
              <a:rPr lang="en-US" b="0" i="0" dirty="0">
                <a:solidFill>
                  <a:srgbClr val="374151"/>
                </a:solidFill>
                <a:effectLst/>
                <a:latin typeface="__Inter_d65c78"/>
              </a:rPr>
              <a:t>:</a:t>
            </a:r>
          </a:p>
          <a:p>
            <a:pPr marL="742950" lvl="1" indent="-285750" algn="l">
              <a:buFont typeface="Arial" panose="020B0604020202020204" pitchFamily="34" charset="0"/>
              <a:buChar char="•"/>
            </a:pPr>
            <a:r>
              <a:rPr lang="en-US" b="0" i="0" dirty="0">
                <a:solidFill>
                  <a:srgbClr val="374151"/>
                </a:solidFill>
                <a:effectLst/>
                <a:latin typeface="__Inter_d65c78"/>
              </a:rPr>
              <a:t>Survey potential candidates (students/job seekers)</a:t>
            </a:r>
          </a:p>
          <a:p>
            <a:pPr marL="742950" lvl="1" indent="-285750" algn="l">
              <a:buFont typeface="Arial" panose="020B0604020202020204" pitchFamily="34" charset="0"/>
              <a:buChar char="•"/>
            </a:pPr>
            <a:r>
              <a:rPr lang="en-US" b="0" i="0" dirty="0">
                <a:solidFill>
                  <a:srgbClr val="374151"/>
                </a:solidFill>
                <a:effectLst/>
                <a:latin typeface="__Inter_d65c78"/>
              </a:rPr>
              <a:t>Interview HR managers and company recruiters</a:t>
            </a:r>
          </a:p>
          <a:p>
            <a:pPr marL="742950" lvl="1" indent="-285750" algn="l">
              <a:buFont typeface="Arial" panose="020B0604020202020204" pitchFamily="34" charset="0"/>
              <a:buChar char="•"/>
            </a:pPr>
            <a:r>
              <a:rPr lang="en-US" b="0" i="0" dirty="0">
                <a:solidFill>
                  <a:srgbClr val="374151"/>
                </a:solidFill>
                <a:effectLst/>
                <a:latin typeface="__Inter_d65c78"/>
              </a:rPr>
              <a:t>Analyze competitor platforms</a:t>
            </a:r>
          </a:p>
          <a:p>
            <a:pPr marL="742950" lvl="1" indent="-285750" algn="l">
              <a:buFont typeface="Arial" panose="020B0604020202020204" pitchFamily="34" charset="0"/>
              <a:buChar char="•"/>
            </a:pPr>
            <a:r>
              <a:rPr lang="en-US" b="0" i="0" dirty="0">
                <a:solidFill>
                  <a:srgbClr val="374151"/>
                </a:solidFill>
                <a:effectLst/>
                <a:latin typeface="__Inter_d65c78"/>
              </a:rPr>
              <a:t>Gather feedback on pricing expectations</a:t>
            </a:r>
          </a:p>
          <a:p>
            <a:pPr algn="l">
              <a:buFont typeface="Arial" panose="020B0604020202020204" pitchFamily="34" charset="0"/>
              <a:buChar char="•"/>
            </a:pPr>
            <a:r>
              <a:rPr lang="en-US" b="1" i="0" dirty="0">
                <a:solidFill>
                  <a:srgbClr val="374151"/>
                </a:solidFill>
                <a:effectLst/>
                <a:latin typeface="__Inter_d65c78"/>
              </a:rPr>
              <a:t>Secondary Research</a:t>
            </a:r>
            <a:r>
              <a:rPr lang="en-US" b="0" i="0" dirty="0">
                <a:solidFill>
                  <a:srgbClr val="374151"/>
                </a:solidFill>
                <a:effectLst/>
                <a:latin typeface="__Inter_d65c78"/>
              </a:rPr>
              <a:t>:</a:t>
            </a:r>
          </a:p>
          <a:p>
            <a:pPr marL="742950" lvl="1" indent="-285750" algn="l">
              <a:buFont typeface="Arial" panose="020B0604020202020204" pitchFamily="34" charset="0"/>
              <a:buChar char="•"/>
            </a:pPr>
            <a:r>
              <a:rPr lang="en-US" b="0" i="0" dirty="0">
                <a:solidFill>
                  <a:srgbClr val="374151"/>
                </a:solidFill>
                <a:effectLst/>
                <a:latin typeface="__Inter_d65c78"/>
              </a:rPr>
              <a:t>Study industry reports on recruitment</a:t>
            </a:r>
          </a:p>
          <a:p>
            <a:pPr marL="742950" lvl="1" indent="-285750" algn="l">
              <a:buFont typeface="Arial" panose="020B0604020202020204" pitchFamily="34" charset="0"/>
              <a:buChar char="•"/>
            </a:pPr>
            <a:r>
              <a:rPr lang="en-US" b="0" i="0" dirty="0">
                <a:solidFill>
                  <a:srgbClr val="374151"/>
                </a:solidFill>
                <a:effectLst/>
                <a:latin typeface="__Inter_d65c78"/>
              </a:rPr>
              <a:t>Analyze market size and growth potential</a:t>
            </a:r>
          </a:p>
          <a:p>
            <a:pPr marL="742950" lvl="1" indent="-285750" algn="l">
              <a:buFont typeface="Arial" panose="020B0604020202020204" pitchFamily="34" charset="0"/>
              <a:buChar char="•"/>
            </a:pPr>
            <a:r>
              <a:rPr lang="en-US" b="0" i="0" dirty="0">
                <a:solidFill>
                  <a:srgbClr val="374151"/>
                </a:solidFill>
                <a:effectLst/>
                <a:latin typeface="__Inter_d65c78"/>
              </a:rPr>
              <a:t>Research current recruitment challenges</a:t>
            </a:r>
          </a:p>
          <a:p>
            <a:pPr marL="742950" lvl="1" indent="-285750" algn="l">
              <a:buFont typeface="Arial" panose="020B0604020202020204" pitchFamily="34" charset="0"/>
              <a:buChar char="•"/>
            </a:pPr>
            <a:r>
              <a:rPr lang="en-US" b="0" i="0" dirty="0">
                <a:solidFill>
                  <a:srgbClr val="374151"/>
                </a:solidFill>
                <a:effectLst/>
                <a:latin typeface="__Inter_d65c78"/>
              </a:rPr>
              <a:t>Study successful recruitment platforms</a:t>
            </a:r>
          </a:p>
        </p:txBody>
      </p:sp>
    </p:spTree>
    <p:extLst>
      <p:ext uri="{BB962C8B-B14F-4D97-AF65-F5344CB8AC3E}">
        <p14:creationId xmlns:p14="http://schemas.microsoft.com/office/powerpoint/2010/main" val="10664129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1B6914E-2366-C846-690B-0597CEE6D423}"/>
              </a:ext>
            </a:extLst>
          </p:cNvPr>
          <p:cNvSpPr txBox="1"/>
          <p:nvPr/>
        </p:nvSpPr>
        <p:spPr>
          <a:xfrm>
            <a:off x="1092666" y="992771"/>
            <a:ext cx="6094602" cy="4524315"/>
          </a:xfrm>
          <a:prstGeom prst="rect">
            <a:avLst/>
          </a:prstGeom>
          <a:noFill/>
        </p:spPr>
        <p:txBody>
          <a:bodyPr wrap="square">
            <a:spAutoFit/>
          </a:bodyPr>
          <a:lstStyle/>
          <a:p>
            <a:pPr algn="l">
              <a:buFont typeface="+mj-lt"/>
              <a:buAutoNum type="arabicPeriod" startAt="2"/>
            </a:pPr>
            <a:r>
              <a:rPr lang="en-US" sz="1800" b="1" i="0" dirty="0">
                <a:solidFill>
                  <a:srgbClr val="374151"/>
                </a:solidFill>
                <a:effectLst/>
                <a:latin typeface="__Inter_d65c78"/>
              </a:rPr>
              <a:t>Developing a Detailed Business Plan</a:t>
            </a:r>
            <a:r>
              <a:rPr lang="en-US" sz="1800" b="0" i="0" dirty="0">
                <a:solidFill>
                  <a:srgbClr val="374151"/>
                </a:solidFill>
                <a:effectLst/>
                <a:latin typeface="__Inter_d65c78"/>
              </a:rPr>
              <a:t>:</a:t>
            </a:r>
          </a:p>
          <a:p>
            <a:pPr algn="l"/>
            <a:r>
              <a:rPr lang="en-US" sz="1800" b="0" i="0" dirty="0">
                <a:solidFill>
                  <a:srgbClr val="374151"/>
                </a:solidFill>
                <a:effectLst/>
                <a:latin typeface="__Inter_d65c78"/>
              </a:rPr>
              <a:t>A. </a:t>
            </a:r>
            <a:r>
              <a:rPr lang="en-US" sz="1800" b="1" i="0" dirty="0">
                <a:solidFill>
                  <a:srgbClr val="374151"/>
                </a:solidFill>
                <a:effectLst/>
                <a:latin typeface="__Inter_d65c78"/>
              </a:rPr>
              <a:t>Executive Summary</a:t>
            </a:r>
            <a:r>
              <a:rPr lang="en-US" sz="1800" b="0" i="0" dirty="0">
                <a:solidFill>
                  <a:srgbClr val="374151"/>
                </a:solidFill>
                <a:effectLst/>
                <a:latin typeface="__Inter_d65c78"/>
              </a:rPr>
              <a:t>:</a:t>
            </a:r>
          </a:p>
          <a:p>
            <a:pPr algn="l">
              <a:buFont typeface="Arial" panose="020B0604020202020204" pitchFamily="34" charset="0"/>
              <a:buChar char="•"/>
            </a:pPr>
            <a:r>
              <a:rPr lang="en-US" sz="1800" b="0" i="0" dirty="0">
                <a:solidFill>
                  <a:srgbClr val="374151"/>
                </a:solidFill>
                <a:effectLst/>
                <a:latin typeface="__Inter_d65c78"/>
              </a:rPr>
              <a:t>Brief overview of your business concept</a:t>
            </a:r>
          </a:p>
          <a:p>
            <a:pPr algn="l">
              <a:buFont typeface="Arial" panose="020B0604020202020204" pitchFamily="34" charset="0"/>
              <a:buChar char="•"/>
            </a:pPr>
            <a:r>
              <a:rPr lang="en-US" sz="1800" b="0" i="0" dirty="0">
                <a:solidFill>
                  <a:srgbClr val="374151"/>
                </a:solidFill>
                <a:effectLst/>
                <a:latin typeface="__Inter_d65c78"/>
              </a:rPr>
              <a:t>Mission and vision statements</a:t>
            </a:r>
          </a:p>
          <a:p>
            <a:pPr algn="l">
              <a:buFont typeface="Arial" panose="020B0604020202020204" pitchFamily="34" charset="0"/>
              <a:buChar char="•"/>
            </a:pPr>
            <a:r>
              <a:rPr lang="en-US" sz="1800" b="0" i="0" dirty="0">
                <a:solidFill>
                  <a:srgbClr val="374151"/>
                </a:solidFill>
                <a:effectLst/>
                <a:latin typeface="__Inter_d65c78"/>
              </a:rPr>
              <a:t>Key objectives</a:t>
            </a:r>
          </a:p>
          <a:p>
            <a:pPr algn="l"/>
            <a:r>
              <a:rPr lang="en-US" sz="1800" b="0" i="0" dirty="0">
                <a:solidFill>
                  <a:srgbClr val="374151"/>
                </a:solidFill>
                <a:effectLst/>
                <a:latin typeface="__Inter_d65c78"/>
              </a:rPr>
              <a:t>B. </a:t>
            </a:r>
            <a:r>
              <a:rPr lang="en-US" sz="1800" b="1" i="0" dirty="0">
                <a:solidFill>
                  <a:srgbClr val="374151"/>
                </a:solidFill>
                <a:effectLst/>
                <a:latin typeface="__Inter_d65c78"/>
              </a:rPr>
              <a:t>Market Analysis</a:t>
            </a:r>
            <a:r>
              <a:rPr lang="en-US" sz="1800" b="0" i="0" dirty="0">
                <a:solidFill>
                  <a:srgbClr val="374151"/>
                </a:solidFill>
                <a:effectLst/>
                <a:latin typeface="__Inter_d65c78"/>
              </a:rPr>
              <a:t>:</a:t>
            </a:r>
          </a:p>
          <a:p>
            <a:pPr algn="l">
              <a:buFont typeface="Arial" panose="020B0604020202020204" pitchFamily="34" charset="0"/>
              <a:buChar char="•"/>
            </a:pPr>
            <a:r>
              <a:rPr lang="en-US" sz="1800" b="0" i="0" dirty="0">
                <a:solidFill>
                  <a:srgbClr val="374151"/>
                </a:solidFill>
                <a:effectLst/>
                <a:latin typeface="__Inter_d65c78"/>
              </a:rPr>
              <a:t>Target market size</a:t>
            </a:r>
          </a:p>
          <a:p>
            <a:pPr algn="l">
              <a:buFont typeface="Arial" panose="020B0604020202020204" pitchFamily="34" charset="0"/>
              <a:buChar char="•"/>
            </a:pPr>
            <a:r>
              <a:rPr lang="en-US" sz="1800" b="0" i="0" dirty="0">
                <a:solidFill>
                  <a:srgbClr val="374151"/>
                </a:solidFill>
                <a:effectLst/>
                <a:latin typeface="__Inter_d65c78"/>
              </a:rPr>
              <a:t>Competitor analysis</a:t>
            </a:r>
          </a:p>
          <a:p>
            <a:pPr algn="l">
              <a:buFont typeface="Arial" panose="020B0604020202020204" pitchFamily="34" charset="0"/>
              <a:buChar char="•"/>
            </a:pPr>
            <a:r>
              <a:rPr lang="en-US" sz="1800" b="0" i="0" dirty="0">
                <a:solidFill>
                  <a:srgbClr val="374151"/>
                </a:solidFill>
                <a:effectLst/>
                <a:latin typeface="__Inter_d65c78"/>
              </a:rPr>
              <a:t>Market trends</a:t>
            </a:r>
          </a:p>
          <a:p>
            <a:pPr algn="l">
              <a:buFont typeface="Arial" panose="020B0604020202020204" pitchFamily="34" charset="0"/>
              <a:buChar char="•"/>
            </a:pPr>
            <a:r>
              <a:rPr lang="en-US" sz="1800" b="0" i="0" dirty="0">
                <a:solidFill>
                  <a:srgbClr val="374151"/>
                </a:solidFill>
                <a:effectLst/>
                <a:latin typeface="__Inter_d65c78"/>
              </a:rPr>
              <a:t>Growth opportunities</a:t>
            </a:r>
          </a:p>
          <a:p>
            <a:pPr algn="l"/>
            <a:r>
              <a:rPr lang="en-US" sz="1800" b="0" i="0" dirty="0">
                <a:solidFill>
                  <a:srgbClr val="374151"/>
                </a:solidFill>
                <a:effectLst/>
                <a:latin typeface="__Inter_d65c78"/>
              </a:rPr>
              <a:t>C. </a:t>
            </a:r>
            <a:r>
              <a:rPr lang="en-US" sz="1800" b="1" i="0" dirty="0">
                <a:solidFill>
                  <a:srgbClr val="374151"/>
                </a:solidFill>
                <a:effectLst/>
                <a:latin typeface="__Inter_d65c78"/>
              </a:rPr>
              <a:t>Service Description</a:t>
            </a:r>
            <a:r>
              <a:rPr lang="en-US" sz="1800" b="0" i="0" dirty="0">
                <a:solidFill>
                  <a:srgbClr val="374151"/>
                </a:solidFill>
                <a:effectLst/>
                <a:latin typeface="__Inter_d65c78"/>
              </a:rPr>
              <a:t>:</a:t>
            </a:r>
          </a:p>
          <a:p>
            <a:pPr algn="l">
              <a:buFont typeface="Arial" panose="020B0604020202020204" pitchFamily="34" charset="0"/>
              <a:buChar char="•"/>
            </a:pPr>
            <a:r>
              <a:rPr lang="en-US" sz="1800" b="0" i="0" dirty="0">
                <a:solidFill>
                  <a:srgbClr val="374151"/>
                </a:solidFill>
                <a:effectLst/>
                <a:latin typeface="__Inter_d65c78"/>
              </a:rPr>
              <a:t>Detailed platform features</a:t>
            </a:r>
          </a:p>
          <a:p>
            <a:pPr algn="l">
              <a:buFont typeface="Arial" panose="020B0604020202020204" pitchFamily="34" charset="0"/>
              <a:buChar char="•"/>
            </a:pPr>
            <a:r>
              <a:rPr lang="en-US" sz="1800" b="0" i="0" dirty="0">
                <a:solidFill>
                  <a:srgbClr val="374151"/>
                </a:solidFill>
                <a:effectLst/>
                <a:latin typeface="__Inter_d65c78"/>
              </a:rPr>
              <a:t>Interview process methodology</a:t>
            </a:r>
          </a:p>
          <a:p>
            <a:pPr algn="l">
              <a:buFont typeface="Arial" panose="020B0604020202020204" pitchFamily="34" charset="0"/>
              <a:buChar char="•"/>
            </a:pPr>
            <a:r>
              <a:rPr lang="en-US" sz="1800" b="0" i="0" dirty="0">
                <a:solidFill>
                  <a:srgbClr val="374151"/>
                </a:solidFill>
                <a:effectLst/>
                <a:latin typeface="__Inter_d65c78"/>
              </a:rPr>
              <a:t>Quality assessment criteria</a:t>
            </a:r>
          </a:p>
          <a:p>
            <a:pPr algn="l">
              <a:buFont typeface="Arial" panose="020B0604020202020204" pitchFamily="34" charset="0"/>
              <a:buChar char="•"/>
            </a:pPr>
            <a:r>
              <a:rPr lang="en-US" sz="1800" b="0" i="0" dirty="0">
                <a:solidFill>
                  <a:srgbClr val="374151"/>
                </a:solidFill>
                <a:effectLst/>
                <a:latin typeface="__Inter_d65c78"/>
              </a:rPr>
              <a:t>Pricing structure</a:t>
            </a:r>
          </a:p>
          <a:p>
            <a:endParaRPr lang="en-IN" dirty="0"/>
          </a:p>
        </p:txBody>
      </p:sp>
      <p:sp>
        <p:nvSpPr>
          <p:cNvPr id="5" name="TextBox 4">
            <a:extLst>
              <a:ext uri="{FF2B5EF4-FFF2-40B4-BE49-F238E27FC236}">
                <a16:creationId xmlns:a16="http://schemas.microsoft.com/office/drawing/2014/main" id="{6389245A-45DA-2007-5D6D-34ADB49D5FB4}"/>
              </a:ext>
            </a:extLst>
          </p:cNvPr>
          <p:cNvSpPr txBox="1"/>
          <p:nvPr/>
        </p:nvSpPr>
        <p:spPr>
          <a:xfrm>
            <a:off x="6788790" y="1525877"/>
            <a:ext cx="6094602" cy="3139321"/>
          </a:xfrm>
          <a:prstGeom prst="rect">
            <a:avLst/>
          </a:prstGeom>
          <a:noFill/>
        </p:spPr>
        <p:txBody>
          <a:bodyPr wrap="square">
            <a:spAutoFit/>
          </a:bodyPr>
          <a:lstStyle/>
          <a:p>
            <a:pPr algn="l"/>
            <a:r>
              <a:rPr lang="en-US" sz="1800" b="0" i="0" dirty="0">
                <a:solidFill>
                  <a:srgbClr val="374151"/>
                </a:solidFill>
                <a:effectLst/>
                <a:latin typeface="__Inter_d65c78"/>
              </a:rPr>
              <a:t>D. </a:t>
            </a:r>
            <a:r>
              <a:rPr lang="en-US" sz="1800" b="1" i="0" dirty="0">
                <a:solidFill>
                  <a:srgbClr val="374151"/>
                </a:solidFill>
                <a:effectLst/>
                <a:latin typeface="__Inter_d65c78"/>
              </a:rPr>
              <a:t>Marketing Strategy</a:t>
            </a:r>
            <a:r>
              <a:rPr lang="en-US" sz="1800" b="0" i="0" dirty="0">
                <a:solidFill>
                  <a:srgbClr val="374151"/>
                </a:solidFill>
                <a:effectLst/>
                <a:latin typeface="__Inter_d65c78"/>
              </a:rPr>
              <a:t>:</a:t>
            </a:r>
          </a:p>
          <a:p>
            <a:pPr algn="l">
              <a:buFont typeface="Arial" panose="020B0604020202020204" pitchFamily="34" charset="0"/>
              <a:buChar char="•"/>
            </a:pPr>
            <a:r>
              <a:rPr lang="en-US" sz="1800" b="0" i="0" dirty="0">
                <a:solidFill>
                  <a:srgbClr val="374151"/>
                </a:solidFill>
                <a:effectLst/>
                <a:latin typeface="__Inter_d65c78"/>
              </a:rPr>
              <a:t>How to reach companies</a:t>
            </a:r>
          </a:p>
          <a:p>
            <a:pPr algn="l">
              <a:buFont typeface="Arial" panose="020B0604020202020204" pitchFamily="34" charset="0"/>
              <a:buChar char="•"/>
            </a:pPr>
            <a:r>
              <a:rPr lang="en-US" sz="1800" b="0" i="0" dirty="0">
                <a:solidFill>
                  <a:srgbClr val="374151"/>
                </a:solidFill>
                <a:effectLst/>
                <a:latin typeface="__Inter_d65c78"/>
              </a:rPr>
              <a:t>How to attract candidates</a:t>
            </a:r>
          </a:p>
          <a:p>
            <a:pPr algn="l">
              <a:buFont typeface="Arial" panose="020B0604020202020204" pitchFamily="34" charset="0"/>
              <a:buChar char="•"/>
            </a:pPr>
            <a:r>
              <a:rPr lang="en-US" sz="1800" b="0" i="0" dirty="0">
                <a:solidFill>
                  <a:srgbClr val="374151"/>
                </a:solidFill>
                <a:effectLst/>
                <a:latin typeface="__Inter_d65c78"/>
              </a:rPr>
              <a:t>Branding approach</a:t>
            </a:r>
          </a:p>
          <a:p>
            <a:pPr algn="l">
              <a:buFont typeface="Arial" panose="020B0604020202020204" pitchFamily="34" charset="0"/>
              <a:buChar char="•"/>
            </a:pPr>
            <a:r>
              <a:rPr lang="en-US" sz="1800" b="0" i="0" dirty="0">
                <a:solidFill>
                  <a:srgbClr val="374151"/>
                </a:solidFill>
                <a:effectLst/>
                <a:latin typeface="__Inter_d65c78"/>
              </a:rPr>
              <a:t>Marketing channels</a:t>
            </a:r>
          </a:p>
          <a:p>
            <a:pPr algn="l"/>
            <a:r>
              <a:rPr lang="en-US" sz="1800" b="0" i="0" dirty="0">
                <a:solidFill>
                  <a:srgbClr val="374151"/>
                </a:solidFill>
                <a:effectLst/>
                <a:latin typeface="__Inter_d65c78"/>
              </a:rPr>
              <a:t>E. </a:t>
            </a:r>
            <a:r>
              <a:rPr lang="en-US" sz="1800" b="1" i="0" dirty="0">
                <a:solidFill>
                  <a:srgbClr val="374151"/>
                </a:solidFill>
                <a:effectLst/>
                <a:latin typeface="__Inter_d65c78"/>
              </a:rPr>
              <a:t>Financial Projections</a:t>
            </a:r>
            <a:r>
              <a:rPr lang="en-US" sz="1800" b="0" i="0" dirty="0">
                <a:solidFill>
                  <a:srgbClr val="374151"/>
                </a:solidFill>
                <a:effectLst/>
                <a:latin typeface="__Inter_d65c78"/>
              </a:rPr>
              <a:t>:</a:t>
            </a:r>
          </a:p>
          <a:p>
            <a:pPr algn="l">
              <a:buFont typeface="Arial" panose="020B0604020202020204" pitchFamily="34" charset="0"/>
              <a:buChar char="•"/>
            </a:pPr>
            <a:r>
              <a:rPr lang="en-US" sz="1800" b="0" i="0" dirty="0">
                <a:solidFill>
                  <a:srgbClr val="374151"/>
                </a:solidFill>
                <a:effectLst/>
                <a:latin typeface="__Inter_d65c78"/>
              </a:rPr>
              <a:t>Startup costs</a:t>
            </a:r>
          </a:p>
          <a:p>
            <a:pPr algn="l">
              <a:buFont typeface="Arial" panose="020B0604020202020204" pitchFamily="34" charset="0"/>
              <a:buChar char="•"/>
            </a:pPr>
            <a:r>
              <a:rPr lang="en-US" sz="1800" b="0" i="0" dirty="0">
                <a:solidFill>
                  <a:srgbClr val="374151"/>
                </a:solidFill>
                <a:effectLst/>
                <a:latin typeface="__Inter_d65c78"/>
              </a:rPr>
              <a:t>Operating expenses</a:t>
            </a:r>
          </a:p>
          <a:p>
            <a:pPr algn="l">
              <a:buFont typeface="Arial" panose="020B0604020202020204" pitchFamily="34" charset="0"/>
              <a:buChar char="•"/>
            </a:pPr>
            <a:r>
              <a:rPr lang="en-US" sz="1800" b="0" i="0" dirty="0">
                <a:solidFill>
                  <a:srgbClr val="374151"/>
                </a:solidFill>
                <a:effectLst/>
                <a:latin typeface="__Inter_d65c78"/>
              </a:rPr>
              <a:t>Revenue models</a:t>
            </a:r>
          </a:p>
          <a:p>
            <a:pPr algn="l">
              <a:buFont typeface="Arial" panose="020B0604020202020204" pitchFamily="34" charset="0"/>
              <a:buChar char="•"/>
            </a:pPr>
            <a:r>
              <a:rPr lang="en-US" sz="1800" b="0" i="0" dirty="0">
                <a:solidFill>
                  <a:srgbClr val="374151"/>
                </a:solidFill>
                <a:effectLst/>
                <a:latin typeface="__Inter_d65c78"/>
              </a:rPr>
              <a:t>Break-even analysis</a:t>
            </a:r>
          </a:p>
          <a:p>
            <a:endParaRPr lang="en-IN" dirty="0"/>
          </a:p>
        </p:txBody>
      </p:sp>
    </p:spTree>
    <p:extLst>
      <p:ext uri="{BB962C8B-B14F-4D97-AF65-F5344CB8AC3E}">
        <p14:creationId xmlns:p14="http://schemas.microsoft.com/office/powerpoint/2010/main" val="2866050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A5AD857-7F82-4111-98A4-5139E84C280A}"/>
              </a:ext>
            </a:extLst>
          </p:cNvPr>
          <p:cNvSpPr txBox="1"/>
          <p:nvPr/>
        </p:nvSpPr>
        <p:spPr>
          <a:xfrm>
            <a:off x="1134611" y="1028343"/>
            <a:ext cx="4494402" cy="4801314"/>
          </a:xfrm>
          <a:prstGeom prst="rect">
            <a:avLst/>
          </a:prstGeom>
          <a:noFill/>
        </p:spPr>
        <p:txBody>
          <a:bodyPr wrap="square">
            <a:spAutoFit/>
          </a:bodyPr>
          <a:lstStyle/>
          <a:p>
            <a:pPr algn="l">
              <a:buFont typeface="+mj-lt"/>
              <a:buAutoNum type="arabicPeriod" startAt="3"/>
            </a:pPr>
            <a:r>
              <a:rPr lang="en-IN" b="1" i="0" dirty="0">
                <a:solidFill>
                  <a:srgbClr val="374151"/>
                </a:solidFill>
                <a:effectLst/>
                <a:latin typeface="__Inter_d65c78"/>
              </a:rPr>
              <a:t>Building a Prototype</a:t>
            </a:r>
            <a:r>
              <a:rPr lang="en-IN" b="0" i="0" dirty="0">
                <a:solidFill>
                  <a:srgbClr val="374151"/>
                </a:solidFill>
                <a:effectLst/>
                <a:latin typeface="__Inter_d65c78"/>
              </a:rPr>
              <a:t>:</a:t>
            </a:r>
          </a:p>
          <a:p>
            <a:pPr algn="l"/>
            <a:r>
              <a:rPr lang="en-IN" b="0" i="0" dirty="0">
                <a:solidFill>
                  <a:srgbClr val="374151"/>
                </a:solidFill>
                <a:effectLst/>
                <a:latin typeface="__Inter_d65c78"/>
              </a:rPr>
              <a:t>A. </a:t>
            </a:r>
            <a:r>
              <a:rPr lang="en-IN" b="1" i="0" dirty="0">
                <a:solidFill>
                  <a:srgbClr val="374151"/>
                </a:solidFill>
                <a:effectLst/>
                <a:latin typeface="__Inter_d65c78"/>
              </a:rPr>
              <a:t>Design Phase</a:t>
            </a:r>
            <a:r>
              <a:rPr lang="en-IN" b="0" i="0" dirty="0">
                <a:solidFill>
                  <a:srgbClr val="374151"/>
                </a:solidFill>
                <a:effectLst/>
                <a:latin typeface="__Inter_d65c78"/>
              </a:rPr>
              <a:t>:</a:t>
            </a:r>
          </a:p>
          <a:p>
            <a:pPr algn="l">
              <a:buFont typeface="Arial" panose="020B0604020202020204" pitchFamily="34" charset="0"/>
              <a:buChar char="•"/>
            </a:pPr>
            <a:r>
              <a:rPr lang="en-IN" b="0" i="0" dirty="0">
                <a:solidFill>
                  <a:srgbClr val="374151"/>
                </a:solidFill>
                <a:effectLst/>
                <a:latin typeface="__Inter_d65c78"/>
              </a:rPr>
              <a:t>Create wireframes</a:t>
            </a:r>
          </a:p>
          <a:p>
            <a:pPr algn="l">
              <a:buFont typeface="Arial" panose="020B0604020202020204" pitchFamily="34" charset="0"/>
              <a:buChar char="•"/>
            </a:pPr>
            <a:r>
              <a:rPr lang="en-IN" b="0" i="0" dirty="0">
                <a:solidFill>
                  <a:srgbClr val="374151"/>
                </a:solidFill>
                <a:effectLst/>
                <a:latin typeface="__Inter_d65c78"/>
              </a:rPr>
              <a:t>Design user interface</a:t>
            </a:r>
          </a:p>
          <a:p>
            <a:pPr algn="l">
              <a:buFont typeface="Arial" panose="020B0604020202020204" pitchFamily="34" charset="0"/>
              <a:buChar char="•"/>
            </a:pPr>
            <a:r>
              <a:rPr lang="en-IN" b="0" i="0" dirty="0">
                <a:solidFill>
                  <a:srgbClr val="374151"/>
                </a:solidFill>
                <a:effectLst/>
                <a:latin typeface="__Inter_d65c78"/>
              </a:rPr>
              <a:t>Plan user experience</a:t>
            </a:r>
          </a:p>
          <a:p>
            <a:pPr algn="l">
              <a:buFont typeface="Arial" panose="020B0604020202020204" pitchFamily="34" charset="0"/>
              <a:buChar char="•"/>
            </a:pPr>
            <a:r>
              <a:rPr lang="en-IN" b="0" i="0" dirty="0">
                <a:solidFill>
                  <a:srgbClr val="374151"/>
                </a:solidFill>
                <a:effectLst/>
                <a:latin typeface="__Inter_d65c78"/>
              </a:rPr>
              <a:t>Define key features</a:t>
            </a:r>
          </a:p>
          <a:p>
            <a:pPr algn="l"/>
            <a:r>
              <a:rPr lang="en-IN" b="0" i="0" dirty="0">
                <a:solidFill>
                  <a:srgbClr val="374151"/>
                </a:solidFill>
                <a:effectLst/>
                <a:latin typeface="__Inter_d65c78"/>
              </a:rPr>
              <a:t>B. </a:t>
            </a:r>
            <a:r>
              <a:rPr lang="en-IN" b="1" i="0" dirty="0">
                <a:solidFill>
                  <a:srgbClr val="374151"/>
                </a:solidFill>
                <a:effectLst/>
                <a:latin typeface="__Inter_d65c78"/>
              </a:rPr>
              <a:t>Development Phase</a:t>
            </a:r>
            <a:r>
              <a:rPr lang="en-IN" b="0" i="0" dirty="0">
                <a:solidFill>
                  <a:srgbClr val="374151"/>
                </a:solidFill>
                <a:effectLst/>
                <a:latin typeface="__Inter_d65c78"/>
              </a:rPr>
              <a:t>:</a:t>
            </a:r>
          </a:p>
          <a:p>
            <a:pPr algn="l">
              <a:buFont typeface="Arial" panose="020B0604020202020204" pitchFamily="34" charset="0"/>
              <a:buChar char="•"/>
            </a:pPr>
            <a:r>
              <a:rPr lang="en-IN" b="0" i="0" dirty="0">
                <a:solidFill>
                  <a:srgbClr val="374151"/>
                </a:solidFill>
                <a:effectLst/>
                <a:latin typeface="__Inter_d65c78"/>
              </a:rPr>
              <a:t>Choose technology stack</a:t>
            </a:r>
          </a:p>
          <a:p>
            <a:pPr algn="l">
              <a:buFont typeface="Arial" panose="020B0604020202020204" pitchFamily="34" charset="0"/>
              <a:buChar char="•"/>
            </a:pPr>
            <a:r>
              <a:rPr lang="en-IN" b="0" i="0" dirty="0">
                <a:solidFill>
                  <a:srgbClr val="374151"/>
                </a:solidFill>
                <a:effectLst/>
                <a:latin typeface="__Inter_d65c78"/>
              </a:rPr>
              <a:t>Develop MVP (Minimum Viable Product)</a:t>
            </a:r>
          </a:p>
          <a:p>
            <a:pPr algn="l">
              <a:buFont typeface="Arial" panose="020B0604020202020204" pitchFamily="34" charset="0"/>
              <a:buChar char="•"/>
            </a:pPr>
            <a:r>
              <a:rPr lang="en-IN" b="0" i="0" dirty="0">
                <a:solidFill>
                  <a:srgbClr val="374151"/>
                </a:solidFill>
                <a:effectLst/>
                <a:latin typeface="__Inter_d65c78"/>
              </a:rPr>
              <a:t>Test basic functionalities</a:t>
            </a:r>
          </a:p>
          <a:p>
            <a:pPr algn="l">
              <a:buFont typeface="Arial" panose="020B0604020202020204" pitchFamily="34" charset="0"/>
              <a:buChar char="•"/>
            </a:pPr>
            <a:r>
              <a:rPr lang="en-IN" b="0" i="0" dirty="0">
                <a:solidFill>
                  <a:srgbClr val="374151"/>
                </a:solidFill>
                <a:effectLst/>
                <a:latin typeface="__Inter_d65c78"/>
              </a:rPr>
              <a:t>Implement security measures</a:t>
            </a:r>
          </a:p>
          <a:p>
            <a:pPr algn="l"/>
            <a:r>
              <a:rPr lang="en-IN" b="0" i="0" dirty="0">
                <a:solidFill>
                  <a:srgbClr val="374151"/>
                </a:solidFill>
                <a:effectLst/>
                <a:latin typeface="__Inter_d65c78"/>
              </a:rPr>
              <a:t>C. </a:t>
            </a:r>
            <a:r>
              <a:rPr lang="en-IN" b="1" i="0" dirty="0">
                <a:solidFill>
                  <a:srgbClr val="374151"/>
                </a:solidFill>
                <a:effectLst/>
                <a:latin typeface="__Inter_d65c78"/>
              </a:rPr>
              <a:t>Testing Phase</a:t>
            </a:r>
            <a:r>
              <a:rPr lang="en-IN" b="0" i="0" dirty="0">
                <a:solidFill>
                  <a:srgbClr val="374151"/>
                </a:solidFill>
                <a:effectLst/>
                <a:latin typeface="__Inter_d65c78"/>
              </a:rPr>
              <a:t>:</a:t>
            </a:r>
          </a:p>
          <a:p>
            <a:pPr algn="l">
              <a:buFont typeface="Arial" panose="020B0604020202020204" pitchFamily="34" charset="0"/>
              <a:buChar char="•"/>
            </a:pPr>
            <a:r>
              <a:rPr lang="en-IN" b="0" i="0" dirty="0">
                <a:solidFill>
                  <a:srgbClr val="374151"/>
                </a:solidFill>
                <a:effectLst/>
                <a:latin typeface="__Inter_d65c78"/>
              </a:rPr>
              <a:t>Internal testing</a:t>
            </a:r>
          </a:p>
          <a:p>
            <a:pPr algn="l">
              <a:buFont typeface="Arial" panose="020B0604020202020204" pitchFamily="34" charset="0"/>
              <a:buChar char="•"/>
            </a:pPr>
            <a:r>
              <a:rPr lang="en-IN" b="0" i="0" dirty="0">
                <a:solidFill>
                  <a:srgbClr val="374151"/>
                </a:solidFill>
                <a:effectLst/>
                <a:latin typeface="__Inter_d65c78"/>
              </a:rPr>
              <a:t>Beta testing with small user group</a:t>
            </a:r>
          </a:p>
          <a:p>
            <a:pPr algn="l">
              <a:buFont typeface="Arial" panose="020B0604020202020204" pitchFamily="34" charset="0"/>
              <a:buChar char="•"/>
            </a:pPr>
            <a:r>
              <a:rPr lang="en-IN" b="0" i="0" dirty="0">
                <a:solidFill>
                  <a:srgbClr val="374151"/>
                </a:solidFill>
                <a:effectLst/>
                <a:latin typeface="__Inter_d65c78"/>
              </a:rPr>
              <a:t>Gather feedback</a:t>
            </a:r>
          </a:p>
          <a:p>
            <a:pPr algn="l">
              <a:buFont typeface="Arial" panose="020B0604020202020204" pitchFamily="34" charset="0"/>
              <a:buChar char="•"/>
            </a:pPr>
            <a:r>
              <a:rPr lang="en-IN" b="0" i="0" dirty="0">
                <a:solidFill>
                  <a:srgbClr val="374151"/>
                </a:solidFill>
                <a:effectLst/>
                <a:latin typeface="__Inter_d65c78"/>
              </a:rPr>
              <a:t>Make improvements</a:t>
            </a:r>
          </a:p>
          <a:p>
            <a:endParaRPr lang="en-IN" dirty="0"/>
          </a:p>
        </p:txBody>
      </p:sp>
      <p:sp>
        <p:nvSpPr>
          <p:cNvPr id="5" name="TextBox 4">
            <a:extLst>
              <a:ext uri="{FF2B5EF4-FFF2-40B4-BE49-F238E27FC236}">
                <a16:creationId xmlns:a16="http://schemas.microsoft.com/office/drawing/2014/main" id="{AEB3D17A-65FF-0D12-0704-B5D4A056365D}"/>
              </a:ext>
            </a:extLst>
          </p:cNvPr>
          <p:cNvSpPr txBox="1"/>
          <p:nvPr/>
        </p:nvSpPr>
        <p:spPr>
          <a:xfrm>
            <a:off x="6277063" y="1639047"/>
            <a:ext cx="6094602" cy="3416320"/>
          </a:xfrm>
          <a:prstGeom prst="rect">
            <a:avLst/>
          </a:prstGeom>
          <a:noFill/>
        </p:spPr>
        <p:txBody>
          <a:bodyPr wrap="square">
            <a:spAutoFit/>
          </a:bodyPr>
          <a:lstStyle/>
          <a:p>
            <a:pPr algn="l">
              <a:buFont typeface="+mj-lt"/>
              <a:buAutoNum type="arabicPeriod" startAt="4"/>
            </a:pPr>
            <a:r>
              <a:rPr lang="en-US" b="1" i="0" dirty="0">
                <a:solidFill>
                  <a:srgbClr val="374151"/>
                </a:solidFill>
                <a:effectLst/>
                <a:latin typeface="__Inter_d65c78"/>
              </a:rPr>
              <a:t>Seeking Feedback</a:t>
            </a:r>
            <a:r>
              <a:rPr lang="en-US" b="0" i="0" dirty="0">
                <a:solidFill>
                  <a:srgbClr val="374151"/>
                </a:solidFill>
                <a:effectLst/>
                <a:latin typeface="__Inter_d65c78"/>
              </a:rPr>
              <a:t>:</a:t>
            </a:r>
          </a:p>
          <a:p>
            <a:pPr algn="l"/>
            <a:r>
              <a:rPr lang="en-US" b="0" i="0" dirty="0">
                <a:solidFill>
                  <a:srgbClr val="374151"/>
                </a:solidFill>
                <a:effectLst/>
                <a:latin typeface="__Inter_d65c78"/>
              </a:rPr>
              <a:t>A. </a:t>
            </a:r>
            <a:r>
              <a:rPr lang="en-US" b="1" i="0" dirty="0">
                <a:solidFill>
                  <a:srgbClr val="374151"/>
                </a:solidFill>
                <a:effectLst/>
                <a:latin typeface="__Inter_d65c78"/>
              </a:rPr>
              <a:t>From Candidates</a:t>
            </a:r>
            <a:r>
              <a:rPr lang="en-US" b="0" i="0" dirty="0">
                <a:solidFill>
                  <a:srgbClr val="374151"/>
                </a:solidFill>
                <a:effectLst/>
                <a:latin typeface="__Inter_d65c78"/>
              </a:rPr>
              <a:t>:</a:t>
            </a:r>
          </a:p>
          <a:p>
            <a:pPr algn="l">
              <a:buFont typeface="Arial" panose="020B0604020202020204" pitchFamily="34" charset="0"/>
              <a:buChar char="•"/>
            </a:pPr>
            <a:r>
              <a:rPr lang="en-US" b="0" i="0" dirty="0">
                <a:solidFill>
                  <a:srgbClr val="374151"/>
                </a:solidFill>
                <a:effectLst/>
                <a:latin typeface="__Inter_d65c78"/>
              </a:rPr>
              <a:t>Organize focus groups</a:t>
            </a:r>
          </a:p>
          <a:p>
            <a:pPr algn="l">
              <a:buFont typeface="Arial" panose="020B0604020202020204" pitchFamily="34" charset="0"/>
              <a:buChar char="•"/>
            </a:pPr>
            <a:r>
              <a:rPr lang="en-US" b="0" i="0" dirty="0">
                <a:solidFill>
                  <a:srgbClr val="374151"/>
                </a:solidFill>
                <a:effectLst/>
                <a:latin typeface="__Inter_d65c78"/>
              </a:rPr>
              <a:t>Conduct user testing sessions</a:t>
            </a:r>
          </a:p>
          <a:p>
            <a:pPr algn="l">
              <a:buFont typeface="Arial" panose="020B0604020202020204" pitchFamily="34" charset="0"/>
              <a:buChar char="•"/>
            </a:pPr>
            <a:r>
              <a:rPr lang="en-US" b="0" i="0" dirty="0">
                <a:solidFill>
                  <a:srgbClr val="374151"/>
                </a:solidFill>
                <a:effectLst/>
                <a:latin typeface="__Inter_d65c78"/>
              </a:rPr>
              <a:t>Collect online feedback</a:t>
            </a:r>
          </a:p>
          <a:p>
            <a:pPr algn="l">
              <a:buFont typeface="Arial" panose="020B0604020202020204" pitchFamily="34" charset="0"/>
              <a:buChar char="•"/>
            </a:pPr>
            <a:r>
              <a:rPr lang="en-US" b="0" i="0" dirty="0">
                <a:solidFill>
                  <a:srgbClr val="374151"/>
                </a:solidFill>
                <a:effectLst/>
                <a:latin typeface="__Inter_d65c78"/>
              </a:rPr>
              <a:t>Run beta testing program</a:t>
            </a:r>
          </a:p>
          <a:p>
            <a:pPr algn="l"/>
            <a:r>
              <a:rPr lang="en-US" b="0" i="0" dirty="0">
                <a:solidFill>
                  <a:srgbClr val="374151"/>
                </a:solidFill>
                <a:effectLst/>
                <a:latin typeface="__Inter_d65c78"/>
              </a:rPr>
              <a:t>B. </a:t>
            </a:r>
            <a:r>
              <a:rPr lang="en-US" b="1" i="0" dirty="0">
                <a:solidFill>
                  <a:srgbClr val="374151"/>
                </a:solidFill>
                <a:effectLst/>
                <a:latin typeface="__Inter_d65c78"/>
              </a:rPr>
              <a:t>From Companies</a:t>
            </a:r>
            <a:r>
              <a:rPr lang="en-US" b="0" i="0" dirty="0">
                <a:solidFill>
                  <a:srgbClr val="374151"/>
                </a:solidFill>
                <a:effectLst/>
                <a:latin typeface="__Inter_d65c78"/>
              </a:rPr>
              <a:t>:</a:t>
            </a:r>
          </a:p>
          <a:p>
            <a:pPr algn="l">
              <a:buFont typeface="Arial" panose="020B0604020202020204" pitchFamily="34" charset="0"/>
              <a:buChar char="•"/>
            </a:pPr>
            <a:r>
              <a:rPr lang="en-US" b="0" i="0" dirty="0">
                <a:solidFill>
                  <a:srgbClr val="374151"/>
                </a:solidFill>
                <a:effectLst/>
                <a:latin typeface="__Inter_d65c78"/>
              </a:rPr>
              <a:t>Present prototype to HR managers</a:t>
            </a:r>
          </a:p>
          <a:p>
            <a:pPr algn="l">
              <a:buFont typeface="Arial" panose="020B0604020202020204" pitchFamily="34" charset="0"/>
              <a:buChar char="•"/>
            </a:pPr>
            <a:r>
              <a:rPr lang="en-US" b="0" i="0" dirty="0">
                <a:solidFill>
                  <a:srgbClr val="374151"/>
                </a:solidFill>
                <a:effectLst/>
                <a:latin typeface="__Inter_d65c78"/>
              </a:rPr>
              <a:t>Conduct demo sessions</a:t>
            </a:r>
          </a:p>
          <a:p>
            <a:pPr algn="l">
              <a:buFont typeface="Arial" panose="020B0604020202020204" pitchFamily="34" charset="0"/>
              <a:buChar char="•"/>
            </a:pPr>
            <a:r>
              <a:rPr lang="en-US" b="0" i="0" dirty="0">
                <a:solidFill>
                  <a:srgbClr val="374151"/>
                </a:solidFill>
                <a:effectLst/>
                <a:latin typeface="__Inter_d65c78"/>
              </a:rPr>
              <a:t>Gather requirements</a:t>
            </a:r>
          </a:p>
          <a:p>
            <a:pPr algn="l">
              <a:buFont typeface="Arial" panose="020B0604020202020204" pitchFamily="34" charset="0"/>
              <a:buChar char="•"/>
            </a:pPr>
            <a:r>
              <a:rPr lang="en-US" b="0" i="0" dirty="0">
                <a:solidFill>
                  <a:srgbClr val="374151"/>
                </a:solidFill>
                <a:effectLst/>
                <a:latin typeface="__Inter_d65c78"/>
              </a:rPr>
              <a:t>Address concerns</a:t>
            </a:r>
          </a:p>
          <a:p>
            <a:endParaRPr lang="en-IN" dirty="0"/>
          </a:p>
        </p:txBody>
      </p:sp>
    </p:spTree>
    <p:extLst>
      <p:ext uri="{BB962C8B-B14F-4D97-AF65-F5344CB8AC3E}">
        <p14:creationId xmlns:p14="http://schemas.microsoft.com/office/powerpoint/2010/main" val="25528412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E68EDBD-6027-7183-E652-8075CE2DE3E2}"/>
              </a:ext>
            </a:extLst>
          </p:cNvPr>
          <p:cNvSpPr txBox="1"/>
          <p:nvPr/>
        </p:nvSpPr>
        <p:spPr>
          <a:xfrm>
            <a:off x="908108" y="1085050"/>
            <a:ext cx="3219275" cy="4524315"/>
          </a:xfrm>
          <a:prstGeom prst="rect">
            <a:avLst/>
          </a:prstGeom>
          <a:noFill/>
        </p:spPr>
        <p:txBody>
          <a:bodyPr wrap="square">
            <a:spAutoFit/>
          </a:bodyPr>
          <a:lstStyle/>
          <a:p>
            <a:pPr algn="l">
              <a:buFont typeface="+mj-lt"/>
              <a:buAutoNum type="arabicPeriod" startAt="5"/>
            </a:pPr>
            <a:r>
              <a:rPr lang="en-US" b="1" i="0" dirty="0">
                <a:solidFill>
                  <a:srgbClr val="374151"/>
                </a:solidFill>
                <a:effectLst/>
                <a:latin typeface="__Inter_d65c78"/>
              </a:rPr>
              <a:t>Exploring Funding Options</a:t>
            </a:r>
            <a:r>
              <a:rPr lang="en-US" b="0" i="0" dirty="0">
                <a:solidFill>
                  <a:srgbClr val="374151"/>
                </a:solidFill>
                <a:effectLst/>
                <a:latin typeface="__Inter_d65c78"/>
              </a:rPr>
              <a:t>:</a:t>
            </a:r>
          </a:p>
          <a:p>
            <a:pPr algn="l"/>
            <a:r>
              <a:rPr lang="en-US" b="0" i="0" dirty="0">
                <a:solidFill>
                  <a:srgbClr val="374151"/>
                </a:solidFill>
                <a:effectLst/>
                <a:latin typeface="__Inter_d65c78"/>
              </a:rPr>
              <a:t>A. </a:t>
            </a:r>
            <a:r>
              <a:rPr lang="en-US" b="1" i="0" dirty="0">
                <a:solidFill>
                  <a:srgbClr val="374151"/>
                </a:solidFill>
                <a:effectLst/>
                <a:latin typeface="__Inter_d65c78"/>
              </a:rPr>
              <a:t>Self-Funding</a:t>
            </a:r>
            <a:r>
              <a:rPr lang="en-US" b="0" i="0" dirty="0">
                <a:solidFill>
                  <a:srgbClr val="374151"/>
                </a:solidFill>
                <a:effectLst/>
                <a:latin typeface="__Inter_d65c78"/>
              </a:rPr>
              <a:t>:</a:t>
            </a:r>
          </a:p>
          <a:p>
            <a:pPr algn="l">
              <a:buFont typeface="Arial" panose="020B0604020202020204" pitchFamily="34" charset="0"/>
              <a:buChar char="•"/>
            </a:pPr>
            <a:r>
              <a:rPr lang="en-US" b="0" i="0" dirty="0">
                <a:solidFill>
                  <a:srgbClr val="374151"/>
                </a:solidFill>
                <a:effectLst/>
                <a:latin typeface="__Inter_d65c78"/>
              </a:rPr>
              <a:t>Personal savings</a:t>
            </a:r>
          </a:p>
          <a:p>
            <a:pPr algn="l">
              <a:buFont typeface="Arial" panose="020B0604020202020204" pitchFamily="34" charset="0"/>
              <a:buChar char="•"/>
            </a:pPr>
            <a:r>
              <a:rPr lang="en-US" b="0" i="0" dirty="0">
                <a:solidFill>
                  <a:srgbClr val="374151"/>
                </a:solidFill>
                <a:effectLst/>
                <a:latin typeface="__Inter_d65c78"/>
              </a:rPr>
              <a:t>Friends and family</a:t>
            </a:r>
          </a:p>
          <a:p>
            <a:pPr algn="l">
              <a:buFont typeface="Arial" panose="020B0604020202020204" pitchFamily="34" charset="0"/>
              <a:buChar char="•"/>
            </a:pPr>
            <a:r>
              <a:rPr lang="en-US" b="0" i="0" dirty="0">
                <a:solidFill>
                  <a:srgbClr val="374151"/>
                </a:solidFill>
                <a:effectLst/>
                <a:latin typeface="__Inter_d65c78"/>
              </a:rPr>
              <a:t>Bootstrap approach</a:t>
            </a:r>
          </a:p>
          <a:p>
            <a:pPr algn="l"/>
            <a:r>
              <a:rPr lang="en-US" b="0" i="0" dirty="0">
                <a:solidFill>
                  <a:srgbClr val="374151"/>
                </a:solidFill>
                <a:effectLst/>
                <a:latin typeface="__Inter_d65c78"/>
              </a:rPr>
              <a:t>B. </a:t>
            </a:r>
            <a:r>
              <a:rPr lang="en-US" b="1" i="0" dirty="0">
                <a:solidFill>
                  <a:srgbClr val="374151"/>
                </a:solidFill>
                <a:effectLst/>
                <a:latin typeface="__Inter_d65c78"/>
              </a:rPr>
              <a:t>External Funding</a:t>
            </a:r>
            <a:r>
              <a:rPr lang="en-US" b="0" i="0" dirty="0">
                <a:solidFill>
                  <a:srgbClr val="374151"/>
                </a:solidFill>
                <a:effectLst/>
                <a:latin typeface="__Inter_d65c78"/>
              </a:rPr>
              <a:t>:</a:t>
            </a:r>
          </a:p>
          <a:p>
            <a:pPr algn="l">
              <a:buFont typeface="Arial" panose="020B0604020202020204" pitchFamily="34" charset="0"/>
              <a:buChar char="•"/>
            </a:pPr>
            <a:r>
              <a:rPr lang="en-US" b="0" i="0" dirty="0">
                <a:solidFill>
                  <a:srgbClr val="374151"/>
                </a:solidFill>
                <a:effectLst/>
                <a:latin typeface="__Inter_d65c78"/>
              </a:rPr>
              <a:t>Angel investors</a:t>
            </a:r>
          </a:p>
          <a:p>
            <a:pPr algn="l">
              <a:buFont typeface="Arial" panose="020B0604020202020204" pitchFamily="34" charset="0"/>
              <a:buChar char="•"/>
            </a:pPr>
            <a:r>
              <a:rPr lang="en-US" b="0" i="0" dirty="0">
                <a:solidFill>
                  <a:srgbClr val="374151"/>
                </a:solidFill>
                <a:effectLst/>
                <a:latin typeface="__Inter_d65c78"/>
              </a:rPr>
              <a:t>Venture capital</a:t>
            </a:r>
          </a:p>
          <a:p>
            <a:pPr algn="l">
              <a:buFont typeface="Arial" panose="020B0604020202020204" pitchFamily="34" charset="0"/>
              <a:buChar char="•"/>
            </a:pPr>
            <a:r>
              <a:rPr lang="en-US" b="0" i="0" dirty="0">
                <a:solidFill>
                  <a:srgbClr val="374151"/>
                </a:solidFill>
                <a:effectLst/>
                <a:latin typeface="__Inter_d65c78"/>
              </a:rPr>
              <a:t>Business loans</a:t>
            </a:r>
          </a:p>
          <a:p>
            <a:pPr algn="l">
              <a:buFont typeface="Arial" panose="020B0604020202020204" pitchFamily="34" charset="0"/>
              <a:buChar char="•"/>
            </a:pPr>
            <a:r>
              <a:rPr lang="en-US" b="0" i="0" dirty="0">
                <a:solidFill>
                  <a:srgbClr val="374151"/>
                </a:solidFill>
                <a:effectLst/>
                <a:latin typeface="__Inter_d65c78"/>
              </a:rPr>
              <a:t>Government grants</a:t>
            </a:r>
          </a:p>
          <a:p>
            <a:pPr algn="l"/>
            <a:r>
              <a:rPr lang="en-US" b="0" i="0" dirty="0">
                <a:solidFill>
                  <a:srgbClr val="374151"/>
                </a:solidFill>
                <a:effectLst/>
                <a:latin typeface="__Inter_d65c78"/>
              </a:rPr>
              <a:t>C. </a:t>
            </a:r>
            <a:r>
              <a:rPr lang="en-US" b="1" i="0" dirty="0">
                <a:solidFill>
                  <a:srgbClr val="374151"/>
                </a:solidFill>
                <a:effectLst/>
                <a:latin typeface="__Inter_d65c78"/>
              </a:rPr>
              <a:t>Preparation for Funding</a:t>
            </a:r>
            <a:r>
              <a:rPr lang="en-US" b="0" i="0" dirty="0">
                <a:solidFill>
                  <a:srgbClr val="374151"/>
                </a:solidFill>
                <a:effectLst/>
                <a:latin typeface="__Inter_d65c78"/>
              </a:rPr>
              <a:t>:</a:t>
            </a:r>
          </a:p>
          <a:p>
            <a:pPr algn="l">
              <a:buFont typeface="Arial" panose="020B0604020202020204" pitchFamily="34" charset="0"/>
              <a:buChar char="•"/>
            </a:pPr>
            <a:r>
              <a:rPr lang="en-US" b="0" i="0" dirty="0">
                <a:solidFill>
                  <a:srgbClr val="374151"/>
                </a:solidFill>
                <a:effectLst/>
                <a:latin typeface="__Inter_d65c78"/>
              </a:rPr>
              <a:t>Pitch deck creation</a:t>
            </a:r>
          </a:p>
          <a:p>
            <a:pPr algn="l">
              <a:buFont typeface="Arial" panose="020B0604020202020204" pitchFamily="34" charset="0"/>
              <a:buChar char="•"/>
            </a:pPr>
            <a:r>
              <a:rPr lang="en-US" b="0" i="0" dirty="0">
                <a:solidFill>
                  <a:srgbClr val="374151"/>
                </a:solidFill>
                <a:effectLst/>
                <a:latin typeface="__Inter_d65c78"/>
              </a:rPr>
              <a:t>Financial projections</a:t>
            </a:r>
          </a:p>
          <a:p>
            <a:pPr algn="l">
              <a:buFont typeface="Arial" panose="020B0604020202020204" pitchFamily="34" charset="0"/>
              <a:buChar char="•"/>
            </a:pPr>
            <a:r>
              <a:rPr lang="en-US" b="0" i="0" dirty="0">
                <a:solidFill>
                  <a:srgbClr val="374151"/>
                </a:solidFill>
                <a:effectLst/>
                <a:latin typeface="__Inter_d65c78"/>
              </a:rPr>
              <a:t>Business valuation</a:t>
            </a:r>
          </a:p>
          <a:p>
            <a:pPr algn="l">
              <a:buFont typeface="Arial" panose="020B0604020202020204" pitchFamily="34" charset="0"/>
              <a:buChar char="•"/>
            </a:pPr>
            <a:r>
              <a:rPr lang="en-US" b="0" i="0" dirty="0">
                <a:solidFill>
                  <a:srgbClr val="374151"/>
                </a:solidFill>
                <a:effectLst/>
                <a:latin typeface="__Inter_d65c78"/>
              </a:rPr>
              <a:t>Legal documentation</a:t>
            </a:r>
          </a:p>
          <a:p>
            <a:endParaRPr lang="en-IN" dirty="0"/>
          </a:p>
        </p:txBody>
      </p:sp>
      <p:sp>
        <p:nvSpPr>
          <p:cNvPr id="5" name="TextBox 4">
            <a:extLst>
              <a:ext uri="{FF2B5EF4-FFF2-40B4-BE49-F238E27FC236}">
                <a16:creationId xmlns:a16="http://schemas.microsoft.com/office/drawing/2014/main" id="{64D1A96C-B252-30F8-9634-CB44BA27F066}"/>
              </a:ext>
            </a:extLst>
          </p:cNvPr>
          <p:cNvSpPr txBox="1"/>
          <p:nvPr/>
        </p:nvSpPr>
        <p:spPr>
          <a:xfrm>
            <a:off x="7149518" y="849834"/>
            <a:ext cx="3663892" cy="5632311"/>
          </a:xfrm>
          <a:prstGeom prst="rect">
            <a:avLst/>
          </a:prstGeom>
          <a:noFill/>
        </p:spPr>
        <p:txBody>
          <a:bodyPr wrap="square">
            <a:spAutoFit/>
          </a:bodyPr>
          <a:lstStyle/>
          <a:p>
            <a:pPr algn="l">
              <a:buFont typeface="+mj-lt"/>
              <a:buAutoNum type="arabicPeriod" startAt="6"/>
            </a:pPr>
            <a:r>
              <a:rPr lang="en-IN" b="1" i="0" dirty="0">
                <a:solidFill>
                  <a:srgbClr val="374151"/>
                </a:solidFill>
                <a:effectLst/>
                <a:latin typeface="__Inter_d65c78"/>
              </a:rPr>
              <a:t>Implementation Timeline</a:t>
            </a:r>
            <a:r>
              <a:rPr lang="en-IN" b="0" i="0" dirty="0">
                <a:solidFill>
                  <a:srgbClr val="374151"/>
                </a:solidFill>
                <a:effectLst/>
                <a:latin typeface="__Inter_d65c78"/>
              </a:rPr>
              <a:t>:</a:t>
            </a:r>
          </a:p>
          <a:p>
            <a:pPr algn="l"/>
            <a:r>
              <a:rPr lang="en-IN" b="0" i="0" dirty="0">
                <a:solidFill>
                  <a:srgbClr val="374151"/>
                </a:solidFill>
                <a:effectLst/>
                <a:latin typeface="__Inter_d65c78"/>
              </a:rPr>
              <a:t>Month 1-2:</a:t>
            </a:r>
          </a:p>
          <a:p>
            <a:pPr algn="l">
              <a:buFont typeface="Arial" panose="020B0604020202020204" pitchFamily="34" charset="0"/>
              <a:buChar char="•"/>
            </a:pPr>
            <a:r>
              <a:rPr lang="en-IN" b="0" i="0" dirty="0">
                <a:solidFill>
                  <a:srgbClr val="374151"/>
                </a:solidFill>
                <a:effectLst/>
                <a:latin typeface="__Inter_d65c78"/>
              </a:rPr>
              <a:t>Market research</a:t>
            </a:r>
          </a:p>
          <a:p>
            <a:pPr algn="l">
              <a:buFont typeface="Arial" panose="020B0604020202020204" pitchFamily="34" charset="0"/>
              <a:buChar char="•"/>
            </a:pPr>
            <a:r>
              <a:rPr lang="en-IN" b="0" i="0" dirty="0">
                <a:solidFill>
                  <a:srgbClr val="374151"/>
                </a:solidFill>
                <a:effectLst/>
                <a:latin typeface="__Inter_d65c78"/>
              </a:rPr>
              <a:t>Business plan development</a:t>
            </a:r>
          </a:p>
          <a:p>
            <a:pPr algn="l"/>
            <a:r>
              <a:rPr lang="en-IN" b="0" i="0" dirty="0">
                <a:solidFill>
                  <a:srgbClr val="374151"/>
                </a:solidFill>
                <a:effectLst/>
                <a:latin typeface="__Inter_d65c78"/>
              </a:rPr>
              <a:t>Month 3-4:</a:t>
            </a:r>
          </a:p>
          <a:p>
            <a:pPr algn="l">
              <a:buFont typeface="Arial" panose="020B0604020202020204" pitchFamily="34" charset="0"/>
              <a:buChar char="•"/>
            </a:pPr>
            <a:r>
              <a:rPr lang="en-IN" b="0" i="0" dirty="0">
                <a:solidFill>
                  <a:srgbClr val="374151"/>
                </a:solidFill>
                <a:effectLst/>
                <a:latin typeface="__Inter_d65c78"/>
              </a:rPr>
              <a:t>Prototype development</a:t>
            </a:r>
          </a:p>
          <a:p>
            <a:pPr algn="l">
              <a:buFont typeface="Arial" panose="020B0604020202020204" pitchFamily="34" charset="0"/>
              <a:buChar char="•"/>
            </a:pPr>
            <a:r>
              <a:rPr lang="en-IN" b="0" i="0" dirty="0">
                <a:solidFill>
                  <a:srgbClr val="374151"/>
                </a:solidFill>
                <a:effectLst/>
                <a:latin typeface="__Inter_d65c78"/>
              </a:rPr>
              <a:t>Initial testing</a:t>
            </a:r>
          </a:p>
          <a:p>
            <a:pPr algn="l"/>
            <a:r>
              <a:rPr lang="en-IN" b="0" i="0" dirty="0">
                <a:solidFill>
                  <a:srgbClr val="374151"/>
                </a:solidFill>
                <a:effectLst/>
                <a:latin typeface="__Inter_d65c78"/>
              </a:rPr>
              <a:t>Month 5-6:</a:t>
            </a:r>
          </a:p>
          <a:p>
            <a:pPr algn="l">
              <a:buFont typeface="Arial" panose="020B0604020202020204" pitchFamily="34" charset="0"/>
              <a:buChar char="•"/>
            </a:pPr>
            <a:r>
              <a:rPr lang="en-IN" b="0" i="0" dirty="0">
                <a:solidFill>
                  <a:srgbClr val="374151"/>
                </a:solidFill>
                <a:effectLst/>
                <a:latin typeface="__Inter_d65c78"/>
              </a:rPr>
              <a:t>Feedback collection</a:t>
            </a:r>
          </a:p>
          <a:p>
            <a:pPr algn="l">
              <a:buFont typeface="Arial" panose="020B0604020202020204" pitchFamily="34" charset="0"/>
              <a:buChar char="•"/>
            </a:pPr>
            <a:r>
              <a:rPr lang="en-IN" b="0" i="0" dirty="0">
                <a:solidFill>
                  <a:srgbClr val="374151"/>
                </a:solidFill>
                <a:effectLst/>
                <a:latin typeface="__Inter_d65c78"/>
              </a:rPr>
              <a:t>Prototype refinement</a:t>
            </a:r>
          </a:p>
          <a:p>
            <a:pPr algn="l"/>
            <a:r>
              <a:rPr lang="en-IN" b="0" i="0" dirty="0">
                <a:solidFill>
                  <a:srgbClr val="374151"/>
                </a:solidFill>
                <a:effectLst/>
                <a:latin typeface="__Inter_d65c78"/>
              </a:rPr>
              <a:t>Month 7-8:</a:t>
            </a:r>
          </a:p>
          <a:p>
            <a:pPr algn="l">
              <a:buFont typeface="Arial" panose="020B0604020202020204" pitchFamily="34" charset="0"/>
              <a:buChar char="•"/>
            </a:pPr>
            <a:r>
              <a:rPr lang="en-IN" b="0" i="0" dirty="0">
                <a:solidFill>
                  <a:srgbClr val="374151"/>
                </a:solidFill>
                <a:effectLst/>
                <a:latin typeface="__Inter_d65c78"/>
              </a:rPr>
              <a:t>Funding preparation</a:t>
            </a:r>
          </a:p>
          <a:p>
            <a:pPr algn="l">
              <a:buFont typeface="Arial" panose="020B0604020202020204" pitchFamily="34" charset="0"/>
              <a:buChar char="•"/>
            </a:pPr>
            <a:r>
              <a:rPr lang="en-IN" b="0" i="0" dirty="0">
                <a:solidFill>
                  <a:srgbClr val="374151"/>
                </a:solidFill>
                <a:effectLst/>
                <a:latin typeface="__Inter_d65c78"/>
              </a:rPr>
              <a:t>Legal setup</a:t>
            </a:r>
          </a:p>
          <a:p>
            <a:pPr algn="l"/>
            <a:r>
              <a:rPr lang="en-IN" b="0" i="0" dirty="0">
                <a:solidFill>
                  <a:srgbClr val="374151"/>
                </a:solidFill>
                <a:effectLst/>
                <a:latin typeface="__Inter_d65c78"/>
              </a:rPr>
              <a:t>Month 9-10:</a:t>
            </a:r>
          </a:p>
          <a:p>
            <a:pPr algn="l">
              <a:buFont typeface="Arial" panose="020B0604020202020204" pitchFamily="34" charset="0"/>
              <a:buChar char="•"/>
            </a:pPr>
            <a:r>
              <a:rPr lang="en-IN" b="0" i="0" dirty="0">
                <a:solidFill>
                  <a:srgbClr val="374151"/>
                </a:solidFill>
                <a:effectLst/>
                <a:latin typeface="__Inter_d65c78"/>
              </a:rPr>
              <a:t>Platform development</a:t>
            </a:r>
          </a:p>
          <a:p>
            <a:pPr algn="l">
              <a:buFont typeface="Arial" panose="020B0604020202020204" pitchFamily="34" charset="0"/>
              <a:buChar char="•"/>
            </a:pPr>
            <a:r>
              <a:rPr lang="en-IN" b="0" i="0" dirty="0">
                <a:solidFill>
                  <a:srgbClr val="374151"/>
                </a:solidFill>
                <a:effectLst/>
                <a:latin typeface="__Inter_d65c78"/>
              </a:rPr>
              <a:t>Marketing preparation</a:t>
            </a:r>
          </a:p>
          <a:p>
            <a:pPr algn="l"/>
            <a:r>
              <a:rPr lang="en-IN" b="0" i="0" dirty="0">
                <a:solidFill>
                  <a:srgbClr val="374151"/>
                </a:solidFill>
                <a:effectLst/>
                <a:latin typeface="__Inter_d65c78"/>
              </a:rPr>
              <a:t>Month 11-12:</a:t>
            </a:r>
          </a:p>
          <a:p>
            <a:pPr algn="l">
              <a:buFont typeface="Arial" panose="020B0604020202020204" pitchFamily="34" charset="0"/>
              <a:buChar char="•"/>
            </a:pPr>
            <a:r>
              <a:rPr lang="en-IN" b="0" i="0" dirty="0">
                <a:solidFill>
                  <a:srgbClr val="374151"/>
                </a:solidFill>
                <a:effectLst/>
                <a:latin typeface="__Inter_d65c78"/>
              </a:rPr>
              <a:t>Beta launch</a:t>
            </a:r>
          </a:p>
          <a:p>
            <a:pPr algn="l">
              <a:buFont typeface="Arial" panose="020B0604020202020204" pitchFamily="34" charset="0"/>
              <a:buChar char="•"/>
            </a:pPr>
            <a:r>
              <a:rPr lang="en-IN" b="0" i="0" dirty="0">
                <a:solidFill>
                  <a:srgbClr val="374151"/>
                </a:solidFill>
                <a:effectLst/>
                <a:latin typeface="__Inter_d65c78"/>
              </a:rPr>
              <a:t>Initial client acquisition</a:t>
            </a:r>
          </a:p>
          <a:p>
            <a:endParaRPr lang="en-IN" dirty="0"/>
          </a:p>
        </p:txBody>
      </p:sp>
    </p:spTree>
    <p:extLst>
      <p:ext uri="{BB962C8B-B14F-4D97-AF65-F5344CB8AC3E}">
        <p14:creationId xmlns:p14="http://schemas.microsoft.com/office/powerpoint/2010/main" val="22497758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9743FA4-7872-EC15-282F-F4EE1417B468}"/>
              </a:ext>
            </a:extLst>
          </p:cNvPr>
          <p:cNvSpPr txBox="1"/>
          <p:nvPr/>
        </p:nvSpPr>
        <p:spPr>
          <a:xfrm>
            <a:off x="1008776" y="1644365"/>
            <a:ext cx="4284677" cy="3416320"/>
          </a:xfrm>
          <a:prstGeom prst="rect">
            <a:avLst/>
          </a:prstGeom>
          <a:noFill/>
        </p:spPr>
        <p:txBody>
          <a:bodyPr wrap="square">
            <a:spAutoFit/>
          </a:bodyPr>
          <a:lstStyle/>
          <a:p>
            <a:pPr algn="l">
              <a:buFont typeface="+mj-lt"/>
              <a:buAutoNum type="arabicPeriod" startAt="7"/>
            </a:pPr>
            <a:r>
              <a:rPr lang="en-US" b="1" i="0" dirty="0">
                <a:solidFill>
                  <a:srgbClr val="374151"/>
                </a:solidFill>
                <a:effectLst/>
                <a:latin typeface="__Inter_d65c78"/>
              </a:rPr>
              <a:t>Key Success Factors</a:t>
            </a:r>
            <a:r>
              <a:rPr lang="en-US" b="0" i="0" dirty="0">
                <a:solidFill>
                  <a:srgbClr val="374151"/>
                </a:solidFill>
                <a:effectLst/>
                <a:latin typeface="__Inter_d65c78"/>
              </a:rPr>
              <a:t>:</a:t>
            </a:r>
          </a:p>
          <a:p>
            <a:pPr algn="l">
              <a:buFont typeface="Arial" panose="020B0604020202020204" pitchFamily="34" charset="0"/>
              <a:buChar char="•"/>
            </a:pPr>
            <a:r>
              <a:rPr lang="en-US" b="0" i="0" dirty="0">
                <a:solidFill>
                  <a:srgbClr val="374151"/>
                </a:solidFill>
                <a:effectLst/>
                <a:latin typeface="__Inter_d65c78"/>
              </a:rPr>
              <a:t>Building a strong interviewer team</a:t>
            </a:r>
          </a:p>
          <a:p>
            <a:pPr algn="l">
              <a:buFont typeface="Arial" panose="020B0604020202020204" pitchFamily="34" charset="0"/>
              <a:buChar char="•"/>
            </a:pPr>
            <a:r>
              <a:rPr lang="en-US" b="0" i="0" dirty="0">
                <a:solidFill>
                  <a:srgbClr val="374151"/>
                </a:solidFill>
                <a:effectLst/>
                <a:latin typeface="__Inter_d65c78"/>
              </a:rPr>
              <a:t>Developing efficient assessment methods</a:t>
            </a:r>
          </a:p>
          <a:p>
            <a:pPr algn="l">
              <a:buFont typeface="Arial" panose="020B0604020202020204" pitchFamily="34" charset="0"/>
              <a:buChar char="•"/>
            </a:pPr>
            <a:r>
              <a:rPr lang="en-US" b="0" i="0" dirty="0">
                <a:solidFill>
                  <a:srgbClr val="374151"/>
                </a:solidFill>
                <a:effectLst/>
                <a:latin typeface="__Inter_d65c78"/>
              </a:rPr>
              <a:t>Creating user-friendly platform</a:t>
            </a:r>
          </a:p>
          <a:p>
            <a:pPr algn="l">
              <a:buFont typeface="Arial" panose="020B0604020202020204" pitchFamily="34" charset="0"/>
              <a:buChar char="•"/>
            </a:pPr>
            <a:r>
              <a:rPr lang="en-US" b="0" i="0" dirty="0">
                <a:solidFill>
                  <a:srgbClr val="374151"/>
                </a:solidFill>
                <a:effectLst/>
                <a:latin typeface="__Inter_d65c78"/>
              </a:rPr>
              <a:t>Establishing trust with companies</a:t>
            </a:r>
          </a:p>
          <a:p>
            <a:pPr algn="l">
              <a:buFont typeface="Arial" panose="020B0604020202020204" pitchFamily="34" charset="0"/>
              <a:buChar char="•"/>
            </a:pPr>
            <a:r>
              <a:rPr lang="en-US" b="0" i="0" dirty="0">
                <a:solidFill>
                  <a:srgbClr val="374151"/>
                </a:solidFill>
                <a:effectLst/>
                <a:latin typeface="__Inter_d65c78"/>
              </a:rPr>
              <a:t>Maintaining quality standards</a:t>
            </a:r>
          </a:p>
          <a:p>
            <a:pPr algn="l">
              <a:buFont typeface="Arial" panose="020B0604020202020204" pitchFamily="34" charset="0"/>
              <a:buChar char="•"/>
            </a:pPr>
            <a:r>
              <a:rPr lang="en-US" b="0" i="0" dirty="0">
                <a:solidFill>
                  <a:srgbClr val="374151"/>
                </a:solidFill>
                <a:effectLst/>
                <a:latin typeface="__Inter_d65c78"/>
              </a:rPr>
              <a:t>Competitive pricing strategy</a:t>
            </a:r>
          </a:p>
          <a:p>
            <a:pPr algn="l">
              <a:buFont typeface="+mj-lt"/>
              <a:buAutoNum type="arabicPeriod" startAt="8"/>
            </a:pPr>
            <a:r>
              <a:rPr lang="en-US" b="1" i="0" dirty="0">
                <a:solidFill>
                  <a:srgbClr val="374151"/>
                </a:solidFill>
                <a:effectLst/>
                <a:latin typeface="__Inter_d65c78"/>
              </a:rPr>
              <a:t>Risk Management</a:t>
            </a:r>
            <a:r>
              <a:rPr lang="en-US" b="0" i="0" dirty="0">
                <a:solidFill>
                  <a:srgbClr val="374151"/>
                </a:solidFill>
                <a:effectLst/>
                <a:latin typeface="__Inter_d65c78"/>
              </a:rPr>
              <a:t>:</a:t>
            </a:r>
          </a:p>
          <a:p>
            <a:pPr algn="l">
              <a:buFont typeface="Arial" panose="020B0604020202020204" pitchFamily="34" charset="0"/>
              <a:buChar char="•"/>
            </a:pPr>
            <a:r>
              <a:rPr lang="en-US" b="0" i="0" dirty="0">
                <a:solidFill>
                  <a:srgbClr val="374151"/>
                </a:solidFill>
                <a:effectLst/>
                <a:latin typeface="__Inter_d65c78"/>
              </a:rPr>
              <a:t>Identify potential risks</a:t>
            </a:r>
          </a:p>
          <a:p>
            <a:pPr algn="l">
              <a:buFont typeface="Arial" panose="020B0604020202020204" pitchFamily="34" charset="0"/>
              <a:buChar char="•"/>
            </a:pPr>
            <a:r>
              <a:rPr lang="en-US" b="0" i="0" dirty="0">
                <a:solidFill>
                  <a:srgbClr val="374151"/>
                </a:solidFill>
                <a:effectLst/>
                <a:latin typeface="__Inter_d65c78"/>
              </a:rPr>
              <a:t>Develop mitigation strategies</a:t>
            </a:r>
          </a:p>
          <a:p>
            <a:pPr algn="l">
              <a:buFont typeface="Arial" panose="020B0604020202020204" pitchFamily="34" charset="0"/>
              <a:buChar char="•"/>
            </a:pPr>
            <a:r>
              <a:rPr lang="en-US" b="0" i="0" dirty="0">
                <a:solidFill>
                  <a:srgbClr val="374151"/>
                </a:solidFill>
                <a:effectLst/>
                <a:latin typeface="__Inter_d65c78"/>
              </a:rPr>
              <a:t>Create backup plans</a:t>
            </a:r>
          </a:p>
          <a:p>
            <a:pPr algn="l">
              <a:buFont typeface="Arial" panose="020B0604020202020204" pitchFamily="34" charset="0"/>
              <a:buChar char="•"/>
            </a:pPr>
            <a:r>
              <a:rPr lang="en-US" b="0" i="0" dirty="0">
                <a:solidFill>
                  <a:srgbClr val="374151"/>
                </a:solidFill>
                <a:effectLst/>
                <a:latin typeface="__Inter_d65c78"/>
              </a:rPr>
              <a:t>Regular review and updates</a:t>
            </a:r>
          </a:p>
        </p:txBody>
      </p:sp>
      <p:sp>
        <p:nvSpPr>
          <p:cNvPr id="5" name="TextBox 4">
            <a:extLst>
              <a:ext uri="{FF2B5EF4-FFF2-40B4-BE49-F238E27FC236}">
                <a16:creationId xmlns:a16="http://schemas.microsoft.com/office/drawing/2014/main" id="{66081948-4467-315F-15DE-21362CB53F14}"/>
              </a:ext>
            </a:extLst>
          </p:cNvPr>
          <p:cNvSpPr txBox="1"/>
          <p:nvPr/>
        </p:nvSpPr>
        <p:spPr>
          <a:xfrm>
            <a:off x="6730068" y="1644365"/>
            <a:ext cx="4343400" cy="3416320"/>
          </a:xfrm>
          <a:prstGeom prst="rect">
            <a:avLst/>
          </a:prstGeom>
          <a:noFill/>
        </p:spPr>
        <p:txBody>
          <a:bodyPr wrap="square">
            <a:spAutoFit/>
          </a:bodyPr>
          <a:lstStyle/>
          <a:p>
            <a:pPr algn="l">
              <a:buFont typeface="+mj-lt"/>
              <a:buAutoNum type="arabicPeriod" startAt="9"/>
            </a:pPr>
            <a:r>
              <a:rPr lang="en-US" b="1" i="0" dirty="0">
                <a:solidFill>
                  <a:srgbClr val="374151"/>
                </a:solidFill>
                <a:effectLst/>
                <a:latin typeface="__Inter_d65c78"/>
              </a:rPr>
              <a:t>Growth Strategy</a:t>
            </a:r>
            <a:r>
              <a:rPr lang="en-US" b="0" i="0" dirty="0">
                <a:solidFill>
                  <a:srgbClr val="374151"/>
                </a:solidFill>
                <a:effectLst/>
                <a:latin typeface="__Inter_d65c78"/>
              </a:rPr>
              <a:t>:</a:t>
            </a:r>
          </a:p>
          <a:p>
            <a:pPr algn="l">
              <a:buFont typeface="Arial" panose="020B0604020202020204" pitchFamily="34" charset="0"/>
              <a:buChar char="•"/>
            </a:pPr>
            <a:r>
              <a:rPr lang="en-US" b="0" i="0" dirty="0">
                <a:solidFill>
                  <a:srgbClr val="374151"/>
                </a:solidFill>
                <a:effectLst/>
                <a:latin typeface="__Inter_d65c78"/>
              </a:rPr>
              <a:t>Phase 1: Local market penetration</a:t>
            </a:r>
          </a:p>
          <a:p>
            <a:pPr algn="l">
              <a:buFont typeface="Arial" panose="020B0604020202020204" pitchFamily="34" charset="0"/>
              <a:buChar char="•"/>
            </a:pPr>
            <a:r>
              <a:rPr lang="en-US" b="0" i="0" dirty="0">
                <a:solidFill>
                  <a:srgbClr val="374151"/>
                </a:solidFill>
                <a:effectLst/>
                <a:latin typeface="__Inter_d65c78"/>
              </a:rPr>
              <a:t>Phase 2: Regional expansion</a:t>
            </a:r>
          </a:p>
          <a:p>
            <a:pPr algn="l">
              <a:buFont typeface="Arial" panose="020B0604020202020204" pitchFamily="34" charset="0"/>
              <a:buChar char="•"/>
            </a:pPr>
            <a:r>
              <a:rPr lang="en-US" b="0" i="0" dirty="0">
                <a:solidFill>
                  <a:srgbClr val="374151"/>
                </a:solidFill>
                <a:effectLst/>
                <a:latin typeface="__Inter_d65c78"/>
              </a:rPr>
              <a:t>Phase 3: National presence</a:t>
            </a:r>
          </a:p>
          <a:p>
            <a:pPr algn="l">
              <a:buFont typeface="Arial" panose="020B0604020202020204" pitchFamily="34" charset="0"/>
              <a:buChar char="•"/>
            </a:pPr>
            <a:r>
              <a:rPr lang="en-US" b="0" i="0" dirty="0">
                <a:solidFill>
                  <a:srgbClr val="374151"/>
                </a:solidFill>
                <a:effectLst/>
                <a:latin typeface="__Inter_d65c78"/>
              </a:rPr>
              <a:t>Phase 4: International markets</a:t>
            </a:r>
          </a:p>
          <a:p>
            <a:pPr algn="l">
              <a:buFont typeface="+mj-lt"/>
              <a:buAutoNum type="arabicPeriod" startAt="10"/>
            </a:pPr>
            <a:r>
              <a:rPr lang="en-US" b="1" i="0" dirty="0">
                <a:solidFill>
                  <a:srgbClr val="374151"/>
                </a:solidFill>
                <a:effectLst/>
                <a:latin typeface="__Inter_d65c78"/>
              </a:rPr>
              <a:t>Performance Metrics</a:t>
            </a:r>
            <a:r>
              <a:rPr lang="en-US" b="0" i="0" dirty="0">
                <a:solidFill>
                  <a:srgbClr val="374151"/>
                </a:solidFill>
                <a:effectLst/>
                <a:latin typeface="__Inter_d65c78"/>
              </a:rPr>
              <a:t>:</a:t>
            </a:r>
          </a:p>
          <a:p>
            <a:pPr algn="l">
              <a:buFont typeface="Arial" panose="020B0604020202020204" pitchFamily="34" charset="0"/>
              <a:buChar char="•"/>
            </a:pPr>
            <a:r>
              <a:rPr lang="en-US" b="0" i="0" dirty="0">
                <a:solidFill>
                  <a:srgbClr val="374151"/>
                </a:solidFill>
                <a:effectLst/>
                <a:latin typeface="__Inter_d65c78"/>
              </a:rPr>
              <a:t>Number of successful placements</a:t>
            </a:r>
          </a:p>
          <a:p>
            <a:pPr algn="l">
              <a:buFont typeface="Arial" panose="020B0604020202020204" pitchFamily="34" charset="0"/>
              <a:buChar char="•"/>
            </a:pPr>
            <a:r>
              <a:rPr lang="en-US" b="0" i="0" dirty="0">
                <a:solidFill>
                  <a:srgbClr val="374151"/>
                </a:solidFill>
                <a:effectLst/>
                <a:latin typeface="__Inter_d65c78"/>
              </a:rPr>
              <a:t>Client satisfaction rates</a:t>
            </a:r>
          </a:p>
          <a:p>
            <a:pPr algn="l">
              <a:buFont typeface="Arial" panose="020B0604020202020204" pitchFamily="34" charset="0"/>
              <a:buChar char="•"/>
            </a:pPr>
            <a:r>
              <a:rPr lang="en-US" b="0" i="0" dirty="0">
                <a:solidFill>
                  <a:srgbClr val="374151"/>
                </a:solidFill>
                <a:effectLst/>
                <a:latin typeface="__Inter_d65c78"/>
              </a:rPr>
              <a:t>Candidate success rates</a:t>
            </a:r>
          </a:p>
          <a:p>
            <a:pPr algn="l">
              <a:buFont typeface="Arial" panose="020B0604020202020204" pitchFamily="34" charset="0"/>
              <a:buChar char="•"/>
            </a:pPr>
            <a:r>
              <a:rPr lang="en-US" b="0" i="0" dirty="0">
                <a:solidFill>
                  <a:srgbClr val="374151"/>
                </a:solidFill>
                <a:effectLst/>
                <a:latin typeface="__Inter_d65c78"/>
              </a:rPr>
              <a:t>Platform engagement metrics</a:t>
            </a:r>
          </a:p>
          <a:p>
            <a:pPr algn="l">
              <a:buFont typeface="Arial" panose="020B0604020202020204" pitchFamily="34" charset="0"/>
              <a:buChar char="•"/>
            </a:pPr>
            <a:r>
              <a:rPr lang="en-US" b="0" i="0" dirty="0">
                <a:solidFill>
                  <a:srgbClr val="374151"/>
                </a:solidFill>
                <a:effectLst/>
                <a:latin typeface="__Inter_d65c78"/>
              </a:rPr>
              <a:t>Revenue growth</a:t>
            </a:r>
          </a:p>
          <a:p>
            <a:pPr algn="l">
              <a:buFont typeface="Arial" panose="020B0604020202020204" pitchFamily="34" charset="0"/>
              <a:buChar char="•"/>
            </a:pPr>
            <a:r>
              <a:rPr lang="en-US" b="0" i="0" dirty="0">
                <a:solidFill>
                  <a:srgbClr val="374151"/>
                </a:solidFill>
                <a:effectLst/>
                <a:latin typeface="__Inter_d65c78"/>
              </a:rPr>
              <a:t>Market share</a:t>
            </a:r>
          </a:p>
        </p:txBody>
      </p:sp>
    </p:spTree>
    <p:extLst>
      <p:ext uri="{BB962C8B-B14F-4D97-AF65-F5344CB8AC3E}">
        <p14:creationId xmlns:p14="http://schemas.microsoft.com/office/powerpoint/2010/main" val="9662985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18387-484D-AFD4-15C0-B113C448EC53}"/>
              </a:ext>
            </a:extLst>
          </p:cNvPr>
          <p:cNvSpPr>
            <a:spLocks noGrp="1"/>
          </p:cNvSpPr>
          <p:nvPr>
            <p:ph type="title"/>
          </p:nvPr>
        </p:nvSpPr>
        <p:spPr/>
        <p:txBody>
          <a:bodyPr/>
          <a:lstStyle/>
          <a:p>
            <a:r>
              <a:rPr lang="en-US" dirty="0"/>
              <a:t>Ideas</a:t>
            </a:r>
            <a:endParaRPr lang="en-IN" dirty="0"/>
          </a:p>
        </p:txBody>
      </p:sp>
      <p:sp>
        <p:nvSpPr>
          <p:cNvPr id="3" name="TextBox 2">
            <a:extLst>
              <a:ext uri="{FF2B5EF4-FFF2-40B4-BE49-F238E27FC236}">
                <a16:creationId xmlns:a16="http://schemas.microsoft.com/office/drawing/2014/main" id="{8BD7CAAA-BD17-802F-FDB8-E47F8644A90C}"/>
              </a:ext>
            </a:extLst>
          </p:cNvPr>
          <p:cNvSpPr txBox="1"/>
          <p:nvPr/>
        </p:nvSpPr>
        <p:spPr>
          <a:xfrm>
            <a:off x="1096161" y="2122415"/>
            <a:ext cx="9999677" cy="4247317"/>
          </a:xfrm>
          <a:prstGeom prst="rect">
            <a:avLst/>
          </a:prstGeom>
          <a:noFill/>
        </p:spPr>
        <p:txBody>
          <a:bodyPr wrap="square" rtlCol="0">
            <a:spAutoFit/>
          </a:bodyPr>
          <a:lstStyle/>
          <a:p>
            <a:pPr marL="342900" indent="-342900">
              <a:buAutoNum type="arabicPeriod"/>
            </a:pPr>
            <a:r>
              <a:rPr lang="en-US" dirty="0"/>
              <a:t>Body is a wallet and You are the payment source.</a:t>
            </a:r>
          </a:p>
          <a:p>
            <a:r>
              <a:rPr lang="en-US" dirty="0"/>
              <a:t>Main Focus is </a:t>
            </a:r>
          </a:p>
          <a:p>
            <a:r>
              <a:rPr lang="en-US" dirty="0"/>
              <a:t>     a. reduce time consuming </a:t>
            </a:r>
          </a:p>
          <a:p>
            <a:r>
              <a:rPr lang="en-US" dirty="0"/>
              <a:t>     b. less burden</a:t>
            </a:r>
          </a:p>
          <a:p>
            <a:r>
              <a:rPr lang="en-US" dirty="0"/>
              <a:t>     c. reduce traffic at any shops </a:t>
            </a:r>
          </a:p>
          <a:p>
            <a:r>
              <a:rPr lang="en-US" dirty="0"/>
              <a:t>     d. faster payment system (just you have to go there and face </a:t>
            </a:r>
            <a:r>
              <a:rPr lang="en-US" dirty="0" err="1"/>
              <a:t>recoginition</a:t>
            </a:r>
            <a:r>
              <a:rPr lang="en-US" dirty="0"/>
              <a:t> works for you and after scanning your face type  your unique code and done )</a:t>
            </a:r>
          </a:p>
          <a:p>
            <a:r>
              <a:rPr lang="en-US" dirty="0"/>
              <a:t>     e. Old age person and </a:t>
            </a:r>
            <a:r>
              <a:rPr lang="en-IN" dirty="0"/>
              <a:t>Old-fashioned people can’t able to use these </a:t>
            </a:r>
            <a:r>
              <a:rPr lang="en-IN" dirty="0" err="1"/>
              <a:t>paytm</a:t>
            </a:r>
            <a:r>
              <a:rPr lang="en-IN" dirty="0"/>
              <a:t> and advanced payment methods. So this can reduce the problem.</a:t>
            </a:r>
            <a:endParaRPr lang="en-US" dirty="0"/>
          </a:p>
          <a:p>
            <a:endParaRPr lang="en-US" dirty="0"/>
          </a:p>
          <a:p>
            <a:br>
              <a:rPr lang="en-US" dirty="0"/>
            </a:br>
            <a:r>
              <a:rPr lang="en-US" dirty="0"/>
              <a:t>2. Traffic(automatic brake system)</a:t>
            </a:r>
          </a:p>
          <a:p>
            <a:r>
              <a:rPr lang="en-US" dirty="0"/>
              <a:t>Main focus is </a:t>
            </a:r>
          </a:p>
          <a:p>
            <a:r>
              <a:rPr lang="en-US" dirty="0"/>
              <a:t>     </a:t>
            </a:r>
            <a:r>
              <a:rPr lang="en-US" dirty="0">
                <a:sym typeface="Wingdings" panose="05000000000000000000" pitchFamily="2" charset="2"/>
              </a:rPr>
              <a:t> to not loose your money on breaking the signal because I have a system to brake your vehicle before traffic signal</a:t>
            </a:r>
            <a:endParaRPr lang="en-IN" dirty="0"/>
          </a:p>
        </p:txBody>
      </p:sp>
    </p:spTree>
    <p:extLst>
      <p:ext uri="{BB962C8B-B14F-4D97-AF65-F5344CB8AC3E}">
        <p14:creationId xmlns:p14="http://schemas.microsoft.com/office/powerpoint/2010/main" val="1851656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094CD9E-93AE-A962-A7E6-2D2FE9F0174B}"/>
              </a:ext>
            </a:extLst>
          </p:cNvPr>
          <p:cNvSpPr txBox="1"/>
          <p:nvPr/>
        </p:nvSpPr>
        <p:spPr>
          <a:xfrm>
            <a:off x="838899" y="474345"/>
            <a:ext cx="10192624" cy="5909310"/>
          </a:xfrm>
          <a:prstGeom prst="rect">
            <a:avLst/>
          </a:prstGeom>
          <a:noFill/>
        </p:spPr>
        <p:txBody>
          <a:bodyPr wrap="square">
            <a:spAutoFit/>
          </a:bodyPr>
          <a:lstStyle/>
          <a:p>
            <a:pPr algn="just"/>
            <a:r>
              <a:rPr lang="en-US" b="1" dirty="0">
                <a:solidFill>
                  <a:srgbClr val="FF0000"/>
                </a:solidFill>
              </a:rPr>
              <a:t>1. Title</a:t>
            </a:r>
          </a:p>
          <a:p>
            <a:pPr algn="just"/>
            <a:r>
              <a:rPr lang="en-US" dirty="0"/>
              <a:t>"AutoPay: The Next-Gen Payment Revolution“</a:t>
            </a:r>
          </a:p>
          <a:p>
            <a:pPr algn="just"/>
            <a:endParaRPr lang="en-US" b="1" dirty="0"/>
          </a:p>
          <a:p>
            <a:pPr algn="just"/>
            <a:r>
              <a:rPr lang="en-US" b="1" dirty="0">
                <a:solidFill>
                  <a:srgbClr val="FF0000"/>
                </a:solidFill>
              </a:rPr>
              <a:t>2. Introduction</a:t>
            </a:r>
          </a:p>
          <a:p>
            <a:pPr algn="just"/>
            <a:r>
              <a:rPr lang="en-US" dirty="0"/>
              <a:t>In today’s fast-paced world, traditional payment methods like cash, cards, and mobile apps often create unnecessary delays and inconvenience. Whether it’s waiting in long queues, handling forgotten passwords, or struggling with complex payment apps, these issues make transactions slower and burdensome—especially for elderly individuals and those unfamiliar with digital wallets.</a:t>
            </a:r>
          </a:p>
          <a:p>
            <a:pPr algn="just"/>
            <a:r>
              <a:rPr lang="en-US" dirty="0"/>
              <a:t>To solve this, we introduce a revolutionary </a:t>
            </a:r>
            <a:r>
              <a:rPr lang="en-US" b="1" dirty="0"/>
              <a:t>Face in Irish Recognition-Based Payment System</a:t>
            </a:r>
            <a:r>
              <a:rPr lang="en-US" dirty="0"/>
              <a:t>—a faster, easier, and more accessible way to pay. Instead of carrying cash, cards, or relying on smartphones, users simply need to </a:t>
            </a:r>
            <a:r>
              <a:rPr lang="en-US" b="1" dirty="0"/>
              <a:t>visit an ATM-like terminal, scan their face, enter a unique code, and complete the transaction instantly</a:t>
            </a:r>
            <a:r>
              <a:rPr lang="en-US" dirty="0"/>
              <a:t>.</a:t>
            </a:r>
          </a:p>
          <a:p>
            <a:pPr algn="just"/>
            <a:r>
              <a:rPr lang="en-US" b="1" dirty="0"/>
              <a:t>Key Benefits:</a:t>
            </a:r>
          </a:p>
          <a:p>
            <a:pPr algn="just"/>
            <a:r>
              <a:rPr lang="en-US" b="1" dirty="0"/>
              <a:t>       Time-Saving</a:t>
            </a:r>
            <a:r>
              <a:rPr lang="en-US" dirty="0"/>
              <a:t> – No need for cash, cards, or multiple authentication steps.</a:t>
            </a:r>
            <a:br>
              <a:rPr lang="en-US" dirty="0"/>
            </a:br>
            <a:r>
              <a:rPr lang="en-US" dirty="0"/>
              <a:t>        </a:t>
            </a:r>
            <a:r>
              <a:rPr lang="en-US" b="1" dirty="0"/>
              <a:t>Less Burden</a:t>
            </a:r>
            <a:r>
              <a:rPr lang="en-US" dirty="0"/>
              <a:t> – Just your face and a simple code—no need for wallets or devices.</a:t>
            </a:r>
            <a:br>
              <a:rPr lang="en-US" dirty="0"/>
            </a:br>
            <a:r>
              <a:rPr lang="en-US" dirty="0"/>
              <a:t>        </a:t>
            </a:r>
            <a:r>
              <a:rPr lang="en-US" b="1" dirty="0"/>
              <a:t>Reduces Shop Traffic</a:t>
            </a:r>
            <a:r>
              <a:rPr lang="en-US" dirty="0"/>
              <a:t> – Faster transactions mean shorter queues at stores.</a:t>
            </a:r>
            <a:br>
              <a:rPr lang="en-US" dirty="0"/>
            </a:br>
            <a:r>
              <a:rPr lang="en-US" dirty="0"/>
              <a:t>        </a:t>
            </a:r>
            <a:r>
              <a:rPr lang="en-US" b="1" dirty="0"/>
              <a:t>Frictionless Payments</a:t>
            </a:r>
            <a:r>
              <a:rPr lang="en-US" dirty="0"/>
              <a:t> – Works seamlessly for people of all ages, even those unfamiliar with modern payment apps.</a:t>
            </a:r>
            <a:br>
              <a:rPr lang="en-US" dirty="0"/>
            </a:br>
            <a:r>
              <a:rPr lang="en-US" dirty="0"/>
              <a:t>       </a:t>
            </a:r>
            <a:r>
              <a:rPr lang="en-US" b="1" dirty="0"/>
              <a:t>Secure &amp; Reliable</a:t>
            </a:r>
            <a:r>
              <a:rPr lang="en-US" dirty="0"/>
              <a:t> – Advanced biometric authentication ensures safety.</a:t>
            </a:r>
          </a:p>
          <a:p>
            <a:pPr algn="just"/>
            <a:r>
              <a:rPr lang="en-US" dirty="0"/>
              <a:t>This innovation bridges the gap between traditional and modern payment systems, making cashless transactions truly effortless for everyone. </a:t>
            </a:r>
          </a:p>
        </p:txBody>
      </p:sp>
    </p:spTree>
    <p:extLst>
      <p:ext uri="{BB962C8B-B14F-4D97-AF65-F5344CB8AC3E}">
        <p14:creationId xmlns:p14="http://schemas.microsoft.com/office/powerpoint/2010/main" val="24090370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2A1848-E893-6D8D-E49A-98076C8F6DEC}"/>
              </a:ext>
            </a:extLst>
          </p:cNvPr>
          <p:cNvSpPr txBox="1"/>
          <p:nvPr/>
        </p:nvSpPr>
        <p:spPr>
          <a:xfrm>
            <a:off x="805342" y="455876"/>
            <a:ext cx="10888911" cy="6186309"/>
          </a:xfrm>
          <a:prstGeom prst="rect">
            <a:avLst/>
          </a:prstGeom>
          <a:noFill/>
        </p:spPr>
        <p:txBody>
          <a:bodyPr wrap="square">
            <a:spAutoFit/>
          </a:bodyPr>
          <a:lstStyle/>
          <a:p>
            <a:r>
              <a:rPr lang="en-IN" b="1" u="sng" dirty="0">
                <a:solidFill>
                  <a:srgbClr val="FF0000"/>
                </a:solidFill>
              </a:rPr>
              <a:t>3. Objectives: Redefining the Future of Payments</a:t>
            </a:r>
          </a:p>
          <a:p>
            <a:endParaRPr lang="en-IN" b="1" u="sng" dirty="0"/>
          </a:p>
          <a:p>
            <a:r>
              <a:rPr lang="en-IN" dirty="0"/>
              <a:t>🔹 </a:t>
            </a:r>
            <a:r>
              <a:rPr lang="en-IN" b="1" dirty="0"/>
              <a:t>Ultra-Fast Transactions</a:t>
            </a:r>
            <a:r>
              <a:rPr lang="en-IN" dirty="0"/>
              <a:t> – Eliminate delays with instant face &amp; iris recognition-based payments.</a:t>
            </a:r>
          </a:p>
          <a:p>
            <a:r>
              <a:rPr lang="en-IN" dirty="0"/>
              <a:t>🔹</a:t>
            </a:r>
            <a:r>
              <a:rPr lang="en-IN" b="1" dirty="0"/>
              <a:t> No Wallet, No Worries</a:t>
            </a:r>
            <a:r>
              <a:rPr lang="en-IN" dirty="0"/>
              <a:t> – Say goodbye to cash, cards, and mobile payment hassles.</a:t>
            </a:r>
          </a:p>
          <a:p>
            <a:r>
              <a:rPr lang="en-IN" dirty="0"/>
              <a:t>🔹 </a:t>
            </a:r>
            <a:r>
              <a:rPr lang="en-IN" b="1" dirty="0"/>
              <a:t> Maximum Security</a:t>
            </a:r>
            <a:r>
              <a:rPr lang="en-IN" dirty="0"/>
              <a:t> – Biometric authentication ensures fraud-proof transactions.</a:t>
            </a:r>
          </a:p>
          <a:p>
            <a:r>
              <a:rPr lang="en-IN" dirty="0"/>
              <a:t>🔹 </a:t>
            </a:r>
            <a:r>
              <a:rPr lang="en-IN" b="1" dirty="0"/>
              <a:t> Accessible for All</a:t>
            </a:r>
            <a:r>
              <a:rPr lang="en-IN" dirty="0"/>
              <a:t> – Designed for everyone, from tech-savvy users to elderly individuals who struggle with digital payments.</a:t>
            </a:r>
          </a:p>
          <a:p>
            <a:r>
              <a:rPr lang="en-IN" dirty="0"/>
              <a:t>🔹 </a:t>
            </a:r>
            <a:r>
              <a:rPr lang="en-IN" b="1" dirty="0"/>
              <a:t> Zero Queue Payment Experience</a:t>
            </a:r>
            <a:r>
              <a:rPr lang="en-IN" dirty="0"/>
              <a:t> – Reduces congestion at shops and ATM points.</a:t>
            </a:r>
          </a:p>
          <a:p>
            <a:r>
              <a:rPr lang="en-IN" dirty="0"/>
              <a:t>🔹 </a:t>
            </a:r>
            <a:r>
              <a:rPr lang="en-IN" b="1" dirty="0"/>
              <a:t> A Cashless Revolution</a:t>
            </a:r>
            <a:r>
              <a:rPr lang="en-IN" dirty="0"/>
              <a:t> – Moving towards a seamless, digital, and contactless future.</a:t>
            </a:r>
          </a:p>
          <a:p>
            <a:r>
              <a:rPr lang="en-IN" dirty="0"/>
              <a:t>🔹 </a:t>
            </a:r>
            <a:r>
              <a:rPr lang="en-IN" b="1" dirty="0"/>
              <a:t> Effortless &amp; Error-Free</a:t>
            </a:r>
            <a:r>
              <a:rPr lang="en-IN" dirty="0"/>
              <a:t> – No PINs, no passwords—just scan and pay with accuracy.</a:t>
            </a:r>
          </a:p>
          <a:p>
            <a:endParaRPr lang="en-IN" dirty="0"/>
          </a:p>
          <a:p>
            <a:r>
              <a:rPr lang="en-IN" b="1" u="sng" dirty="0"/>
              <a:t>4. Methodology/Approach:</a:t>
            </a:r>
          </a:p>
          <a:p>
            <a:r>
              <a:rPr lang="en-US" b="1" dirty="0"/>
              <a:t>     Step-by-Step Execution:</a:t>
            </a:r>
          </a:p>
          <a:p>
            <a:r>
              <a:rPr lang="en-US" b="1" dirty="0"/>
              <a:t>                       </a:t>
            </a:r>
            <a:r>
              <a:rPr lang="en-US" b="1" dirty="0">
                <a:solidFill>
                  <a:srgbClr val="FF0000"/>
                </a:solidFill>
              </a:rPr>
              <a:t>App Development &amp; UI/UX Design</a:t>
            </a:r>
            <a:endParaRPr lang="en-US" dirty="0">
              <a:solidFill>
                <a:srgbClr val="FF0000"/>
              </a:solidFill>
            </a:endParaRPr>
          </a:p>
          <a:p>
            <a:pPr>
              <a:buFont typeface="Arial" panose="020B0604020202020204" pitchFamily="34" charset="0"/>
              <a:buChar char="•"/>
            </a:pPr>
            <a:r>
              <a:rPr lang="en-US" dirty="0"/>
              <a:t>Build an intuitive </a:t>
            </a:r>
            <a:r>
              <a:rPr lang="en-US" b="1" dirty="0"/>
              <a:t>mobile app</a:t>
            </a:r>
            <a:r>
              <a:rPr lang="en-US" dirty="0"/>
              <a:t> with a seamless user experience.</a:t>
            </a:r>
          </a:p>
          <a:p>
            <a:pPr>
              <a:buFont typeface="Arial" panose="020B0604020202020204" pitchFamily="34" charset="0"/>
              <a:buChar char="•"/>
            </a:pPr>
            <a:r>
              <a:rPr lang="en-US" dirty="0"/>
              <a:t>Include biometric scanning, account linking, and transaction history.</a:t>
            </a:r>
          </a:p>
          <a:p>
            <a:r>
              <a:rPr lang="en-US" b="1" dirty="0">
                <a:solidFill>
                  <a:srgbClr val="FF0000"/>
                </a:solidFill>
              </a:rPr>
              <a:t>                       User Registration &amp; Biometric Data Collection</a:t>
            </a:r>
            <a:endParaRPr lang="en-US" dirty="0">
              <a:solidFill>
                <a:srgbClr val="FF0000"/>
              </a:solidFill>
            </a:endParaRPr>
          </a:p>
          <a:p>
            <a:pPr>
              <a:buFont typeface="Arial" panose="020B0604020202020204" pitchFamily="34" charset="0"/>
              <a:buChar char="•"/>
            </a:pPr>
            <a:r>
              <a:rPr lang="en-US" dirty="0"/>
              <a:t>Users </a:t>
            </a:r>
            <a:r>
              <a:rPr lang="en-US" b="1" dirty="0"/>
              <a:t>download the app &amp; register using their mobile number &amp; ID proof</a:t>
            </a:r>
            <a:r>
              <a:rPr lang="en-US" dirty="0"/>
              <a:t>.</a:t>
            </a:r>
          </a:p>
          <a:p>
            <a:pPr>
              <a:buFont typeface="Arial" panose="020B0604020202020204" pitchFamily="34" charset="0"/>
              <a:buChar char="•"/>
            </a:pPr>
            <a:r>
              <a:rPr lang="en-US" dirty="0"/>
              <a:t>The app securely </a:t>
            </a:r>
            <a:r>
              <a:rPr lang="en-US" b="1" dirty="0"/>
              <a:t>scans and collects face + iris data</a:t>
            </a:r>
            <a:r>
              <a:rPr lang="en-US" dirty="0"/>
              <a:t> using high-quality image processing.</a:t>
            </a:r>
          </a:p>
          <a:p>
            <a:pPr>
              <a:buFont typeface="Arial" panose="020B0604020202020204" pitchFamily="34" charset="0"/>
              <a:buChar char="•"/>
            </a:pPr>
            <a:r>
              <a:rPr lang="en-US" dirty="0"/>
              <a:t>Data is encrypted and stored in a secure cloud database.</a:t>
            </a:r>
          </a:p>
          <a:p>
            <a:endParaRPr lang="en-IN" b="1" u="sng" dirty="0"/>
          </a:p>
          <a:p>
            <a:endParaRPr lang="en-IN" b="1" u="sng" dirty="0"/>
          </a:p>
        </p:txBody>
      </p:sp>
    </p:spTree>
    <p:extLst>
      <p:ext uri="{BB962C8B-B14F-4D97-AF65-F5344CB8AC3E}">
        <p14:creationId xmlns:p14="http://schemas.microsoft.com/office/powerpoint/2010/main" val="34795618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007DE34-142A-51FB-21E6-43DA4DB3230A}"/>
              </a:ext>
            </a:extLst>
          </p:cNvPr>
          <p:cNvSpPr txBox="1"/>
          <p:nvPr/>
        </p:nvSpPr>
        <p:spPr>
          <a:xfrm>
            <a:off x="634766" y="558235"/>
            <a:ext cx="10922467" cy="5601533"/>
          </a:xfrm>
          <a:prstGeom prst="rect">
            <a:avLst/>
          </a:prstGeom>
          <a:noFill/>
        </p:spPr>
        <p:txBody>
          <a:bodyPr wrap="square">
            <a:spAutoFit/>
          </a:bodyPr>
          <a:lstStyle/>
          <a:p>
            <a:r>
              <a:rPr lang="en-US" b="1" dirty="0">
                <a:solidFill>
                  <a:srgbClr val="FF0000"/>
                </a:solidFill>
              </a:rPr>
              <a:t>                      AI-Powered Verification &amp; Authentication</a:t>
            </a:r>
            <a:endParaRPr lang="en-US" dirty="0">
              <a:solidFill>
                <a:srgbClr val="FF0000"/>
              </a:solidFill>
            </a:endParaRPr>
          </a:p>
          <a:p>
            <a:pPr>
              <a:buFont typeface="Arial" panose="020B0604020202020204" pitchFamily="34" charset="0"/>
              <a:buChar char="•"/>
            </a:pPr>
            <a:r>
              <a:rPr lang="en-US" dirty="0"/>
              <a:t>The app uses </a:t>
            </a:r>
            <a:r>
              <a:rPr lang="en-US" b="1" dirty="0"/>
              <a:t>AI-based biometric recognition</a:t>
            </a:r>
            <a:r>
              <a:rPr lang="en-US" dirty="0"/>
              <a:t> to authenticate users.</a:t>
            </a:r>
          </a:p>
          <a:p>
            <a:pPr>
              <a:buFont typeface="Arial" panose="020B0604020202020204" pitchFamily="34" charset="0"/>
              <a:buChar char="•"/>
            </a:pPr>
            <a:r>
              <a:rPr lang="en-US" dirty="0"/>
              <a:t>It implements </a:t>
            </a:r>
            <a:r>
              <a:rPr lang="en-US" b="1" dirty="0"/>
              <a:t>liveness detection</a:t>
            </a:r>
            <a:r>
              <a:rPr lang="en-US" dirty="0"/>
              <a:t> to prevent spoofing.</a:t>
            </a:r>
          </a:p>
          <a:p>
            <a:endParaRPr lang="en-US" b="1" dirty="0">
              <a:solidFill>
                <a:srgbClr val="00B050"/>
              </a:solidFill>
            </a:endParaRPr>
          </a:p>
          <a:p>
            <a:r>
              <a:rPr lang="en-US" b="1" dirty="0">
                <a:solidFill>
                  <a:srgbClr val="00B050"/>
                </a:solidFill>
              </a:rPr>
              <a:t>{</a:t>
            </a:r>
            <a:r>
              <a:rPr lang="en-US" dirty="0"/>
              <a:t> </a:t>
            </a:r>
            <a:r>
              <a:rPr lang="en-US" b="1" dirty="0">
                <a:solidFill>
                  <a:srgbClr val="00B050"/>
                </a:solidFill>
              </a:rPr>
              <a:t>"Liveness detection" </a:t>
            </a:r>
            <a:r>
              <a:rPr lang="en-US" dirty="0"/>
              <a:t>is a security feature used in biometric systems to ensure that the person being scanned is physically present and not an imposter using a fake image, video, or mask.</a:t>
            </a:r>
            <a:r>
              <a:rPr lang="en-US" b="1" dirty="0">
                <a:solidFill>
                  <a:srgbClr val="00B050"/>
                </a:solidFill>
              </a:rPr>
              <a:t>}</a:t>
            </a:r>
          </a:p>
          <a:p>
            <a:endParaRPr lang="en-US" sz="1600" b="1" dirty="0">
              <a:solidFill>
                <a:srgbClr val="00B050"/>
              </a:solidFill>
            </a:endParaRPr>
          </a:p>
          <a:p>
            <a:r>
              <a:rPr lang="en-US" sz="1600" b="1" dirty="0">
                <a:solidFill>
                  <a:srgbClr val="00B050"/>
                </a:solidFill>
              </a:rPr>
              <a:t>{</a:t>
            </a:r>
            <a:r>
              <a:rPr lang="en-US" b="1" dirty="0">
                <a:solidFill>
                  <a:srgbClr val="00B050"/>
                </a:solidFill>
              </a:rPr>
              <a:t>Spoofing</a:t>
            </a:r>
            <a:r>
              <a:rPr lang="en-US" dirty="0"/>
              <a:t> in biometrics means </a:t>
            </a:r>
            <a:r>
              <a:rPr lang="en-US" b="1" dirty="0"/>
              <a:t>tricking the system</a:t>
            </a:r>
            <a:r>
              <a:rPr lang="en-US" dirty="0"/>
              <a:t> into falsely recognizing an unauthorized person as an authorized user. In my </a:t>
            </a:r>
            <a:r>
              <a:rPr lang="en-US" b="1" dirty="0">
                <a:solidFill>
                  <a:srgbClr val="00B050"/>
                </a:solidFill>
              </a:rPr>
              <a:t>Face in Iris Recognition-Based Payment System</a:t>
            </a:r>
            <a:r>
              <a:rPr lang="en-US" dirty="0"/>
              <a:t>, spoofing could happen if:</a:t>
            </a:r>
          </a:p>
          <a:p>
            <a:r>
              <a:rPr lang="en-US" dirty="0"/>
              <a:t>🔹 Someone </a:t>
            </a:r>
            <a:r>
              <a:rPr lang="en-US" b="1" dirty="0"/>
              <a:t>uses a high-quality photo or video</a:t>
            </a:r>
            <a:r>
              <a:rPr lang="en-US" dirty="0"/>
              <a:t> of a registered user to bypass face recognition.</a:t>
            </a:r>
            <a:br>
              <a:rPr lang="en-US" dirty="0"/>
            </a:br>
            <a:r>
              <a:rPr lang="en-US" dirty="0"/>
              <a:t>🔹 A hacker </a:t>
            </a:r>
            <a:r>
              <a:rPr lang="en-US" b="1" dirty="0"/>
              <a:t>creates a fake 3D mask</a:t>
            </a:r>
            <a:r>
              <a:rPr lang="en-US" dirty="0"/>
              <a:t> to mimic a person's face.</a:t>
            </a:r>
            <a:br>
              <a:rPr lang="en-US" dirty="0"/>
            </a:br>
            <a:r>
              <a:rPr lang="en-US" dirty="0"/>
              <a:t>🔹 A </a:t>
            </a:r>
            <a:r>
              <a:rPr lang="en-US" b="1" dirty="0"/>
              <a:t>printed iris image or contact lenses</a:t>
            </a:r>
            <a:r>
              <a:rPr lang="en-US" dirty="0"/>
              <a:t> are used to fool the scanner</a:t>
            </a:r>
            <a:r>
              <a:rPr lang="en-US" b="1" dirty="0">
                <a:solidFill>
                  <a:srgbClr val="00B050"/>
                </a:solidFill>
              </a:rPr>
              <a:t>.}</a:t>
            </a:r>
          </a:p>
          <a:p>
            <a:endParaRPr lang="en-US" b="1" dirty="0">
              <a:solidFill>
                <a:srgbClr val="00B050"/>
              </a:solidFill>
            </a:endParaRPr>
          </a:p>
          <a:p>
            <a:r>
              <a:rPr lang="en-US" b="1" dirty="0">
                <a:solidFill>
                  <a:srgbClr val="FF0000"/>
                </a:solidFill>
              </a:rPr>
              <a:t>                     Payment Integration &amp; Transaction Flow</a:t>
            </a:r>
            <a:endParaRPr lang="en-US" dirty="0">
              <a:solidFill>
                <a:srgbClr val="FF0000"/>
              </a:solidFill>
            </a:endParaRPr>
          </a:p>
          <a:p>
            <a:pPr>
              <a:buFont typeface="Arial" panose="020B0604020202020204" pitchFamily="34" charset="0"/>
              <a:buChar char="•"/>
            </a:pPr>
            <a:r>
              <a:rPr lang="en-US" dirty="0"/>
              <a:t>Users can </a:t>
            </a:r>
            <a:r>
              <a:rPr lang="en-US" b="1" dirty="0"/>
              <a:t>link their bank accounts, UPI, or wallets</a:t>
            </a:r>
            <a:r>
              <a:rPr lang="en-US" dirty="0"/>
              <a:t>.</a:t>
            </a:r>
          </a:p>
          <a:p>
            <a:pPr>
              <a:buFont typeface="Arial" panose="020B0604020202020204" pitchFamily="34" charset="0"/>
              <a:buChar char="•"/>
            </a:pPr>
            <a:r>
              <a:rPr lang="en-US" dirty="0"/>
              <a:t>At partner stores or ATMs, users simply </a:t>
            </a:r>
            <a:r>
              <a:rPr lang="en-US" b="1" dirty="0"/>
              <a:t>scan their face &amp; iris, enter a unique passcode</a:t>
            </a:r>
            <a:r>
              <a:rPr lang="en-US" dirty="0"/>
              <a:t>, and complete the transaction.</a:t>
            </a:r>
          </a:p>
          <a:p>
            <a:r>
              <a:rPr lang="en-US" b="1" dirty="0">
                <a:solidFill>
                  <a:srgbClr val="FF0000"/>
                </a:solidFill>
              </a:rPr>
              <a:t>                          Security &amp; Privacy Compliance</a:t>
            </a:r>
            <a:endParaRPr lang="en-US" dirty="0">
              <a:solidFill>
                <a:srgbClr val="FF0000"/>
              </a:solidFill>
            </a:endParaRPr>
          </a:p>
          <a:p>
            <a:pPr>
              <a:buFont typeface="Arial" panose="020B0604020202020204" pitchFamily="34" charset="0"/>
              <a:buChar char="•"/>
            </a:pPr>
            <a:r>
              <a:rPr lang="en-US" dirty="0"/>
              <a:t>Ensure </a:t>
            </a:r>
            <a:r>
              <a:rPr lang="en-US" b="1" dirty="0"/>
              <a:t>end-to-end encryption</a:t>
            </a:r>
            <a:r>
              <a:rPr lang="en-US" dirty="0"/>
              <a:t> for all biometric data.</a:t>
            </a:r>
          </a:p>
          <a:p>
            <a:pPr>
              <a:buFont typeface="Arial" panose="020B0604020202020204" pitchFamily="34" charset="0"/>
              <a:buChar char="•"/>
            </a:pPr>
            <a:r>
              <a:rPr lang="en-US" dirty="0"/>
              <a:t>Follow global security standards like </a:t>
            </a:r>
            <a:r>
              <a:rPr lang="en-US" b="1" dirty="0"/>
              <a:t>GDPR &amp; ISO 27001</a:t>
            </a:r>
            <a:r>
              <a:rPr lang="en-US" dirty="0"/>
              <a:t> for data protection.</a:t>
            </a:r>
          </a:p>
        </p:txBody>
      </p:sp>
    </p:spTree>
    <p:extLst>
      <p:ext uri="{BB962C8B-B14F-4D97-AF65-F5344CB8AC3E}">
        <p14:creationId xmlns:p14="http://schemas.microsoft.com/office/powerpoint/2010/main" val="32101077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3E987FD-59E8-D890-488A-C490E0D97AE4}"/>
              </a:ext>
            </a:extLst>
          </p:cNvPr>
          <p:cNvSpPr txBox="1"/>
          <p:nvPr/>
        </p:nvSpPr>
        <p:spPr>
          <a:xfrm>
            <a:off x="822120" y="891941"/>
            <a:ext cx="10679185" cy="5355312"/>
          </a:xfrm>
          <a:prstGeom prst="rect">
            <a:avLst/>
          </a:prstGeom>
          <a:noFill/>
        </p:spPr>
        <p:txBody>
          <a:bodyPr wrap="square">
            <a:spAutoFit/>
          </a:bodyPr>
          <a:lstStyle/>
          <a:p>
            <a:r>
              <a:rPr lang="en-US" b="1" dirty="0">
                <a:solidFill>
                  <a:srgbClr val="FF0000"/>
                </a:solidFill>
              </a:rPr>
              <a:t>Anti-Spoofing Measures</a:t>
            </a:r>
            <a:endParaRPr lang="en-US" dirty="0">
              <a:solidFill>
                <a:srgbClr val="FF0000"/>
              </a:solidFill>
            </a:endParaRPr>
          </a:p>
          <a:p>
            <a:pPr>
              <a:buFont typeface="Arial" panose="020B0604020202020204" pitchFamily="34" charset="0"/>
              <a:buChar char="•"/>
            </a:pPr>
            <a:r>
              <a:rPr lang="en-US" b="1" dirty="0"/>
              <a:t>Liveness Detection</a:t>
            </a:r>
            <a:r>
              <a:rPr lang="en-US" dirty="0"/>
              <a:t> – AI checks for blinking, head movement, or depth to confirm it's a real person.</a:t>
            </a:r>
          </a:p>
          <a:p>
            <a:pPr>
              <a:buFont typeface="Arial" panose="020B0604020202020204" pitchFamily="34" charset="0"/>
              <a:buChar char="•"/>
            </a:pPr>
            <a:r>
              <a:rPr lang="en-US" b="1" dirty="0"/>
              <a:t>Infrared Iris Scanning</a:t>
            </a:r>
            <a:r>
              <a:rPr lang="en-US" dirty="0"/>
              <a:t> – Detects real eye texture and blocks printed images or videos.</a:t>
            </a:r>
          </a:p>
          <a:p>
            <a:pPr>
              <a:buFont typeface="Arial" panose="020B0604020202020204" pitchFamily="34" charset="0"/>
              <a:buChar char="•"/>
            </a:pPr>
            <a:r>
              <a:rPr lang="en-US" b="1" dirty="0"/>
              <a:t>Anti-Spoof Algorithms</a:t>
            </a:r>
            <a:r>
              <a:rPr lang="en-US" dirty="0"/>
              <a:t> – Machine learning detects anomalies in fake attempts.</a:t>
            </a:r>
          </a:p>
          <a:p>
            <a:pPr>
              <a:buFont typeface="Arial" panose="020B0604020202020204" pitchFamily="34" charset="0"/>
              <a:buChar char="•"/>
            </a:pPr>
            <a:r>
              <a:rPr lang="en-US" b="1" dirty="0"/>
              <a:t>Multi-Factor Authentication</a:t>
            </a:r>
            <a:r>
              <a:rPr lang="en-US" dirty="0"/>
              <a:t> – Face/Iris scan + a unique passcode for extra security.</a:t>
            </a:r>
          </a:p>
          <a:p>
            <a:pPr>
              <a:buFont typeface="Arial" panose="020B0604020202020204" pitchFamily="34" charset="0"/>
              <a:buChar char="•"/>
            </a:pPr>
            <a:endParaRPr lang="en-US" b="1" u="sng" dirty="0">
              <a:solidFill>
                <a:srgbClr val="FF0000"/>
              </a:solidFill>
            </a:endParaRPr>
          </a:p>
          <a:p>
            <a:endParaRPr lang="en-US" b="1" u="sng" dirty="0">
              <a:solidFill>
                <a:srgbClr val="FF0000"/>
              </a:solidFill>
            </a:endParaRPr>
          </a:p>
          <a:p>
            <a:r>
              <a:rPr lang="en-US" b="1" u="sng" dirty="0">
                <a:solidFill>
                  <a:srgbClr val="FF0000"/>
                </a:solidFill>
              </a:rPr>
              <a:t>5. Key Benefits &amp; Impact:</a:t>
            </a:r>
          </a:p>
          <a:p>
            <a:endParaRPr lang="en-US" b="1" dirty="0">
              <a:solidFill>
                <a:srgbClr val="FF0000"/>
              </a:solidFill>
            </a:endParaRPr>
          </a:p>
          <a:p>
            <a:r>
              <a:rPr lang="en-US" b="1" dirty="0"/>
              <a:t>    1.  Instant Transactions:</a:t>
            </a:r>
            <a:r>
              <a:rPr lang="en-US" dirty="0"/>
              <a:t> No need for cash, cards, or mobile wallets—just scan &amp; pay in seconds.</a:t>
            </a:r>
          </a:p>
          <a:p>
            <a:r>
              <a:rPr lang="en-US" b="1" dirty="0"/>
              <a:t>    2. Enhanced Security:</a:t>
            </a:r>
            <a:r>
              <a:rPr lang="en-US" dirty="0"/>
              <a:t> Eliminates fraud and unauthorized transactions with AI-powered biometric verification.</a:t>
            </a:r>
          </a:p>
          <a:p>
            <a:r>
              <a:rPr lang="en-US" b="1" dirty="0"/>
              <a:t>    3.  Accessibility for All:</a:t>
            </a:r>
            <a:r>
              <a:rPr lang="en-US" dirty="0"/>
              <a:t> Perfect for elderly and non-tech-savvy users who struggle with digital payments.</a:t>
            </a:r>
          </a:p>
          <a:p>
            <a:r>
              <a:rPr lang="en-US" b="1" dirty="0"/>
              <a:t>    4.  Reduced Congestion:</a:t>
            </a:r>
            <a:r>
              <a:rPr lang="en-US" dirty="0"/>
              <a:t> Minimizes long queues at ATMs, shops, and payment counters.</a:t>
            </a:r>
          </a:p>
          <a:p>
            <a:r>
              <a:rPr lang="en-US" b="1" dirty="0"/>
              <a:t>    5. Elimination of Forgotten Passwords &amp; Cards:</a:t>
            </a:r>
            <a:r>
              <a:rPr lang="en-US" dirty="0"/>
              <a:t> No need to remember PINs or carry wallets—your face and iris are enough!</a:t>
            </a:r>
          </a:p>
          <a:p>
            <a:r>
              <a:rPr lang="en-US" b="1" dirty="0"/>
              <a:t>    6.  Anti-Spoofing &amp; Fraud Prevention:</a:t>
            </a:r>
            <a:r>
              <a:rPr lang="en-US" dirty="0"/>
              <a:t> Advanced liveness detection ensures only real users can authenticate.</a:t>
            </a:r>
          </a:p>
          <a:p>
            <a:r>
              <a:rPr lang="en-US" b="1" dirty="0"/>
              <a:t>    7.  Contactless &amp; Hygienic Payments:</a:t>
            </a:r>
            <a:r>
              <a:rPr lang="en-US" dirty="0"/>
              <a:t> No touching keypads or cards—safer transactions in public places.</a:t>
            </a:r>
          </a:p>
          <a:p>
            <a:r>
              <a:rPr lang="en-US" b="1" dirty="0"/>
              <a:t>    8.  A Step Towards a Cashless Society:</a:t>
            </a:r>
            <a:r>
              <a:rPr lang="en-US" dirty="0"/>
              <a:t> Contributes to the digital economy and promotes seamless financial transactions.</a:t>
            </a:r>
          </a:p>
        </p:txBody>
      </p:sp>
    </p:spTree>
    <p:extLst>
      <p:ext uri="{BB962C8B-B14F-4D97-AF65-F5344CB8AC3E}">
        <p14:creationId xmlns:p14="http://schemas.microsoft.com/office/powerpoint/2010/main" val="11532112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64D0922-2830-52DC-C4DF-869FA87A9B2F}"/>
              </a:ext>
            </a:extLst>
          </p:cNvPr>
          <p:cNvSpPr txBox="1"/>
          <p:nvPr/>
        </p:nvSpPr>
        <p:spPr>
          <a:xfrm>
            <a:off x="469785" y="415785"/>
            <a:ext cx="11442582" cy="5632311"/>
          </a:xfrm>
          <a:prstGeom prst="rect">
            <a:avLst/>
          </a:prstGeom>
          <a:noFill/>
        </p:spPr>
        <p:txBody>
          <a:bodyPr wrap="square">
            <a:spAutoFit/>
          </a:bodyPr>
          <a:lstStyle/>
          <a:p>
            <a:r>
              <a:rPr lang="en-US" b="1" u="sng" dirty="0">
                <a:solidFill>
                  <a:srgbClr val="FF0000"/>
                </a:solidFill>
              </a:rPr>
              <a:t>6. Conclusion</a:t>
            </a:r>
            <a:endParaRPr lang="en-US" u="sng" dirty="0">
              <a:solidFill>
                <a:srgbClr val="FF0000"/>
              </a:solidFill>
            </a:endParaRPr>
          </a:p>
          <a:p>
            <a:r>
              <a:rPr lang="en-US" dirty="0"/>
              <a:t>The </a:t>
            </a:r>
            <a:r>
              <a:rPr lang="en-US" b="1" dirty="0"/>
              <a:t>Face in Iris Recognition-Based Payment System</a:t>
            </a:r>
            <a:r>
              <a:rPr lang="en-US" dirty="0"/>
              <a:t> is a revolutionary step toward a secure, efficient, and inclusive digital payment ecosystem. Here’s why this idea is valuable:</a:t>
            </a:r>
          </a:p>
          <a:p>
            <a:pPr>
              <a:buFont typeface="+mj-lt"/>
              <a:buAutoNum type="arabicPeriod"/>
            </a:pPr>
            <a:r>
              <a:rPr lang="en-US" b="1" dirty="0"/>
              <a:t>Instant &amp; Hassle-Free Transactions</a:t>
            </a:r>
            <a:r>
              <a:rPr lang="en-US" dirty="0"/>
              <a:t> – No need for cash, cards, or mobile wallets; just scan and pay within seconds. </a:t>
            </a:r>
          </a:p>
          <a:p>
            <a:pPr>
              <a:buFont typeface="+mj-lt"/>
              <a:buAutoNum type="arabicPeriod"/>
            </a:pPr>
            <a:r>
              <a:rPr lang="en-US" b="1" dirty="0"/>
              <a:t>Top-Notch Security </a:t>
            </a:r>
            <a:r>
              <a:rPr lang="en-US" dirty="0"/>
              <a:t>– Eliminates risks of card fraud, password theft, and unauthorized access through biometric authentication.</a:t>
            </a:r>
          </a:p>
          <a:p>
            <a:pPr>
              <a:buFont typeface="+mj-lt"/>
              <a:buAutoNum type="arabicPeriod"/>
            </a:pPr>
            <a:r>
              <a:rPr lang="en-US" b="1" dirty="0"/>
              <a:t>Inclusive for All </a:t>
            </a:r>
            <a:r>
              <a:rPr lang="en-US" dirty="0"/>
              <a:t>– Designed for individuals of all age groups, including elderly users unfamiliar with digital payment methods.</a:t>
            </a:r>
          </a:p>
          <a:p>
            <a:pPr>
              <a:buFont typeface="+mj-lt"/>
              <a:buAutoNum type="arabicPeriod"/>
            </a:pPr>
            <a:r>
              <a:rPr lang="en-US" b="1" dirty="0"/>
              <a:t>Reduced Shop Congestion </a:t>
            </a:r>
            <a:r>
              <a:rPr lang="en-US" dirty="0"/>
              <a:t>– Speeds up checkout processes, reducing long queues and improving customer experience.</a:t>
            </a:r>
          </a:p>
          <a:p>
            <a:pPr>
              <a:buFont typeface="+mj-lt"/>
              <a:buAutoNum type="arabicPeriod"/>
            </a:pPr>
            <a:r>
              <a:rPr lang="en-US" b="1" dirty="0"/>
              <a:t>Contactless &amp; Hygienic Payments</a:t>
            </a:r>
            <a:r>
              <a:rPr lang="en-US" dirty="0"/>
              <a:t> – Promotes a safer and more sanitary way of handling transactions, especially post-pandemic.</a:t>
            </a:r>
          </a:p>
          <a:p>
            <a:pPr>
              <a:buFont typeface="+mj-lt"/>
              <a:buAutoNum type="arabicPeriod"/>
            </a:pPr>
            <a:r>
              <a:rPr lang="en-US" b="1" dirty="0"/>
              <a:t>Supports the Cashless Economy </a:t>
            </a:r>
            <a:r>
              <a:rPr lang="en-US" dirty="0"/>
              <a:t>– Aligns with the digital transformation vision, reducing dependency on physical cash transactions.</a:t>
            </a:r>
          </a:p>
          <a:p>
            <a:pPr>
              <a:buFont typeface="+mj-lt"/>
              <a:buAutoNum type="arabicPeriod"/>
            </a:pPr>
            <a:r>
              <a:rPr lang="en-US" b="1" dirty="0"/>
              <a:t>AI-Driven Security </a:t>
            </a:r>
            <a:r>
              <a:rPr lang="en-US" dirty="0"/>
              <a:t>– Advanced liveness detection, anti-spoofing measures, and end-to-end encryption ensure unparalleled security and privacy.</a:t>
            </a:r>
          </a:p>
          <a:p>
            <a:pPr>
              <a:buFont typeface="+mj-lt"/>
              <a:buAutoNum type="arabicPeriod"/>
            </a:pPr>
            <a:r>
              <a:rPr lang="en-US" b="1" dirty="0"/>
              <a:t>Scalable &amp; Versatile </a:t>
            </a:r>
            <a:r>
              <a:rPr lang="en-US" dirty="0"/>
              <a:t>– Usable across multiple industries, from retail and banking to public services and transportation.</a:t>
            </a:r>
          </a:p>
          <a:p>
            <a:r>
              <a:rPr lang="en-US" b="1" dirty="0"/>
              <a:t> </a:t>
            </a:r>
          </a:p>
          <a:p>
            <a:r>
              <a:rPr lang="en-US" b="1" dirty="0"/>
              <a:t>This system is not just a payment solution—it’s a game-changer for the future of financial transactions. With seamless integration, high security, and user-friendly functionality, this innovation is set to redefine the way we pay.</a:t>
            </a:r>
          </a:p>
          <a:p>
            <a:r>
              <a:rPr lang="en-US" b="1" dirty="0"/>
              <a:t>The future of payments is here—secure, fast, and biometric-driven!</a:t>
            </a:r>
          </a:p>
        </p:txBody>
      </p:sp>
    </p:spTree>
    <p:extLst>
      <p:ext uri="{BB962C8B-B14F-4D97-AF65-F5344CB8AC3E}">
        <p14:creationId xmlns:p14="http://schemas.microsoft.com/office/powerpoint/2010/main" val="22632487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2C25138-7487-3381-35E2-DF5EF881B2E2}"/>
              </a:ext>
            </a:extLst>
          </p:cNvPr>
          <p:cNvSpPr txBox="1"/>
          <p:nvPr/>
        </p:nvSpPr>
        <p:spPr>
          <a:xfrm>
            <a:off x="1864453" y="654233"/>
            <a:ext cx="6094602" cy="2862322"/>
          </a:xfrm>
          <a:prstGeom prst="rect">
            <a:avLst/>
          </a:prstGeom>
          <a:noFill/>
        </p:spPr>
        <p:txBody>
          <a:bodyPr wrap="square">
            <a:spAutoFit/>
          </a:bodyPr>
          <a:lstStyle/>
          <a:p>
            <a:r>
              <a:rPr lang="en-IN" sz="2000" b="1" dirty="0">
                <a:solidFill>
                  <a:schemeClr val="accent6">
                    <a:lumMod val="50000"/>
                  </a:schemeClr>
                </a:solidFill>
              </a:rPr>
              <a:t>Problem in My idea</a:t>
            </a:r>
          </a:p>
          <a:p>
            <a:endParaRPr lang="en-IN" sz="2000" b="1" dirty="0">
              <a:solidFill>
                <a:schemeClr val="accent6">
                  <a:lumMod val="50000"/>
                </a:schemeClr>
              </a:solidFill>
            </a:endParaRPr>
          </a:p>
          <a:p>
            <a:pPr marL="457200" indent="-457200">
              <a:buAutoNum type="alphaLcPeriod"/>
            </a:pPr>
            <a:r>
              <a:rPr lang="en-IN" sz="2000" b="1" dirty="0">
                <a:solidFill>
                  <a:schemeClr val="accent6">
                    <a:lumMod val="50000"/>
                  </a:schemeClr>
                </a:solidFill>
              </a:rPr>
              <a:t>How can system knows that how many items an individuals are buying</a:t>
            </a:r>
          </a:p>
          <a:p>
            <a:pPr marL="457200" indent="-457200">
              <a:buAutoNum type="alphaLcPeriod"/>
            </a:pPr>
            <a:r>
              <a:rPr lang="en-IN" sz="2000" b="1" dirty="0">
                <a:solidFill>
                  <a:schemeClr val="accent6">
                    <a:lumMod val="50000"/>
                  </a:schemeClr>
                </a:solidFill>
              </a:rPr>
              <a:t>How can I reach to those people who don’t know how to run an app</a:t>
            </a:r>
          </a:p>
          <a:p>
            <a:pPr marL="457200" indent="-457200">
              <a:buAutoNum type="alphaLcPeriod"/>
            </a:pPr>
            <a:r>
              <a:rPr lang="en-IN" sz="2000" b="1" dirty="0">
                <a:solidFill>
                  <a:schemeClr val="accent6">
                    <a:lumMod val="50000"/>
                  </a:schemeClr>
                </a:solidFill>
              </a:rPr>
              <a:t>How can I available this device to each and every shops .</a:t>
            </a:r>
          </a:p>
          <a:p>
            <a:pPr marL="457200" indent="-457200">
              <a:buAutoNum type="alphaLcPeriod"/>
            </a:pPr>
            <a:r>
              <a:rPr lang="en-IN" sz="2000" b="1" dirty="0">
                <a:solidFill>
                  <a:schemeClr val="accent6">
                    <a:lumMod val="50000"/>
                  </a:schemeClr>
                </a:solidFill>
              </a:rPr>
              <a:t>Money Problem</a:t>
            </a:r>
          </a:p>
        </p:txBody>
      </p:sp>
      <p:sp>
        <p:nvSpPr>
          <p:cNvPr id="5" name="TextBox 4">
            <a:extLst>
              <a:ext uri="{FF2B5EF4-FFF2-40B4-BE49-F238E27FC236}">
                <a16:creationId xmlns:a16="http://schemas.microsoft.com/office/drawing/2014/main" id="{0E06F27E-AD34-E034-821F-28752E202704}"/>
              </a:ext>
            </a:extLst>
          </p:cNvPr>
          <p:cNvSpPr txBox="1"/>
          <p:nvPr/>
        </p:nvSpPr>
        <p:spPr>
          <a:xfrm>
            <a:off x="1386281" y="5016508"/>
            <a:ext cx="6094602" cy="584775"/>
          </a:xfrm>
          <a:prstGeom prst="rect">
            <a:avLst/>
          </a:prstGeom>
          <a:noFill/>
        </p:spPr>
        <p:txBody>
          <a:bodyPr wrap="square">
            <a:spAutoFit/>
          </a:bodyPr>
          <a:lstStyle/>
          <a:p>
            <a:pPr marL="457200" indent="-457200">
              <a:buAutoNum type="alphaLcPeriod"/>
            </a:pPr>
            <a:r>
              <a:rPr lang="en-IN" sz="3200" b="1" u="sng" dirty="0">
                <a:solidFill>
                  <a:srgbClr val="7030A0"/>
                </a:solidFill>
                <a:effectLst>
                  <a:outerShdw blurRad="38100" dist="38100" dir="2700000" algn="tl">
                    <a:srgbClr val="000000">
                      <a:alpha val="43137"/>
                    </a:srgbClr>
                  </a:outerShdw>
                </a:effectLst>
              </a:rPr>
              <a:t>Pin -&gt; amount -&gt; eye detection</a:t>
            </a:r>
          </a:p>
        </p:txBody>
      </p:sp>
    </p:spTree>
    <p:extLst>
      <p:ext uri="{BB962C8B-B14F-4D97-AF65-F5344CB8AC3E}">
        <p14:creationId xmlns:p14="http://schemas.microsoft.com/office/powerpoint/2010/main" val="603623127"/>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D9B247"/>
      </a:accent1>
      <a:accent2>
        <a:srgbClr val="CC702D"/>
      </a:accent2>
      <a:accent3>
        <a:srgbClr val="B53A31"/>
      </a:accent3>
      <a:accent4>
        <a:srgbClr val="815F56"/>
      </a:accent4>
      <a:accent5>
        <a:srgbClr val="AE9E7C"/>
      </a:accent5>
      <a:accent6>
        <a:srgbClr val="7B8865"/>
      </a:accent6>
      <a:hlink>
        <a:srgbClr val="BB7826"/>
      </a:hlink>
      <a:folHlink>
        <a:srgbClr val="CF9C5F"/>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E4E49EB0-FB00-41F5-9359-4843D783A23D}"/>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2.xml><?xml version="1.0" encoding="utf-8"?>
<ds:datastoreItem xmlns:ds="http://schemas.openxmlformats.org/officeDocument/2006/customXml" ds:itemID="{41E7CA09-9778-4414-AE97-8064B12DA30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D289AE2-D2AE-49D1-AFAC-3A79F6794255}">
  <ds:schemaRefs>
    <ds:schemaRef ds:uri="http://schemas.microsoft.com/office/2006/documentManagement/types"/>
    <ds:schemaRef ds:uri="http://purl.org/dc/terms/"/>
    <ds:schemaRef ds:uri="http://schemas.microsoft.com/office/2006/metadata/properties"/>
    <ds:schemaRef ds:uri="http://purl.org/dc/dcmitype/"/>
    <ds:schemaRef ds:uri="http://schemas.microsoft.com/office/infopath/2007/PartnerControls"/>
    <ds:schemaRef ds:uri="http://purl.org/dc/elements/1.1/"/>
    <ds:schemaRef ds:uri="16c05727-aa75-4e4a-9b5f-8a80a1165891"/>
    <ds:schemaRef ds:uri="http://schemas.openxmlformats.org/package/2006/metadata/core-properties"/>
    <ds:schemaRef ds:uri="71af3243-3dd4-4a8d-8c0d-dd76da1f02a5"/>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Organic</Template>
  <TotalTime>914</TotalTime>
  <Words>3536</Words>
  <Application>Microsoft Office PowerPoint</Application>
  <PresentationFormat>Widescreen</PresentationFormat>
  <Paragraphs>395</Paragraphs>
  <Slides>39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__Inter_d65c78</vt:lpstr>
      <vt:lpstr>Arial</vt:lpstr>
      <vt:lpstr>Garamond</vt:lpstr>
      <vt:lpstr>Wingdings</vt:lpstr>
      <vt:lpstr>Organic</vt:lpstr>
      <vt:lpstr>SUDHANSHU RANJAN “SchoolSolver.com”</vt:lpstr>
      <vt:lpstr>PowerPoint Presentation</vt:lpstr>
      <vt:lpstr>PowerPoint Presentation</vt:lpstr>
      <vt:lpstr>1ST PRIORITY</vt:lpstr>
      <vt:lpstr>Your 1st priority</vt:lpstr>
      <vt:lpstr>STEP BY STEP</vt:lpstr>
      <vt:lpstr>EARNING WEBSITES</vt:lpstr>
      <vt:lpstr>How to overcome laziness</vt:lpstr>
      <vt:lpstr>IMPROVE VOCAB BY USING THESE YOUTUBE CHENNALS</vt:lpstr>
      <vt:lpstr>REMOTE JOBS  (HOWTOSTARTANLIC.COM/BUSINESSIDEAS{FOR BUSINESS IDEAS})</vt:lpstr>
      <vt:lpstr>BOOKS YOU WANT TO DOWNLOAD  (WEBSITE)</vt:lpstr>
      <vt:lpstr>For experience you can visit this website</vt:lpstr>
      <vt:lpstr>APPS TO EARN MONEY</vt:lpstr>
      <vt:lpstr>This is the site where you can make notes through real time conversation </vt:lpstr>
      <vt:lpstr>TOP WAYS TO CHANGE MYSELF</vt:lpstr>
      <vt:lpstr>Master communication skills</vt:lpstr>
      <vt:lpstr>BOOKS I HAVE TO READ.</vt:lpstr>
      <vt:lpstr>HOW TO SPEAK SO THAT PEOPLES WANTS TO LISTEN</vt:lpstr>
      <vt:lpstr>PowerPoint Presentation</vt:lpstr>
      <vt:lpstr>PowerPoint Presentation</vt:lpstr>
      <vt:lpstr>PowerPoint Presentation</vt:lpstr>
      <vt:lpstr>Ideas</vt:lpstr>
      <vt:lpstr>PowerPoint Presentation</vt:lpstr>
      <vt:lpstr>Ideas</vt:lpstr>
      <vt:lpstr>Ideas</vt:lpstr>
      <vt:lpstr>Ideas</vt:lpstr>
      <vt:lpstr>PowerPoint Presentation</vt:lpstr>
      <vt:lpstr>PowerPoint Presentation</vt:lpstr>
      <vt:lpstr>PowerPoint Presentation</vt:lpstr>
      <vt:lpstr>PowerPoint Presentation</vt:lpstr>
      <vt:lpstr>PowerPoint Presentation</vt:lpstr>
      <vt:lpstr>PowerPoint Presentation</vt:lpstr>
      <vt:lpstr>Ideas</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NARAYAN VASUDEV</dc:creator>
  <cp:lastModifiedBy>Sudhanshu Ranjan</cp:lastModifiedBy>
  <cp:revision>41</cp:revision>
  <dcterms:created xsi:type="dcterms:W3CDTF">2024-08-31T17:01:18Z</dcterms:created>
  <dcterms:modified xsi:type="dcterms:W3CDTF">2026-01-04T08:44:16Z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