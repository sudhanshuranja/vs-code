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306" r:id="rId3"/>
    <p:sldId id="301" r:id="rId4"/>
    <p:sldId id="302" r:id="rId5"/>
    <p:sldId id="300" r:id="rId6"/>
    <p:sldId id="303" r:id="rId7"/>
    <p:sldId id="304" r:id="rId8"/>
    <p:sldId id="307" r:id="rId9"/>
    <p:sldId id="30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86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80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67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81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996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060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732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0246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156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374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13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1/30/2026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55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06C3C-0599-13AD-7C85-557AFCC97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58" y="639763"/>
            <a:ext cx="8416435" cy="3227387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8000" dirty="0" err="1"/>
              <a:t>FacePay</a:t>
            </a:r>
            <a:r>
              <a:rPr lang="en-IN" sz="8000" dirty="0"/>
              <a:t>: The Zero-Hardware Payment Revolution</a:t>
            </a:r>
            <a:endParaRPr lang="en-IN" sz="75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60DF7C-88F0-40A5-96EC-BABE7A4A3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7534655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34861-1DF5-DF04-5302-E61446BE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58" y="4525963"/>
            <a:ext cx="7334865" cy="1324231"/>
          </a:xfrm>
        </p:spPr>
        <p:txBody>
          <a:bodyPr anchor="t">
            <a:normAutofit fontScale="70000" lnSpcReduction="20000"/>
          </a:bodyPr>
          <a:lstStyle/>
          <a:p>
            <a:pPr lvl="0"/>
            <a:r>
              <a:rPr lang="en-IN" b="1" dirty="0"/>
              <a:t>Subtitle:</a:t>
            </a:r>
            <a:r>
              <a:rPr lang="en-IN" dirty="0"/>
              <a:t> A Biometric Payment System for the Inclusive Digital Economy</a:t>
            </a:r>
          </a:p>
          <a:p>
            <a:pPr lvl="0"/>
            <a:r>
              <a:rPr lang="en-IN" b="1"/>
              <a:t>Tagline</a:t>
            </a:r>
            <a:r>
              <a:rPr lang="en-IN" b="1" dirty="0"/>
              <a:t>:</a:t>
            </a:r>
            <a:r>
              <a:rPr lang="en-IN" dirty="0"/>
              <a:t> "Your Face is Your Wallet."</a:t>
            </a:r>
          </a:p>
          <a:p>
            <a:pPr algn="l"/>
            <a:endParaRPr lang="en-IN" dirty="0"/>
          </a:p>
        </p:txBody>
      </p:sp>
      <p:pic>
        <p:nvPicPr>
          <p:cNvPr id="16" name="Picture 15" descr="Isolated twigs and flowers on a white surface">
            <a:extLst>
              <a:ext uri="{FF2B5EF4-FFF2-40B4-BE49-F238E27FC236}">
                <a16:creationId xmlns:a16="http://schemas.microsoft.com/office/drawing/2014/main" id="{FDCAD2A0-B168-D36B-EA4B-4CF6DAED0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09" r="19624" b="2"/>
          <a:stretch>
            <a:fillRect/>
          </a:stretch>
        </p:blipFill>
        <p:spPr>
          <a:xfrm>
            <a:off x="7534655" y="10"/>
            <a:ext cx="465734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4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3D7D-04FC-86CC-4363-F5AE2BD5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What, we are solving?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9AA4A-B595-159B-2542-1E6335F21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Instant and the fastest payment system</a:t>
            </a:r>
          </a:p>
          <a:p>
            <a:pPr marL="514350" indent="-514350">
              <a:buAutoNum type="arabicPeriod"/>
            </a:pPr>
            <a:r>
              <a:rPr lang="en-IN" dirty="0"/>
              <a:t>Tension free about security</a:t>
            </a:r>
          </a:p>
          <a:p>
            <a:pPr marL="514350" indent="-514350">
              <a:buAutoNum type="arabicPeriod"/>
            </a:pPr>
            <a:r>
              <a:rPr lang="en-IN" dirty="0"/>
              <a:t>Removing burden of purse, cards etc</a:t>
            </a:r>
          </a:p>
          <a:p>
            <a:pPr marL="514350" indent="-514350">
              <a:buAutoNum type="arabicPeriod"/>
            </a:pPr>
            <a:r>
              <a:rPr lang="en-IN" dirty="0"/>
              <a:t>Removing the need of mobile phone for the payments (just you have to be there)</a:t>
            </a:r>
          </a:p>
          <a:p>
            <a:pPr marL="514350" indent="-514350">
              <a:buAutoNum type="arabicPeriod"/>
            </a:pPr>
            <a:r>
              <a:rPr lang="en-IN" dirty="0"/>
              <a:t>Reducing traffic and reducing time for the people</a:t>
            </a:r>
          </a:p>
        </p:txBody>
      </p:sp>
    </p:spTree>
    <p:extLst>
      <p:ext uri="{BB962C8B-B14F-4D97-AF65-F5344CB8AC3E}">
        <p14:creationId xmlns:p14="http://schemas.microsoft.com/office/powerpoint/2010/main" val="375026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94CD9E-93AE-A962-A7E6-2D2FE9F0174B}"/>
              </a:ext>
            </a:extLst>
          </p:cNvPr>
          <p:cNvSpPr txBox="1"/>
          <p:nvPr/>
        </p:nvSpPr>
        <p:spPr>
          <a:xfrm>
            <a:off x="868394" y="867635"/>
            <a:ext cx="108024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1. Title</a:t>
            </a:r>
          </a:p>
          <a:p>
            <a:pPr algn="just"/>
            <a:r>
              <a:rPr lang="en-US" dirty="0">
                <a:latin typeface="Garamond" panose="02020404030301010803" pitchFamily="18" charset="0"/>
              </a:rPr>
              <a:t>“</a:t>
            </a:r>
            <a:r>
              <a:rPr lang="en-US" dirty="0" err="1">
                <a:latin typeface="Garamond" panose="02020404030301010803" pitchFamily="18" charset="0"/>
              </a:rPr>
              <a:t>QuikFace</a:t>
            </a:r>
            <a:r>
              <a:rPr lang="en-US" dirty="0">
                <a:latin typeface="Garamond" panose="02020404030301010803" pitchFamily="18" charset="0"/>
              </a:rPr>
              <a:t>“</a:t>
            </a:r>
          </a:p>
          <a:p>
            <a:pPr algn="just"/>
            <a:endParaRPr lang="en-US" b="1" dirty="0">
              <a:latin typeface="Garamond" panose="02020404030301010803" pitchFamily="18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2. Introduction</a:t>
            </a:r>
          </a:p>
          <a:p>
            <a:pPr algn="just"/>
            <a:r>
              <a:rPr lang="en-US" dirty="0">
                <a:latin typeface="Garamond" panose="02020404030301010803" pitchFamily="18" charset="0"/>
              </a:rPr>
              <a:t>In today’s fast-paced world, traditional payment methods like cash, cards, and mobile apps often create </a:t>
            </a:r>
            <a:r>
              <a:rPr lang="en-US" b="1" u="sng" dirty="0">
                <a:latin typeface="Garamond" panose="02020404030301010803" pitchFamily="18" charset="0"/>
              </a:rPr>
              <a:t>unnecessary delays and inconvenience</a:t>
            </a:r>
            <a:r>
              <a:rPr lang="en-US" dirty="0">
                <a:latin typeface="Garamond" panose="02020404030301010803" pitchFamily="18" charset="0"/>
              </a:rPr>
              <a:t>. Whether </a:t>
            </a:r>
            <a:r>
              <a:rPr lang="en-US" b="1" u="sng" dirty="0">
                <a:solidFill>
                  <a:schemeClr val="accent2">
                    <a:lumMod val="75000"/>
                  </a:schemeClr>
                </a:solidFill>
                <a:latin typeface="Garamond" panose="02020404030301010803" pitchFamily="18" charset="0"/>
              </a:rPr>
              <a:t>it’s waiting in long queues, handling forgotten passwords, or struggling with complex payment apps, these issues make transactions slower and burdensome—especially for elderly individuals and those unfamiliar with digital wallets.</a:t>
            </a:r>
          </a:p>
          <a:p>
            <a:pPr algn="just"/>
            <a:r>
              <a:rPr lang="en-US" dirty="0">
                <a:latin typeface="Garamond" panose="02020404030301010803" pitchFamily="18" charset="0"/>
              </a:rPr>
              <a:t>To solve this, we introduce a revolutionary </a:t>
            </a:r>
            <a:r>
              <a:rPr lang="en-US" b="1" dirty="0">
                <a:latin typeface="Garamond" panose="02020404030301010803" pitchFamily="18" charset="0"/>
              </a:rPr>
              <a:t>Face in Irish Recognition-Based Payment System</a:t>
            </a:r>
            <a:r>
              <a:rPr lang="en-US" dirty="0">
                <a:latin typeface="Garamond" panose="02020404030301010803" pitchFamily="18" charset="0"/>
              </a:rPr>
              <a:t>—a faster, easier, and more accessible way to pay. Instead of carrying cash, cards, or relying on smartphones, </a:t>
            </a:r>
            <a:r>
              <a:rPr lang="en-US" dirty="0"/>
              <a:t>The shopkeeper enters the amount on </a:t>
            </a:r>
            <a:r>
              <a:rPr lang="en-US" i="1" dirty="0"/>
              <a:t>their</a:t>
            </a:r>
            <a:r>
              <a:rPr lang="en-US" dirty="0"/>
              <a:t> phone. The customer looks at the </a:t>
            </a:r>
            <a:r>
              <a:rPr lang="en-US" i="1" dirty="0"/>
              <a:t>shopkeeper's phone</a:t>
            </a:r>
            <a:r>
              <a:rPr lang="en-US" dirty="0"/>
              <a:t>. The app scans the customer's face, identifies them and customer says yes, and processes the payment.</a:t>
            </a:r>
          </a:p>
          <a:p>
            <a:pPr algn="just"/>
            <a:r>
              <a:rPr lang="en-US" b="1" dirty="0">
                <a:latin typeface="Garamond" panose="02020404030301010803" pitchFamily="18" charset="0"/>
              </a:rPr>
              <a:t>Key Benefits:</a:t>
            </a:r>
          </a:p>
          <a:p>
            <a:pPr algn="just"/>
            <a:r>
              <a:rPr lang="en-US" b="1" dirty="0">
                <a:latin typeface="Garamond" panose="02020404030301010803" pitchFamily="18" charset="0"/>
              </a:rPr>
              <a:t>       Time-Saving</a:t>
            </a:r>
            <a:r>
              <a:rPr lang="en-US" dirty="0">
                <a:latin typeface="Garamond" panose="02020404030301010803" pitchFamily="18" charset="0"/>
              </a:rPr>
              <a:t> – No need for cash, cards, or multiple authentication steps.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        </a:t>
            </a:r>
            <a:r>
              <a:rPr lang="en-US" b="1" dirty="0">
                <a:latin typeface="Garamond" panose="02020404030301010803" pitchFamily="18" charset="0"/>
              </a:rPr>
              <a:t>Less Burden</a:t>
            </a:r>
            <a:r>
              <a:rPr lang="en-US" dirty="0">
                <a:latin typeface="Garamond" panose="02020404030301010803" pitchFamily="18" charset="0"/>
              </a:rPr>
              <a:t> – Just your face and a simple code—no need for wallets or devices.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        </a:t>
            </a:r>
            <a:r>
              <a:rPr lang="en-US" b="1" dirty="0">
                <a:latin typeface="Garamond" panose="02020404030301010803" pitchFamily="18" charset="0"/>
              </a:rPr>
              <a:t>Reduces Shop Traffic</a:t>
            </a:r>
            <a:r>
              <a:rPr lang="en-US" dirty="0">
                <a:latin typeface="Garamond" panose="02020404030301010803" pitchFamily="18" charset="0"/>
              </a:rPr>
              <a:t> – Faster transactions mean shorter queues at stores.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        </a:t>
            </a:r>
            <a:r>
              <a:rPr lang="en-US" b="1" dirty="0">
                <a:latin typeface="Garamond" panose="02020404030301010803" pitchFamily="18" charset="0"/>
              </a:rPr>
              <a:t>Frictionless Payments</a:t>
            </a:r>
            <a:r>
              <a:rPr lang="en-US" dirty="0">
                <a:latin typeface="Garamond" panose="02020404030301010803" pitchFamily="18" charset="0"/>
              </a:rPr>
              <a:t> – Works seamlessly for people of all ages, even those unfamiliar with modern payment apps.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       </a:t>
            </a:r>
            <a:r>
              <a:rPr lang="en-US" b="1" dirty="0">
                <a:latin typeface="Garamond" panose="02020404030301010803" pitchFamily="18" charset="0"/>
              </a:rPr>
              <a:t>Secure &amp; Reliable</a:t>
            </a:r>
            <a:r>
              <a:rPr lang="en-US" dirty="0">
                <a:latin typeface="Garamond" panose="02020404030301010803" pitchFamily="18" charset="0"/>
              </a:rPr>
              <a:t> – Advanced biometric authentication ensures safety.</a:t>
            </a:r>
          </a:p>
          <a:p>
            <a:pPr algn="just"/>
            <a:r>
              <a:rPr lang="en-US" dirty="0">
                <a:latin typeface="Garamond" panose="02020404030301010803" pitchFamily="18" charset="0"/>
              </a:rPr>
              <a:t>This innovation bridges the gap between traditional and modern payment systems, making cashless transactions truly effortless for everyone. </a:t>
            </a:r>
          </a:p>
        </p:txBody>
      </p:sp>
    </p:spTree>
    <p:extLst>
      <p:ext uri="{BB962C8B-B14F-4D97-AF65-F5344CB8AC3E}">
        <p14:creationId xmlns:p14="http://schemas.microsoft.com/office/powerpoint/2010/main" val="240903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2A1848-E893-6D8D-E49A-98076C8F6DEC}"/>
              </a:ext>
            </a:extLst>
          </p:cNvPr>
          <p:cNvSpPr txBox="1"/>
          <p:nvPr/>
        </p:nvSpPr>
        <p:spPr>
          <a:xfrm>
            <a:off x="805342" y="455876"/>
            <a:ext cx="1088891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rgbClr val="FF0000"/>
                </a:solidFill>
                <a:latin typeface="Garamond" panose="02020404030301010803" pitchFamily="18" charset="0"/>
              </a:rPr>
              <a:t>3. Objectives: Redefining the Future of Payments</a:t>
            </a:r>
          </a:p>
          <a:p>
            <a:endParaRPr lang="en-IN" b="1" u="sng" dirty="0">
              <a:latin typeface="Garamond" panose="02020404030301010803" pitchFamily="18" charset="0"/>
            </a:endParaRPr>
          </a:p>
          <a:p>
            <a:r>
              <a:rPr lang="en-IN" dirty="0">
                <a:latin typeface="Garamond" panose="02020404030301010803" pitchFamily="18" charset="0"/>
              </a:rPr>
              <a:t>🔹 </a:t>
            </a:r>
            <a:r>
              <a:rPr lang="en-IN" b="1" dirty="0">
                <a:latin typeface="Garamond" panose="02020404030301010803" pitchFamily="18" charset="0"/>
              </a:rPr>
              <a:t>Ultra-Fast Transactions</a:t>
            </a:r>
            <a:r>
              <a:rPr lang="en-IN" dirty="0">
                <a:latin typeface="Garamond" panose="02020404030301010803" pitchFamily="18" charset="0"/>
              </a:rPr>
              <a:t> – Eliminate delays with instant face &amp; iris recognition-based payments.</a:t>
            </a:r>
          </a:p>
          <a:p>
            <a:r>
              <a:rPr lang="en-IN" dirty="0">
                <a:latin typeface="Garamond" panose="02020404030301010803" pitchFamily="18" charset="0"/>
              </a:rPr>
              <a:t>🔹</a:t>
            </a:r>
            <a:r>
              <a:rPr lang="en-IN" b="1" dirty="0">
                <a:latin typeface="Garamond" panose="02020404030301010803" pitchFamily="18" charset="0"/>
              </a:rPr>
              <a:t> No Wallet, No Worries</a:t>
            </a:r>
            <a:r>
              <a:rPr lang="en-IN" dirty="0">
                <a:latin typeface="Garamond" panose="02020404030301010803" pitchFamily="18" charset="0"/>
              </a:rPr>
              <a:t> – Say goodbye to cash, cards, and mobile payment hassles.</a:t>
            </a:r>
          </a:p>
          <a:p>
            <a:r>
              <a:rPr lang="en-IN" dirty="0">
                <a:latin typeface="Garamond" panose="02020404030301010803" pitchFamily="18" charset="0"/>
              </a:rPr>
              <a:t>🔹 </a:t>
            </a:r>
            <a:r>
              <a:rPr lang="en-IN" b="1" dirty="0">
                <a:latin typeface="Garamond" panose="02020404030301010803" pitchFamily="18" charset="0"/>
              </a:rPr>
              <a:t> Maximum Security</a:t>
            </a:r>
            <a:r>
              <a:rPr lang="en-IN" dirty="0">
                <a:latin typeface="Garamond" panose="02020404030301010803" pitchFamily="18" charset="0"/>
              </a:rPr>
              <a:t> – Biometric authentication ensures fraud-proof transactions.</a:t>
            </a:r>
          </a:p>
          <a:p>
            <a:r>
              <a:rPr lang="en-IN" dirty="0">
                <a:latin typeface="Garamond" panose="02020404030301010803" pitchFamily="18" charset="0"/>
              </a:rPr>
              <a:t>🔹 </a:t>
            </a:r>
            <a:r>
              <a:rPr lang="en-IN" b="1" dirty="0">
                <a:latin typeface="Garamond" panose="02020404030301010803" pitchFamily="18" charset="0"/>
              </a:rPr>
              <a:t> Accessible for All</a:t>
            </a:r>
            <a:r>
              <a:rPr lang="en-IN" dirty="0">
                <a:latin typeface="Garamond" panose="02020404030301010803" pitchFamily="18" charset="0"/>
              </a:rPr>
              <a:t> – Designed for everyone, from tech-savvy users to elderly individuals who struggle with digital payments.</a:t>
            </a:r>
          </a:p>
          <a:p>
            <a:r>
              <a:rPr lang="en-IN" dirty="0">
                <a:latin typeface="Garamond" panose="02020404030301010803" pitchFamily="18" charset="0"/>
              </a:rPr>
              <a:t>🔹 </a:t>
            </a:r>
            <a:r>
              <a:rPr lang="en-IN" b="1" dirty="0">
                <a:latin typeface="Garamond" panose="02020404030301010803" pitchFamily="18" charset="0"/>
              </a:rPr>
              <a:t> Zero Queue Payment Experience</a:t>
            </a:r>
            <a:r>
              <a:rPr lang="en-IN" dirty="0">
                <a:latin typeface="Garamond" panose="02020404030301010803" pitchFamily="18" charset="0"/>
              </a:rPr>
              <a:t> – Reduces congestion at shops and ATM points.</a:t>
            </a:r>
          </a:p>
          <a:p>
            <a:r>
              <a:rPr lang="en-IN" dirty="0">
                <a:latin typeface="Garamond" panose="02020404030301010803" pitchFamily="18" charset="0"/>
              </a:rPr>
              <a:t>🔹 </a:t>
            </a:r>
            <a:r>
              <a:rPr lang="en-IN" b="1" dirty="0">
                <a:latin typeface="Garamond" panose="02020404030301010803" pitchFamily="18" charset="0"/>
              </a:rPr>
              <a:t> A Cashless Revolution</a:t>
            </a:r>
            <a:r>
              <a:rPr lang="en-IN" dirty="0">
                <a:latin typeface="Garamond" panose="02020404030301010803" pitchFamily="18" charset="0"/>
              </a:rPr>
              <a:t> – Moving towards a seamless, digital, and contactless future.</a:t>
            </a:r>
          </a:p>
          <a:p>
            <a:r>
              <a:rPr lang="en-IN" dirty="0">
                <a:latin typeface="Garamond" panose="02020404030301010803" pitchFamily="18" charset="0"/>
              </a:rPr>
              <a:t>🔹 </a:t>
            </a:r>
            <a:r>
              <a:rPr lang="en-IN" b="1" dirty="0">
                <a:latin typeface="Garamond" panose="02020404030301010803" pitchFamily="18" charset="0"/>
              </a:rPr>
              <a:t> Effortless &amp; Error-Free</a:t>
            </a:r>
            <a:r>
              <a:rPr lang="en-IN" dirty="0">
                <a:latin typeface="Garamond" panose="02020404030301010803" pitchFamily="18" charset="0"/>
              </a:rPr>
              <a:t> – No PINs, no passwords—just scan and pay with accuracy.</a:t>
            </a:r>
          </a:p>
          <a:p>
            <a:endParaRPr lang="en-IN" dirty="0">
              <a:latin typeface="Garamond" panose="02020404030301010803" pitchFamily="18" charset="0"/>
            </a:endParaRPr>
          </a:p>
          <a:p>
            <a:r>
              <a:rPr lang="en-IN" b="1" u="sng" dirty="0">
                <a:latin typeface="Garamond" panose="02020404030301010803" pitchFamily="18" charset="0"/>
              </a:rPr>
              <a:t>4. Methodology/Approach:</a:t>
            </a:r>
          </a:p>
          <a:p>
            <a:r>
              <a:rPr lang="en-US" b="1" dirty="0">
                <a:latin typeface="Garamond" panose="02020404030301010803" pitchFamily="18" charset="0"/>
              </a:rPr>
              <a:t>     Step-by-Step Execution:</a:t>
            </a:r>
          </a:p>
          <a:p>
            <a:r>
              <a:rPr lang="en-US" b="1" dirty="0">
                <a:latin typeface="Garamond" panose="02020404030301010803" pitchFamily="18" charset="0"/>
              </a:rPr>
              <a:t>                       </a:t>
            </a:r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App Development &amp; UI/UX Design</a:t>
            </a:r>
            <a:endParaRPr lang="en-US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Build an intuitive </a:t>
            </a:r>
            <a:r>
              <a:rPr lang="en-US" b="1" dirty="0">
                <a:latin typeface="Garamond" panose="02020404030301010803" pitchFamily="18" charset="0"/>
              </a:rPr>
              <a:t>mobile app</a:t>
            </a:r>
            <a:r>
              <a:rPr lang="en-US" dirty="0">
                <a:latin typeface="Garamond" panose="02020404030301010803" pitchFamily="18" charset="0"/>
              </a:rPr>
              <a:t> with a seamless user experience.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Include biometric scanning, account linking, and transaction history.</a:t>
            </a:r>
          </a:p>
          <a:p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                       User Registration &amp; Biometric Data Collection</a:t>
            </a:r>
            <a:endParaRPr lang="en-US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Users </a:t>
            </a:r>
            <a:r>
              <a:rPr lang="en-US" b="1" dirty="0">
                <a:latin typeface="Garamond" panose="02020404030301010803" pitchFamily="18" charset="0"/>
              </a:rPr>
              <a:t>download the app &amp; register using their mobile number &amp; ID proof</a:t>
            </a:r>
            <a:r>
              <a:rPr lang="en-US" dirty="0">
                <a:latin typeface="Garamond" panose="02020404030301010803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The app securely </a:t>
            </a:r>
            <a:r>
              <a:rPr lang="en-US" b="1" dirty="0">
                <a:latin typeface="Garamond" panose="02020404030301010803" pitchFamily="18" charset="0"/>
              </a:rPr>
              <a:t>scans and collects face + iris data</a:t>
            </a:r>
            <a:r>
              <a:rPr lang="en-US" dirty="0">
                <a:latin typeface="Garamond" panose="02020404030301010803" pitchFamily="18" charset="0"/>
              </a:rPr>
              <a:t> using high-quality image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Data is encrypted and stored in a secure cloud database.</a:t>
            </a:r>
          </a:p>
          <a:p>
            <a:endParaRPr lang="en-IN" b="1" u="sng" dirty="0">
              <a:latin typeface="Garamond" panose="02020404030301010803" pitchFamily="18" charset="0"/>
            </a:endParaRPr>
          </a:p>
          <a:p>
            <a:endParaRPr lang="en-IN" b="1" u="sng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561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07DE34-142A-51FB-21E6-43DA4DB3230A}"/>
              </a:ext>
            </a:extLst>
          </p:cNvPr>
          <p:cNvSpPr txBox="1"/>
          <p:nvPr/>
        </p:nvSpPr>
        <p:spPr>
          <a:xfrm>
            <a:off x="634766" y="558235"/>
            <a:ext cx="10922467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                      AI-Powered Verification &amp; Authentication</a:t>
            </a:r>
            <a:endParaRPr lang="en-US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The app uses </a:t>
            </a:r>
            <a:r>
              <a:rPr lang="en-US" b="1" dirty="0">
                <a:latin typeface="Garamond" panose="02020404030301010803" pitchFamily="18" charset="0"/>
              </a:rPr>
              <a:t>AI-based biometric recognition</a:t>
            </a:r>
            <a:r>
              <a:rPr lang="en-US" dirty="0">
                <a:latin typeface="Garamond" panose="02020404030301010803" pitchFamily="18" charset="0"/>
              </a:rPr>
              <a:t> to authenticate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It implements </a:t>
            </a:r>
            <a:r>
              <a:rPr lang="en-US" b="1" dirty="0">
                <a:latin typeface="Garamond" panose="02020404030301010803" pitchFamily="18" charset="0"/>
              </a:rPr>
              <a:t>liveness detection</a:t>
            </a:r>
            <a:r>
              <a:rPr lang="en-US" dirty="0">
                <a:latin typeface="Garamond" panose="02020404030301010803" pitchFamily="18" charset="0"/>
              </a:rPr>
              <a:t> to prevent spoofing.</a:t>
            </a:r>
          </a:p>
          <a:p>
            <a:endParaRPr lang="en-US" b="1" dirty="0">
              <a:solidFill>
                <a:srgbClr val="00B050"/>
              </a:solidFill>
              <a:latin typeface="Garamond" panose="02020404030301010803" pitchFamily="18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Garamond" panose="02020404030301010803" pitchFamily="18" charset="0"/>
              </a:rPr>
              <a:t>{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Garamond" panose="02020404030301010803" pitchFamily="18" charset="0"/>
              </a:rPr>
              <a:t>"Liveness detection" </a:t>
            </a:r>
            <a:r>
              <a:rPr lang="en-US" dirty="0">
                <a:latin typeface="Garamond" panose="02020404030301010803" pitchFamily="18" charset="0"/>
              </a:rPr>
              <a:t>is a security feature used in biometric systems to ensure that the person being scanned is physically present and not an imposter using a fake image, video, or mask.</a:t>
            </a:r>
            <a:r>
              <a:rPr lang="en-US" b="1" dirty="0">
                <a:solidFill>
                  <a:srgbClr val="00B050"/>
                </a:solidFill>
                <a:latin typeface="Garamond" panose="02020404030301010803" pitchFamily="18" charset="0"/>
              </a:rPr>
              <a:t>}</a:t>
            </a:r>
          </a:p>
          <a:p>
            <a:endParaRPr lang="en-US" sz="1600" b="1" dirty="0">
              <a:solidFill>
                <a:srgbClr val="00B050"/>
              </a:solidFill>
              <a:latin typeface="Garamond" panose="02020404030301010803" pitchFamily="18" charset="0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Garamond" panose="02020404030301010803" pitchFamily="18" charset="0"/>
              </a:rPr>
              <a:t>{</a:t>
            </a:r>
            <a:r>
              <a:rPr lang="en-US" b="1" dirty="0">
                <a:solidFill>
                  <a:srgbClr val="00B050"/>
                </a:solidFill>
                <a:latin typeface="Garamond" panose="02020404030301010803" pitchFamily="18" charset="0"/>
              </a:rPr>
              <a:t>Spoofing</a:t>
            </a:r>
            <a:r>
              <a:rPr lang="en-US" dirty="0">
                <a:latin typeface="Garamond" panose="02020404030301010803" pitchFamily="18" charset="0"/>
              </a:rPr>
              <a:t> in biometrics means </a:t>
            </a:r>
            <a:r>
              <a:rPr lang="en-US" b="1" dirty="0">
                <a:latin typeface="Garamond" panose="02020404030301010803" pitchFamily="18" charset="0"/>
              </a:rPr>
              <a:t>tricking the system</a:t>
            </a:r>
            <a:r>
              <a:rPr lang="en-US" dirty="0">
                <a:latin typeface="Garamond" panose="02020404030301010803" pitchFamily="18" charset="0"/>
              </a:rPr>
              <a:t> into falsely recognizing an unauthorized person as an authorized user. In my </a:t>
            </a:r>
            <a:r>
              <a:rPr lang="en-US" b="1" dirty="0">
                <a:solidFill>
                  <a:srgbClr val="00B050"/>
                </a:solidFill>
                <a:latin typeface="Garamond" panose="02020404030301010803" pitchFamily="18" charset="0"/>
              </a:rPr>
              <a:t>Face in Iris Recognition-Based Payment System</a:t>
            </a:r>
            <a:r>
              <a:rPr lang="en-US" dirty="0">
                <a:latin typeface="Garamond" panose="02020404030301010803" pitchFamily="18" charset="0"/>
              </a:rPr>
              <a:t>, spoofing could happen if:</a:t>
            </a:r>
          </a:p>
          <a:p>
            <a:r>
              <a:rPr lang="en-US" dirty="0">
                <a:latin typeface="Garamond" panose="02020404030301010803" pitchFamily="18" charset="0"/>
              </a:rPr>
              <a:t>🔹 Someone </a:t>
            </a:r>
            <a:r>
              <a:rPr lang="en-US" b="1" dirty="0">
                <a:latin typeface="Garamond" panose="02020404030301010803" pitchFamily="18" charset="0"/>
              </a:rPr>
              <a:t>uses a high-quality photo or video</a:t>
            </a:r>
            <a:r>
              <a:rPr lang="en-US" dirty="0">
                <a:latin typeface="Garamond" panose="02020404030301010803" pitchFamily="18" charset="0"/>
              </a:rPr>
              <a:t> of a registered user to bypass face recognition.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🔹 A hacker </a:t>
            </a:r>
            <a:r>
              <a:rPr lang="en-US" b="1" dirty="0">
                <a:latin typeface="Garamond" panose="02020404030301010803" pitchFamily="18" charset="0"/>
              </a:rPr>
              <a:t>creates a fake 3D mask</a:t>
            </a:r>
            <a:r>
              <a:rPr lang="en-US" dirty="0">
                <a:latin typeface="Garamond" panose="02020404030301010803" pitchFamily="18" charset="0"/>
              </a:rPr>
              <a:t> to mimic a person's face.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🔹 A </a:t>
            </a:r>
            <a:r>
              <a:rPr lang="en-US" b="1" dirty="0">
                <a:latin typeface="Garamond" panose="02020404030301010803" pitchFamily="18" charset="0"/>
              </a:rPr>
              <a:t>printed iris image or contact lenses</a:t>
            </a:r>
            <a:r>
              <a:rPr lang="en-US" dirty="0">
                <a:latin typeface="Garamond" panose="02020404030301010803" pitchFamily="18" charset="0"/>
              </a:rPr>
              <a:t> are used to fool the scanner</a:t>
            </a:r>
            <a:r>
              <a:rPr lang="en-US" b="1" dirty="0">
                <a:solidFill>
                  <a:srgbClr val="00B050"/>
                </a:solidFill>
                <a:latin typeface="Garamond" panose="02020404030301010803" pitchFamily="18" charset="0"/>
              </a:rPr>
              <a:t>.}</a:t>
            </a:r>
          </a:p>
          <a:p>
            <a:endParaRPr lang="en-US" b="1" dirty="0">
              <a:solidFill>
                <a:srgbClr val="00B050"/>
              </a:solidFill>
              <a:latin typeface="Garamond" panose="02020404030301010803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                     Payment Integration &amp; Transaction Flow</a:t>
            </a:r>
            <a:endParaRPr lang="en-US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Users can </a:t>
            </a:r>
            <a:r>
              <a:rPr lang="en-US" b="1" dirty="0">
                <a:latin typeface="Garamond" panose="02020404030301010803" pitchFamily="18" charset="0"/>
              </a:rPr>
              <a:t>link their bank accounts, UPI, or wallets</a:t>
            </a:r>
            <a:r>
              <a:rPr lang="en-US" dirty="0">
                <a:latin typeface="Garamond" panose="02020404030301010803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At partner stores or ATMs, users simply </a:t>
            </a:r>
            <a:r>
              <a:rPr lang="en-US" b="1" dirty="0">
                <a:latin typeface="Garamond" panose="02020404030301010803" pitchFamily="18" charset="0"/>
              </a:rPr>
              <a:t>scan their face &amp; iris, enter a unique passcode</a:t>
            </a:r>
            <a:r>
              <a:rPr lang="en-US" dirty="0">
                <a:latin typeface="Garamond" panose="02020404030301010803" pitchFamily="18" charset="0"/>
              </a:rPr>
              <a:t>, and complete the transaction.</a:t>
            </a:r>
          </a:p>
          <a:p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                          Security &amp; Privacy Compliance</a:t>
            </a:r>
            <a:endParaRPr lang="en-US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Ensure </a:t>
            </a:r>
            <a:r>
              <a:rPr lang="en-US" b="1" dirty="0">
                <a:latin typeface="Garamond" panose="02020404030301010803" pitchFamily="18" charset="0"/>
              </a:rPr>
              <a:t>end-to-end encryption</a:t>
            </a:r>
            <a:r>
              <a:rPr lang="en-US" dirty="0">
                <a:latin typeface="Garamond" panose="02020404030301010803" pitchFamily="18" charset="0"/>
              </a:rPr>
              <a:t> for all biometric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Follow global security standards like </a:t>
            </a:r>
            <a:r>
              <a:rPr lang="en-US" b="1" dirty="0">
                <a:latin typeface="Garamond" panose="02020404030301010803" pitchFamily="18" charset="0"/>
              </a:rPr>
              <a:t>GDPR &amp; ISO 27001</a:t>
            </a:r>
            <a:r>
              <a:rPr lang="en-US" dirty="0">
                <a:latin typeface="Garamond" panose="02020404030301010803" pitchFamily="18" charset="0"/>
              </a:rPr>
              <a:t> for data protection.</a:t>
            </a:r>
          </a:p>
        </p:txBody>
      </p:sp>
    </p:spTree>
    <p:extLst>
      <p:ext uri="{BB962C8B-B14F-4D97-AF65-F5344CB8AC3E}">
        <p14:creationId xmlns:p14="http://schemas.microsoft.com/office/powerpoint/2010/main" val="3210107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E987FD-59E8-D890-488A-C490E0D97AE4}"/>
              </a:ext>
            </a:extLst>
          </p:cNvPr>
          <p:cNvSpPr txBox="1"/>
          <p:nvPr/>
        </p:nvSpPr>
        <p:spPr>
          <a:xfrm>
            <a:off x="822120" y="891941"/>
            <a:ext cx="1067918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Anti-Spoofing Measures</a:t>
            </a:r>
            <a:endParaRPr lang="en-US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aramond" panose="02020404030301010803" pitchFamily="18" charset="0"/>
              </a:rPr>
              <a:t>Liveness Detection</a:t>
            </a:r>
            <a:r>
              <a:rPr lang="en-US" dirty="0">
                <a:latin typeface="Garamond" panose="02020404030301010803" pitchFamily="18" charset="0"/>
              </a:rPr>
              <a:t> – AI checks for blinking, head movement, or depth to confirm it's a real person.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aramond" panose="02020404030301010803" pitchFamily="18" charset="0"/>
              </a:rPr>
              <a:t>Infrared Iris Scanning</a:t>
            </a:r>
            <a:r>
              <a:rPr lang="en-US" dirty="0">
                <a:latin typeface="Garamond" panose="02020404030301010803" pitchFamily="18" charset="0"/>
              </a:rPr>
              <a:t> – Detects real eye texture and blocks printed images or videos.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aramond" panose="02020404030301010803" pitchFamily="18" charset="0"/>
              </a:rPr>
              <a:t>Anti-Spoof Algorithms</a:t>
            </a:r>
            <a:r>
              <a:rPr lang="en-US" dirty="0">
                <a:latin typeface="Garamond" panose="02020404030301010803" pitchFamily="18" charset="0"/>
              </a:rPr>
              <a:t> – Machine learning detects anomalies in fake attempts.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aramond" panose="02020404030301010803" pitchFamily="18" charset="0"/>
              </a:rPr>
              <a:t>Multi-Factor Authentication</a:t>
            </a:r>
            <a:r>
              <a:rPr lang="en-US" dirty="0">
                <a:latin typeface="Garamond" panose="02020404030301010803" pitchFamily="18" charset="0"/>
              </a:rPr>
              <a:t> – Face/Iris scan + a unique passcode for extra security.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u="sng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endParaRPr lang="en-US" b="1" u="sng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r>
              <a:rPr lang="en-US" b="1" u="sng" dirty="0">
                <a:solidFill>
                  <a:srgbClr val="FF0000"/>
                </a:solidFill>
                <a:latin typeface="Garamond" panose="02020404030301010803" pitchFamily="18" charset="0"/>
              </a:rPr>
              <a:t>5. Key Benefits &amp; Impact:</a:t>
            </a:r>
          </a:p>
          <a:p>
            <a:endParaRPr lang="en-US" b="1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r>
              <a:rPr lang="en-US" b="1" dirty="0">
                <a:latin typeface="Garamond" panose="02020404030301010803" pitchFamily="18" charset="0"/>
              </a:rPr>
              <a:t>    1.  Instant Transactions:</a:t>
            </a:r>
            <a:r>
              <a:rPr lang="en-US" dirty="0">
                <a:latin typeface="Garamond" panose="02020404030301010803" pitchFamily="18" charset="0"/>
              </a:rPr>
              <a:t> No need for cash, cards, or mobile wallets—just scan &amp; pay in seconds.</a:t>
            </a:r>
          </a:p>
          <a:p>
            <a:r>
              <a:rPr lang="en-US" b="1" dirty="0">
                <a:latin typeface="Garamond" panose="02020404030301010803" pitchFamily="18" charset="0"/>
              </a:rPr>
              <a:t>    2. Enhanced Security:</a:t>
            </a:r>
            <a:r>
              <a:rPr lang="en-US" dirty="0">
                <a:latin typeface="Garamond" panose="02020404030301010803" pitchFamily="18" charset="0"/>
              </a:rPr>
              <a:t> Eliminates fraud and unauthorized transactions with AI-powered biometric verification.</a:t>
            </a:r>
          </a:p>
          <a:p>
            <a:r>
              <a:rPr lang="en-US" b="1" dirty="0">
                <a:latin typeface="Garamond" panose="02020404030301010803" pitchFamily="18" charset="0"/>
              </a:rPr>
              <a:t>    3.  Accessibility for All:</a:t>
            </a:r>
            <a:r>
              <a:rPr lang="en-US" dirty="0">
                <a:latin typeface="Garamond" panose="02020404030301010803" pitchFamily="18" charset="0"/>
              </a:rPr>
              <a:t> Perfect for elderly and non-tech-savvy users who struggle with digital payments.</a:t>
            </a:r>
          </a:p>
          <a:p>
            <a:r>
              <a:rPr lang="en-US" b="1" dirty="0">
                <a:latin typeface="Garamond" panose="02020404030301010803" pitchFamily="18" charset="0"/>
              </a:rPr>
              <a:t>    4.  Reduced Congestion:</a:t>
            </a:r>
            <a:r>
              <a:rPr lang="en-US" dirty="0">
                <a:latin typeface="Garamond" panose="02020404030301010803" pitchFamily="18" charset="0"/>
              </a:rPr>
              <a:t> Minimizes long queues at ATMs, shops, and payment counters.</a:t>
            </a:r>
          </a:p>
          <a:p>
            <a:r>
              <a:rPr lang="en-US" b="1" dirty="0">
                <a:latin typeface="Garamond" panose="02020404030301010803" pitchFamily="18" charset="0"/>
              </a:rPr>
              <a:t>    5. Elimination of Forgotten Passwords &amp; Cards:</a:t>
            </a:r>
            <a:r>
              <a:rPr lang="en-US" dirty="0">
                <a:latin typeface="Garamond" panose="02020404030301010803" pitchFamily="18" charset="0"/>
              </a:rPr>
              <a:t> No need to remember PINs or carry wallets—your face and iris are enough!</a:t>
            </a:r>
          </a:p>
          <a:p>
            <a:r>
              <a:rPr lang="en-US" b="1" dirty="0">
                <a:latin typeface="Garamond" panose="02020404030301010803" pitchFamily="18" charset="0"/>
              </a:rPr>
              <a:t>    6.  Anti-Spoofing &amp; Fraud Prevention:</a:t>
            </a:r>
            <a:r>
              <a:rPr lang="en-US" dirty="0">
                <a:latin typeface="Garamond" panose="02020404030301010803" pitchFamily="18" charset="0"/>
              </a:rPr>
              <a:t> Advanced liveness detection ensures only real users can authenticate.</a:t>
            </a:r>
          </a:p>
          <a:p>
            <a:r>
              <a:rPr lang="en-US" b="1" dirty="0">
                <a:latin typeface="Garamond" panose="02020404030301010803" pitchFamily="18" charset="0"/>
              </a:rPr>
              <a:t>    7.  Contactless &amp; Hygienic Payments:</a:t>
            </a:r>
            <a:r>
              <a:rPr lang="en-US" dirty="0">
                <a:latin typeface="Garamond" panose="02020404030301010803" pitchFamily="18" charset="0"/>
              </a:rPr>
              <a:t> No touching keypads or cards—safer transactions in public places.</a:t>
            </a:r>
          </a:p>
          <a:p>
            <a:r>
              <a:rPr lang="en-US" b="1" dirty="0">
                <a:latin typeface="Garamond" panose="02020404030301010803" pitchFamily="18" charset="0"/>
              </a:rPr>
              <a:t>    8.  A Step Towards a Cashless Society:</a:t>
            </a:r>
            <a:r>
              <a:rPr lang="en-US" dirty="0">
                <a:latin typeface="Garamond" panose="02020404030301010803" pitchFamily="18" charset="0"/>
              </a:rPr>
              <a:t> Contributes to the digital economy and promotes seamless financial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153211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4D0922-2830-52DC-C4DF-869FA87A9B2F}"/>
              </a:ext>
            </a:extLst>
          </p:cNvPr>
          <p:cNvSpPr txBox="1"/>
          <p:nvPr/>
        </p:nvSpPr>
        <p:spPr>
          <a:xfrm>
            <a:off x="469785" y="415785"/>
            <a:ext cx="1144258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  <a:latin typeface="Garamond" panose="02020404030301010803" pitchFamily="18" charset="0"/>
              </a:rPr>
              <a:t>6. Conclusion</a:t>
            </a:r>
            <a:endParaRPr lang="en-US" u="sng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The </a:t>
            </a:r>
            <a:r>
              <a:rPr lang="en-US" b="1" dirty="0">
                <a:latin typeface="Garamond" panose="02020404030301010803" pitchFamily="18" charset="0"/>
              </a:rPr>
              <a:t>Face in Iris Recognition-Based Payment System</a:t>
            </a:r>
            <a:r>
              <a:rPr lang="en-US" dirty="0">
                <a:latin typeface="Garamond" panose="02020404030301010803" pitchFamily="18" charset="0"/>
              </a:rPr>
              <a:t> is a revolutionary step toward a secure, efficient, and inclusive digital payment ecosystem. Here’s why this idea is valuable: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Instant &amp; Hassle-Free Transactions</a:t>
            </a:r>
            <a:r>
              <a:rPr lang="en-US" dirty="0">
                <a:latin typeface="Garamond" panose="02020404030301010803" pitchFamily="18" charset="0"/>
              </a:rPr>
              <a:t> – No need for cash, cards, or mobile wallets; just scan and pay within seconds. 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Top-Notch Security </a:t>
            </a:r>
            <a:r>
              <a:rPr lang="en-US" dirty="0">
                <a:latin typeface="Garamond" panose="02020404030301010803" pitchFamily="18" charset="0"/>
              </a:rPr>
              <a:t>– Eliminates risks of card fraud, password theft, and unauthorized access through biometric authentication.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Inclusive for All </a:t>
            </a:r>
            <a:r>
              <a:rPr lang="en-US" dirty="0">
                <a:latin typeface="Garamond" panose="02020404030301010803" pitchFamily="18" charset="0"/>
              </a:rPr>
              <a:t>– Designed for individuals of all age groups, including elderly users unfamiliar with digital payment methods.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Reduced Shop Congestion </a:t>
            </a:r>
            <a:r>
              <a:rPr lang="en-US" dirty="0">
                <a:latin typeface="Garamond" panose="02020404030301010803" pitchFamily="18" charset="0"/>
              </a:rPr>
              <a:t>– Speeds up checkout processes, reducing long queues and improving customer experience.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Contactless &amp; Hygienic Payments</a:t>
            </a:r>
            <a:r>
              <a:rPr lang="en-US" dirty="0">
                <a:latin typeface="Garamond" panose="02020404030301010803" pitchFamily="18" charset="0"/>
              </a:rPr>
              <a:t> – Promotes a safer and more sanitary way of handling transactions, especially post-pandemic.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Supports the Cashless Economy </a:t>
            </a:r>
            <a:r>
              <a:rPr lang="en-US" dirty="0">
                <a:latin typeface="Garamond" panose="02020404030301010803" pitchFamily="18" charset="0"/>
              </a:rPr>
              <a:t>– Aligns with the digital transformation vision, reducing dependency on physical cash transactions.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AI-Driven Security </a:t>
            </a:r>
            <a:r>
              <a:rPr lang="en-US" dirty="0">
                <a:latin typeface="Garamond" panose="02020404030301010803" pitchFamily="18" charset="0"/>
              </a:rPr>
              <a:t>– Advanced liveness detection, anti-spoofing measures, and end-to-end encryption ensure unparalleled security and privacy.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Scalable &amp; Versatile </a:t>
            </a:r>
            <a:r>
              <a:rPr lang="en-US" dirty="0">
                <a:latin typeface="Garamond" panose="02020404030301010803" pitchFamily="18" charset="0"/>
              </a:rPr>
              <a:t>– Usable across multiple industries, from retail and banking to public services and transportation.</a:t>
            </a:r>
          </a:p>
          <a:p>
            <a:r>
              <a:rPr lang="en-US" b="1" dirty="0">
                <a:latin typeface="Garamond" panose="02020404030301010803" pitchFamily="18" charset="0"/>
              </a:rPr>
              <a:t> </a:t>
            </a:r>
          </a:p>
          <a:p>
            <a:r>
              <a:rPr lang="en-US" b="1" dirty="0">
                <a:latin typeface="Garamond" panose="02020404030301010803" pitchFamily="18" charset="0"/>
              </a:rPr>
              <a:t>This system is not just a payment solution—it’s a game-changer for the future of financial transactions. With seamless integration, high security, and user-friendly functionality, this innovation is set to redefine the way we pay.</a:t>
            </a:r>
          </a:p>
          <a:p>
            <a:r>
              <a:rPr lang="en-US" b="1" dirty="0">
                <a:latin typeface="Garamond" panose="02020404030301010803" pitchFamily="18" charset="0"/>
              </a:rPr>
              <a:t>The future of payments is here—secure, fast, and biometric-driven!</a:t>
            </a:r>
          </a:p>
        </p:txBody>
      </p:sp>
    </p:spTree>
    <p:extLst>
      <p:ext uri="{BB962C8B-B14F-4D97-AF65-F5344CB8AC3E}">
        <p14:creationId xmlns:p14="http://schemas.microsoft.com/office/powerpoint/2010/main" val="226324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5A87B-E040-D906-FA4E-9FCAFD17F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234" y="678030"/>
            <a:ext cx="109815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Fix: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shopkeeper scans the items using their existing barcode scanner or weighs the vegetables.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calculate the total (e.g., 500 INR).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System's Role: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shopkeeper types "500" into your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system simply asks the user, "Pay 500?" and authenticates the face.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A6FD20-FA06-B5C7-EB6B-9E220349D322}"/>
              </a:ext>
            </a:extLst>
          </p:cNvPr>
          <p:cNvSpPr txBox="1"/>
          <p:nvPr/>
        </p:nvSpPr>
        <p:spPr>
          <a:xfrm>
            <a:off x="766916" y="2437156"/>
            <a:ext cx="106581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Storing 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Partner with banks or setup "Registration Kiosks" (like Aadhar centers). A representative takes their photo, scans their iris, links their bank account, and gives them their "Unique Code". The user never needs to own a smartphone, only a bank account.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13FA6F-252D-3728-AAC2-314D92381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708" y="3713693"/>
            <a:ext cx="11169058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you missing?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Trust 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mention storing data in a "secure cloud database". Centralized databases of biometric data are prime targets for hackers. If someone steals a password, you can change it. If someone steals a face map, the user cannot change their face. You are missing a "Tokenization" strategy where raw biometric data is never stored directly or is stored locally on the user's device (though this conflicts with your "no phone" goal).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Mode: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happens if the internet is slow? Face recognition requires heavy data transfer. You need a contingency for network failures.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Lighting Conditions: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Face and Iris recognition fail in dark shops or bright sunlight. Your hardware plan needs infrared sensors (like Windows Hello or iPhone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to work in all lighting, which increases cost.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B6D30-DFB8-B5DB-CED6-F16D7DEB6DAE}"/>
              </a:ext>
            </a:extLst>
          </p:cNvPr>
          <p:cNvSpPr txBox="1"/>
          <p:nvPr/>
        </p:nvSpPr>
        <p:spPr>
          <a:xfrm>
            <a:off x="766916" y="251207"/>
            <a:ext cx="367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How they do payments easily?</a:t>
            </a:r>
          </a:p>
        </p:txBody>
      </p:sp>
    </p:spTree>
    <p:extLst>
      <p:ext uri="{BB962C8B-B14F-4D97-AF65-F5344CB8AC3E}">
        <p14:creationId xmlns:p14="http://schemas.microsoft.com/office/powerpoint/2010/main" val="195432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088149-5170-34E2-8F12-BC99A8F0C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26" y="428178"/>
            <a:ext cx="11444748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Best Body Parts for the Fastest Payment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asked for the best body parts to use. Here is a ranking based 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 vs. Security vs. Cost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Palm Vein (The Best Balance)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Every person's palm vein pattern is unique (even identical twins). It works via infrared, so it is hard to spoof with a photo.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Extremely fast. You just "hover" your hand.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Contactless (hygienic), very high security.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Requires specialized infrared sensors (cannot use standard phone cameras).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 (The Most Accessible)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Everyone is used to it.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work with standard high-quality smartphone cameras (resolving your distribution issue).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Harder to secure against "Deepfakes" or high-res masks without expensive 3D depth sensors.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Iris (Most Secure, but Slowest)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iris has 200+ points of reference (fingerprints have ~60).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Slower. Users often have to squint, remove glasses, or stand very still at a specific distance.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Nearly impossible to fake.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friction. Bad user experience for "Instant" payments.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 "Mass Market" solution in India (targeting general shops),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 Recognition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(with Liveness Detection) is the only scalable option because it runs on commodity hardware (phones). For a "High Security" solution (banks, jewelry stores),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Palm Vein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superior to Iris for ease of use.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Step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Would you like me to outline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flowchart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how the "Merchant-Assisted" mobile version would work, including the specific Python libraries you might use for the prototype?</a:t>
            </a:r>
          </a:p>
        </p:txBody>
      </p:sp>
    </p:spTree>
    <p:extLst>
      <p:ext uri="{BB962C8B-B14F-4D97-AF65-F5344CB8AC3E}">
        <p14:creationId xmlns:p14="http://schemas.microsoft.com/office/powerpoint/2010/main" val="98464830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1811</Words>
  <Application>Microsoft Office PowerPoint</Application>
  <PresentationFormat>Widescreen</PresentationFormat>
  <Paragraphs>113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Franklin Gothic Demi Cond</vt:lpstr>
      <vt:lpstr>Franklin Gothic Medium</vt:lpstr>
      <vt:lpstr>Garamond</vt:lpstr>
      <vt:lpstr>Wingdings</vt:lpstr>
      <vt:lpstr>JuxtaposeVTI</vt:lpstr>
      <vt:lpstr>FacePay: The Zero-Hardware Payment Revolution</vt:lpstr>
      <vt:lpstr>What, we are solving?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Sudhanshu Ranjan</dc:creator>
  <cp:lastModifiedBy>Sudhanshu Ranjan</cp:lastModifiedBy>
  <cp:revision>6</cp:revision>
  <dcterms:created xsi:type="dcterms:W3CDTF">2026-01-28T14:41:14Z</dcterms:created>
  <dcterms:modified xsi:type="dcterms:W3CDTF">2026-01-30T03:57:40Z</dcterms:modified>
</cp:coreProperties>
</file>